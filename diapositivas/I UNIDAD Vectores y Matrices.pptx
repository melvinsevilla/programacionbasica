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DM Sans Medium"/>
      <p:regular r:id="rId31"/>
      <p:bold r:id="rId32"/>
      <p:italic r:id="rId33"/>
      <p:boldItalic r:id="rId34"/>
    </p:embeddedFont>
    <p:embeddedFont>
      <p:font typeface="Roboto Mono"/>
      <p:regular r:id="rId35"/>
      <p:bold r:id="rId36"/>
      <p:italic r:id="rId37"/>
      <p:boldItalic r:id="rId38"/>
    </p:embeddedFont>
    <p:embeddedFont>
      <p:font typeface="Merriweather"/>
      <p:regular r:id="rId39"/>
      <p:bold r:id="rId40"/>
      <p:italic r:id="rId41"/>
      <p:boldItalic r:id="rId42"/>
    </p:embeddedFont>
    <p:embeddedFont>
      <p:font typeface="DM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bold.fntdata"/><Relationship Id="rId20" Type="http://schemas.openxmlformats.org/officeDocument/2006/relationships/slide" Target="slides/slide15.xml"/><Relationship Id="rId42" Type="http://schemas.openxmlformats.org/officeDocument/2006/relationships/font" Target="fonts/Merriweather-boldItalic.fntdata"/><Relationship Id="rId41" Type="http://schemas.openxmlformats.org/officeDocument/2006/relationships/font" Target="fonts/Merriweather-italic.fntdata"/><Relationship Id="rId22" Type="http://schemas.openxmlformats.org/officeDocument/2006/relationships/slide" Target="slides/slide17.xml"/><Relationship Id="rId44" Type="http://schemas.openxmlformats.org/officeDocument/2006/relationships/font" Target="fonts/DMSans-bold.fntdata"/><Relationship Id="rId21" Type="http://schemas.openxmlformats.org/officeDocument/2006/relationships/slide" Target="slides/slide16.xml"/><Relationship Id="rId43" Type="http://schemas.openxmlformats.org/officeDocument/2006/relationships/font" Target="fonts/DMSans-regular.fntdata"/><Relationship Id="rId24" Type="http://schemas.openxmlformats.org/officeDocument/2006/relationships/slide" Target="slides/slide19.xml"/><Relationship Id="rId46" Type="http://schemas.openxmlformats.org/officeDocument/2006/relationships/font" Target="fonts/DMSans-boldItalic.fntdata"/><Relationship Id="rId23" Type="http://schemas.openxmlformats.org/officeDocument/2006/relationships/slide" Target="slides/slide18.xml"/><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Medium-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DMSansMedium-italic.fntdata"/><Relationship Id="rId10" Type="http://schemas.openxmlformats.org/officeDocument/2006/relationships/slide" Target="slides/slide5.xml"/><Relationship Id="rId32" Type="http://schemas.openxmlformats.org/officeDocument/2006/relationships/font" Target="fonts/DMSansMedium-bold.fntdata"/><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font" Target="fonts/DMSansMedium-boldItalic.fntdata"/><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39" Type="http://schemas.openxmlformats.org/officeDocument/2006/relationships/font" Target="fonts/Merriweather-regular.fntdata"/><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2cd5688a2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3e2cd5688a2_0_4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2cd5688a2_0_3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e2cd5688a2_0_3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2cd5688a2_0_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g3e2cd5688a2_0_4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2cd5688a2_0_4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e2cd5688a2_0_4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876d225c6_0_5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a876d225c6_0_5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876d225c6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g3a876d225c6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876d225c6_0_1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7" name="Google Shape;307;g3a876d225c6_0_1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a88e6c0048_0_9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g3a88e6c0048_0_9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a88e6c0048_0_9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3a88e6c0048_0_9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a88e6c0048_0_9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8" name="Google Shape;358;g3a88e6c0048_0_9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88e6c0048_0_10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g3a88e6c0048_0_10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0" name="Google Shape;4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5" name="Google Shape;415;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d3699c97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8" name="Google Shape;468;g3ed3699c97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78415435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5" name="Google Shape;485;g3e78415435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784154356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g3e784154356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a94a8f68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9" name="Google Shape;519;g3ea94a8f6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2" name="Google Shape;5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2cd5688a2_15_0)">
  <p:cSld name="Generated (g3e2cd5688a2_15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s://git-scm.com/install/windows" TargetMode="External"/><Relationship Id="rId5" Type="http://schemas.openxmlformats.org/officeDocument/2006/relationships/hyperlink" Target="https://github.com/MelvinSevilla/programacionBasica.gi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6.png"/></Relationships>
</file>

<file path=ppt/slides/_rels/slide8.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1.png"/><Relationship Id="rId9" Type="http://schemas.openxmlformats.org/officeDocument/2006/relationships/image" Target="../media/image14.png"/><Relationship Id="rId5" Type="http://schemas.openxmlformats.org/officeDocument/2006/relationships/image" Target="../media/image2.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6.png"/><Relationship Id="rId9"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9.png"/><Relationship Id="rId8"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84" name="Shape 84"/>
        <p:cNvGrpSpPr/>
        <p:nvPr/>
      </p:nvGrpSpPr>
      <p:grpSpPr>
        <a:xfrm>
          <a:off x="0" y="0"/>
          <a:ext cx="0" cy="0"/>
          <a:chOff x="0" y="0"/>
          <a:chExt cx="0" cy="0"/>
        </a:xfrm>
      </p:grpSpPr>
      <p:pic>
        <p:nvPicPr>
          <p:cNvPr descr="image.png" id="85" name="Google Shape;85;p14"/>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pic>
        <p:nvPicPr>
          <p:cNvPr descr="image.png" id="86" name="Google Shape;86;p14"/>
          <p:cNvPicPr preferRelativeResize="0"/>
          <p:nvPr/>
        </p:nvPicPr>
        <p:blipFill rotWithShape="1">
          <a:blip r:embed="rId4">
            <a:alphaModFix/>
          </a:blip>
          <a:srcRect b="0" l="0" r="0" t="0"/>
          <a:stretch/>
        </p:blipFill>
        <p:spPr>
          <a:xfrm>
            <a:off x="-1905000" y="2095500"/>
            <a:ext cx="7620000" cy="7620000"/>
          </a:xfrm>
          <a:prstGeom prst="rect">
            <a:avLst/>
          </a:prstGeom>
          <a:noFill/>
          <a:ln>
            <a:noFill/>
          </a:ln>
        </p:spPr>
      </p:pic>
      <p:sp>
        <p:nvSpPr>
          <p:cNvPr id="87" name="Google Shape;87;p14"/>
          <p:cNvSpPr txBox="1"/>
          <p:nvPr/>
        </p:nvSpPr>
        <p:spPr>
          <a:xfrm>
            <a:off x="1580435" y="2254597"/>
            <a:ext cx="9031200" cy="923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i="0" lang="en-US" sz="6000" u="none" cap="none" strike="noStrike">
                <a:solidFill>
                  <a:srgbClr val="F3F0DF"/>
                </a:solidFill>
                <a:latin typeface="Merriweather"/>
                <a:ea typeface="Merriweather"/>
                <a:cs typeface="Merriweather"/>
                <a:sym typeface="Merriweather"/>
              </a:rPr>
              <a:t>Programación </a:t>
            </a:r>
            <a:r>
              <a:rPr b="1" lang="en-US" sz="6000">
                <a:solidFill>
                  <a:srgbClr val="F3F0DF"/>
                </a:solidFill>
                <a:latin typeface="Merriweather"/>
                <a:ea typeface="Merriweather"/>
                <a:cs typeface="Merriweather"/>
                <a:sym typeface="Merriweather"/>
              </a:rPr>
              <a:t>Básica</a:t>
            </a:r>
            <a:endParaRPr b="0" i="0" sz="1400" u="none" cap="none" strike="noStrike">
              <a:solidFill>
                <a:srgbClr val="000000"/>
              </a:solidFill>
              <a:latin typeface="Arial"/>
              <a:ea typeface="Arial"/>
              <a:cs typeface="Arial"/>
              <a:sym typeface="Arial"/>
            </a:endParaRPr>
          </a:p>
        </p:txBody>
      </p:sp>
      <p:sp>
        <p:nvSpPr>
          <p:cNvPr id="88" name="Google Shape;88;p14"/>
          <p:cNvSpPr txBox="1"/>
          <p:nvPr/>
        </p:nvSpPr>
        <p:spPr>
          <a:xfrm>
            <a:off x="1795462" y="3283297"/>
            <a:ext cx="8601000" cy="32310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Clr>
                <a:srgbClr val="000000"/>
              </a:buClr>
              <a:buSzPts val="2100"/>
              <a:buFont typeface="Arial"/>
              <a:buNone/>
            </a:pPr>
            <a:r>
              <a:rPr lang="en-US" sz="2100">
                <a:solidFill>
                  <a:srgbClr val="11CAA0"/>
                </a:solidFill>
                <a:latin typeface="DM Sans Medium"/>
                <a:ea typeface="DM Sans Medium"/>
                <a:cs typeface="DM Sans Medium"/>
                <a:sym typeface="DM Sans Medium"/>
              </a:rPr>
              <a:t>I Unidad: </a:t>
            </a:r>
            <a:r>
              <a:rPr b="0" i="0" lang="en-US" sz="2100" u="none" cap="none" strike="noStrike">
                <a:solidFill>
                  <a:srgbClr val="11CAA0"/>
                </a:solidFill>
                <a:latin typeface="DM Sans Medium"/>
                <a:ea typeface="DM Sans Medium"/>
                <a:cs typeface="DM Sans Medium"/>
                <a:sym typeface="DM Sans Medium"/>
              </a:rPr>
              <a:t> Vectores y Matrices</a:t>
            </a:r>
            <a:endParaRPr b="0" i="0" sz="1400" u="none" cap="none" strike="noStrike">
              <a:solidFill>
                <a:srgbClr val="000000"/>
              </a:solidFill>
              <a:latin typeface="Arial"/>
              <a:ea typeface="Arial"/>
              <a:cs typeface="Arial"/>
              <a:sym typeface="Arial"/>
            </a:endParaRPr>
          </a:p>
        </p:txBody>
      </p:sp>
      <p:sp>
        <p:nvSpPr>
          <p:cNvPr id="89" name="Google Shape;89;p14"/>
          <p:cNvSpPr txBox="1"/>
          <p:nvPr/>
        </p:nvSpPr>
        <p:spPr>
          <a:xfrm>
            <a:off x="1795462" y="4186237"/>
            <a:ext cx="8601000" cy="54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en-US" sz="1350">
                <a:solidFill>
                  <a:srgbClr val="CDD6E2"/>
                </a:solidFill>
                <a:latin typeface="DM Sans"/>
                <a:ea typeface="DM Sans"/>
                <a:cs typeface="DM Sans"/>
                <a:sym typeface="DM Sans"/>
              </a:rPr>
              <a:t>M.Sc Melvin David Sevilla Medina</a:t>
            </a:r>
            <a:br>
              <a:rPr lang="en-US" sz="1350">
                <a:solidFill>
                  <a:srgbClr val="CDD6E2"/>
                </a:solidFill>
                <a:latin typeface="DM Sans"/>
                <a:ea typeface="DM Sans"/>
                <a:cs typeface="DM Sans"/>
                <a:sym typeface="DM Sans"/>
              </a:rPr>
            </a:br>
            <a:r>
              <a:rPr b="0" i="0" lang="en-US" sz="1350" u="none" cap="none" strike="noStrike">
                <a:solidFill>
                  <a:srgbClr val="CDD6E2"/>
                </a:solidFill>
                <a:latin typeface="DM Sans"/>
                <a:ea typeface="DM Sans"/>
                <a:cs typeface="DM Sans"/>
                <a:sym typeface="DM Sans"/>
              </a:rPr>
              <a:t>Basado en: </a:t>
            </a:r>
            <a:r>
              <a:rPr b="0" i="1" lang="en-US" sz="1350" u="none" cap="none" strike="noStrike">
                <a:solidFill>
                  <a:srgbClr val="CDD6E2"/>
                </a:solidFill>
                <a:latin typeface="DM Sans"/>
                <a:ea typeface="DM Sans"/>
                <a:cs typeface="DM Sans"/>
                <a:sym typeface="DM Sans"/>
              </a:rPr>
              <a:t>Cómo Programar en Java</a:t>
            </a:r>
            <a:r>
              <a:rPr b="0" i="0" lang="en-US" sz="1350" u="none" cap="none" strike="noStrike">
                <a:solidFill>
                  <a:srgbClr val="CDD6E2"/>
                </a:solidFill>
                <a:latin typeface="DM Sans"/>
                <a:ea typeface="DM Sans"/>
                <a:cs typeface="DM Sans"/>
                <a:sym typeface="DM Sans"/>
              </a:rPr>
              <a:t>, Deitel &amp; Deitel (7ma 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93" name="Shape 93"/>
        <p:cNvGrpSpPr/>
        <p:nvPr/>
      </p:nvGrpSpPr>
      <p:grpSpPr>
        <a:xfrm>
          <a:off x="0" y="0"/>
          <a:ext cx="0" cy="0"/>
          <a:chOff x="0" y="0"/>
          <a:chExt cx="0" cy="0"/>
        </a:xfrm>
      </p:grpSpPr>
      <p:pic>
        <p:nvPicPr>
          <p:cNvPr descr="image.png" id="94" name="Google Shape;94;p15"/>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pic>
        <p:nvPicPr>
          <p:cNvPr descr="image.png" id="95" name="Google Shape;95;p15"/>
          <p:cNvPicPr preferRelativeResize="0"/>
          <p:nvPr/>
        </p:nvPicPr>
        <p:blipFill rotWithShape="1">
          <a:blip r:embed="rId4">
            <a:alphaModFix/>
          </a:blip>
          <a:srcRect b="0" l="0" r="0" t="0"/>
          <a:stretch/>
        </p:blipFill>
        <p:spPr>
          <a:xfrm>
            <a:off x="-1905000" y="2095500"/>
            <a:ext cx="7620000" cy="7620000"/>
          </a:xfrm>
          <a:prstGeom prst="rect">
            <a:avLst/>
          </a:prstGeom>
          <a:noFill/>
          <a:ln>
            <a:noFill/>
          </a:ln>
        </p:spPr>
      </p:pic>
      <p:sp>
        <p:nvSpPr>
          <p:cNvPr id="96" name="Google Shape;96;p15"/>
          <p:cNvSpPr txBox="1"/>
          <p:nvPr/>
        </p:nvSpPr>
        <p:spPr>
          <a:xfrm>
            <a:off x="1580410" y="2967297"/>
            <a:ext cx="9031200" cy="923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SzPts val="6000"/>
              <a:buFont typeface="Arial"/>
              <a:buNone/>
            </a:pPr>
            <a:r>
              <a:rPr b="1" lang="en-US" sz="6000">
                <a:solidFill>
                  <a:srgbClr val="F3F0DF"/>
                </a:solidFill>
                <a:latin typeface="Merriweather"/>
                <a:ea typeface="Merriweather"/>
                <a:cs typeface="Merriweather"/>
                <a:sym typeface="Merriweather"/>
              </a:rPr>
              <a:t>Antes de Comenzar…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16"/>
          <p:cNvSpPr txBox="1"/>
          <p:nvPr/>
        </p:nvSpPr>
        <p:spPr>
          <a:xfrm>
            <a:off x="476250" y="381000"/>
            <a:ext cx="11239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600">
                <a:solidFill>
                  <a:srgbClr val="005088"/>
                </a:solidFill>
                <a:latin typeface="Merriweather"/>
                <a:ea typeface="Merriweather"/>
                <a:cs typeface="Merriweather"/>
                <a:sym typeface="Merriweather"/>
              </a:rPr>
              <a:t>Ecosistema y Capas de Desarrollo</a:t>
            </a:r>
            <a:endParaRPr b="1" sz="3600">
              <a:solidFill>
                <a:srgbClr val="005088"/>
              </a:solidFill>
              <a:latin typeface="Merriweather"/>
              <a:ea typeface="Merriweather"/>
              <a:cs typeface="Merriweather"/>
              <a:sym typeface="Merriweather"/>
            </a:endParaRPr>
          </a:p>
        </p:txBody>
      </p:sp>
      <p:grpSp>
        <p:nvGrpSpPr>
          <p:cNvPr id="102" name="Google Shape;102;p16"/>
          <p:cNvGrpSpPr/>
          <p:nvPr/>
        </p:nvGrpSpPr>
        <p:grpSpPr>
          <a:xfrm>
            <a:off x="476250" y="1333500"/>
            <a:ext cx="11239500" cy="571500"/>
            <a:chOff x="476250" y="1333500"/>
            <a:chExt cx="11239500" cy="571500"/>
          </a:xfrm>
        </p:grpSpPr>
        <p:sp>
          <p:nvSpPr>
            <p:cNvPr id="103" name="Google Shape;103;p16"/>
            <p:cNvSpPr/>
            <p:nvPr/>
          </p:nvSpPr>
          <p:spPr>
            <a:xfrm>
              <a:off x="476250" y="1333500"/>
              <a:ext cx="20955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6"/>
            <p:cNvSpPr txBox="1"/>
            <p:nvPr/>
          </p:nvSpPr>
          <p:spPr>
            <a:xfrm>
              <a:off x="476250" y="1333500"/>
              <a:ext cx="2095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Concepto</a:t>
              </a:r>
              <a:endParaRPr b="1" sz="1400">
                <a:solidFill>
                  <a:srgbClr val="FFFFFF"/>
                </a:solidFill>
                <a:latin typeface="DM Sans"/>
                <a:ea typeface="DM Sans"/>
                <a:cs typeface="DM Sans"/>
                <a:sym typeface="DM Sans"/>
              </a:endParaRPr>
            </a:p>
          </p:txBody>
        </p:sp>
        <p:sp>
          <p:nvSpPr>
            <p:cNvPr id="105" name="Google Shape;105;p16"/>
            <p:cNvSpPr/>
            <p:nvPr/>
          </p:nvSpPr>
          <p:spPr>
            <a:xfrm>
              <a:off x="2714625" y="1333500"/>
              <a:ext cx="42864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6"/>
            <p:cNvSpPr txBox="1"/>
            <p:nvPr/>
          </p:nvSpPr>
          <p:spPr>
            <a:xfrm>
              <a:off x="2714625" y="1333500"/>
              <a:ext cx="42864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¿Qué hace?</a:t>
              </a:r>
              <a:endParaRPr b="1" sz="1400">
                <a:solidFill>
                  <a:srgbClr val="FFFFFF"/>
                </a:solidFill>
                <a:latin typeface="DM Sans"/>
                <a:ea typeface="DM Sans"/>
                <a:cs typeface="DM Sans"/>
                <a:sym typeface="DM Sans"/>
              </a:endParaRPr>
            </a:p>
          </p:txBody>
        </p:sp>
        <p:sp>
          <p:nvSpPr>
            <p:cNvPr id="107" name="Google Shape;107;p16"/>
            <p:cNvSpPr/>
            <p:nvPr/>
          </p:nvSpPr>
          <p:spPr>
            <a:xfrm>
              <a:off x="7143750" y="1333500"/>
              <a:ext cx="4572000" cy="571500"/>
            </a:xfrm>
            <a:prstGeom prst="roundRect">
              <a:avLst>
                <a:gd fmla="val 13333"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6"/>
            <p:cNvSpPr txBox="1"/>
            <p:nvPr/>
          </p:nvSpPr>
          <p:spPr>
            <a:xfrm>
              <a:off x="7143750" y="1333500"/>
              <a:ext cx="45720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FFFFFF"/>
                  </a:solidFill>
                  <a:latin typeface="DM Sans"/>
                  <a:ea typeface="DM Sans"/>
                  <a:cs typeface="DM Sans"/>
                  <a:sym typeface="DM Sans"/>
                </a:rPr>
                <a:t>Herramientas y Diferenciación</a:t>
              </a:r>
              <a:endParaRPr b="1" sz="1400">
                <a:solidFill>
                  <a:srgbClr val="FFFFFF"/>
                </a:solidFill>
                <a:latin typeface="DM Sans"/>
                <a:ea typeface="DM Sans"/>
                <a:cs typeface="DM Sans"/>
                <a:sym typeface="DM Sans"/>
              </a:endParaRPr>
            </a:p>
          </p:txBody>
        </p:sp>
      </p:grpSp>
      <p:grpSp>
        <p:nvGrpSpPr>
          <p:cNvPr id="109" name="Google Shape;109;p16"/>
          <p:cNvGrpSpPr/>
          <p:nvPr/>
        </p:nvGrpSpPr>
        <p:grpSpPr>
          <a:xfrm>
            <a:off x="476250" y="2000250"/>
            <a:ext cx="11239500" cy="714300"/>
            <a:chOff x="476250" y="2000250"/>
            <a:chExt cx="11239500" cy="714300"/>
          </a:xfrm>
        </p:grpSpPr>
        <p:sp>
          <p:nvSpPr>
            <p:cNvPr id="110" name="Google Shape;110;p16"/>
            <p:cNvSpPr/>
            <p:nvPr/>
          </p:nvSpPr>
          <p:spPr>
            <a:xfrm>
              <a:off x="476250" y="2000250"/>
              <a:ext cx="11239500" cy="714300"/>
            </a:xfrm>
            <a:prstGeom prst="roundRect">
              <a:avLst>
                <a:gd fmla="val 1066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16"/>
            <p:cNvSpPr txBox="1"/>
            <p:nvPr/>
          </p:nvSpPr>
          <p:spPr>
            <a:xfrm>
              <a:off x="571500" y="2000250"/>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Sistema Operativo</a:t>
              </a:r>
              <a:endParaRPr b="1" sz="1300">
                <a:solidFill>
                  <a:srgbClr val="005088"/>
                </a:solidFill>
                <a:latin typeface="DM Sans"/>
                <a:ea typeface="DM Sans"/>
                <a:cs typeface="DM Sans"/>
                <a:sym typeface="DM Sans"/>
              </a:endParaRPr>
            </a:p>
          </p:txBody>
        </p:sp>
        <p:sp>
          <p:nvSpPr>
            <p:cNvPr id="112" name="Google Shape;112;p16"/>
            <p:cNvSpPr txBox="1"/>
            <p:nvPr/>
          </p:nvSpPr>
          <p:spPr>
            <a:xfrm>
              <a:off x="2714625" y="2000250"/>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Administra el hardware y recursos básicos del equipo.</a:t>
              </a:r>
              <a:endParaRPr b="0" sz="1150">
                <a:solidFill>
                  <a:srgbClr val="333333"/>
                </a:solidFill>
                <a:latin typeface="DM Sans"/>
                <a:ea typeface="DM Sans"/>
                <a:cs typeface="DM Sans"/>
                <a:sym typeface="DM Sans"/>
              </a:endParaRPr>
            </a:p>
          </p:txBody>
        </p:sp>
        <p:sp>
          <p:nvSpPr>
            <p:cNvPr id="113" name="Google Shape;113;p16"/>
            <p:cNvSpPr txBox="1"/>
            <p:nvPr/>
          </p:nvSpPr>
          <p:spPr>
            <a:xfrm>
              <a:off x="7143750" y="2000250"/>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Windows, Linux (Ubuntu), macOS, Android, iOS</a:t>
              </a:r>
              <a:endParaRPr b="1" sz="1150">
                <a:solidFill>
                  <a:srgbClr val="11CAA0"/>
                </a:solidFill>
                <a:latin typeface="DM Sans"/>
                <a:ea typeface="DM Sans"/>
                <a:cs typeface="DM Sans"/>
                <a:sym typeface="DM Sans"/>
              </a:endParaRPr>
            </a:p>
          </p:txBody>
        </p:sp>
      </p:grpSp>
      <p:grpSp>
        <p:nvGrpSpPr>
          <p:cNvPr id="114" name="Google Shape;114;p16"/>
          <p:cNvGrpSpPr/>
          <p:nvPr/>
        </p:nvGrpSpPr>
        <p:grpSpPr>
          <a:xfrm>
            <a:off x="476250" y="2809875"/>
            <a:ext cx="11239500" cy="714300"/>
            <a:chOff x="476250" y="2809875"/>
            <a:chExt cx="11239500" cy="714300"/>
          </a:xfrm>
        </p:grpSpPr>
        <p:sp>
          <p:nvSpPr>
            <p:cNvPr id="115" name="Google Shape;115;p16"/>
            <p:cNvSpPr/>
            <p:nvPr/>
          </p:nvSpPr>
          <p:spPr>
            <a:xfrm>
              <a:off x="476250" y="2809875"/>
              <a:ext cx="11239500" cy="714300"/>
            </a:xfrm>
            <a:prstGeom prst="roundRect">
              <a:avLst>
                <a:gd fmla="val 10666" name="adj"/>
              </a:avLst>
            </a:prstGeom>
            <a:solidFill>
              <a:srgbClr val="E8F1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6"/>
            <p:cNvSpPr txBox="1"/>
            <p:nvPr/>
          </p:nvSpPr>
          <p:spPr>
            <a:xfrm>
              <a:off x="571500" y="2809875"/>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Entorno / Runtime</a:t>
              </a:r>
              <a:endParaRPr b="1" sz="1300">
                <a:solidFill>
                  <a:srgbClr val="005088"/>
                </a:solidFill>
                <a:latin typeface="DM Sans"/>
                <a:ea typeface="DM Sans"/>
                <a:cs typeface="DM Sans"/>
                <a:sym typeface="DM Sans"/>
              </a:endParaRPr>
            </a:p>
          </p:txBody>
        </p:sp>
        <p:sp>
          <p:nvSpPr>
            <p:cNvPr id="117" name="Google Shape;117;p16"/>
            <p:cNvSpPr txBox="1"/>
            <p:nvPr/>
          </p:nvSpPr>
          <p:spPr>
            <a:xfrm>
              <a:off x="2714625" y="2809875"/>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Plataforma necesaria para que el código se ejecute.</a:t>
              </a:r>
              <a:endParaRPr b="0" sz="1150">
                <a:solidFill>
                  <a:srgbClr val="333333"/>
                </a:solidFill>
                <a:latin typeface="DM Sans"/>
                <a:ea typeface="DM Sans"/>
                <a:cs typeface="DM Sans"/>
                <a:sym typeface="DM Sans"/>
              </a:endParaRPr>
            </a:p>
          </p:txBody>
        </p:sp>
        <p:sp>
          <p:nvSpPr>
            <p:cNvPr id="118" name="Google Shape;118;p16"/>
            <p:cNvSpPr txBox="1"/>
            <p:nvPr/>
          </p:nvSpPr>
          <p:spPr>
            <a:xfrm>
              <a:off x="7143750" y="2809875"/>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JRE (Java), Node.js, .NET, Python Interpreter, Bun</a:t>
              </a:r>
              <a:endParaRPr b="1" sz="1150">
                <a:solidFill>
                  <a:srgbClr val="11CAA0"/>
                </a:solidFill>
                <a:latin typeface="DM Sans"/>
                <a:ea typeface="DM Sans"/>
                <a:cs typeface="DM Sans"/>
                <a:sym typeface="DM Sans"/>
              </a:endParaRPr>
            </a:p>
          </p:txBody>
        </p:sp>
      </p:grpSp>
      <p:grpSp>
        <p:nvGrpSpPr>
          <p:cNvPr id="119" name="Google Shape;119;p16"/>
          <p:cNvGrpSpPr/>
          <p:nvPr/>
        </p:nvGrpSpPr>
        <p:grpSpPr>
          <a:xfrm>
            <a:off x="476250" y="3619500"/>
            <a:ext cx="11239500" cy="714300"/>
            <a:chOff x="476250" y="3619500"/>
            <a:chExt cx="11239500" cy="714300"/>
          </a:xfrm>
        </p:grpSpPr>
        <p:sp>
          <p:nvSpPr>
            <p:cNvPr id="120" name="Google Shape;120;p16"/>
            <p:cNvSpPr/>
            <p:nvPr/>
          </p:nvSpPr>
          <p:spPr>
            <a:xfrm>
              <a:off x="476250" y="3619500"/>
              <a:ext cx="11239500" cy="714300"/>
            </a:xfrm>
            <a:prstGeom prst="roundRect">
              <a:avLst>
                <a:gd fmla="val 1066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txBox="1"/>
            <p:nvPr/>
          </p:nvSpPr>
          <p:spPr>
            <a:xfrm>
              <a:off x="571500" y="3619500"/>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Lenguaje</a:t>
              </a:r>
              <a:endParaRPr b="1" sz="1300">
                <a:solidFill>
                  <a:srgbClr val="005088"/>
                </a:solidFill>
                <a:latin typeface="DM Sans"/>
                <a:ea typeface="DM Sans"/>
                <a:cs typeface="DM Sans"/>
                <a:sym typeface="DM Sans"/>
              </a:endParaRPr>
            </a:p>
          </p:txBody>
        </p:sp>
        <p:sp>
          <p:nvSpPr>
            <p:cNvPr id="122" name="Google Shape;122;p16"/>
            <p:cNvSpPr txBox="1"/>
            <p:nvPr/>
          </p:nvSpPr>
          <p:spPr>
            <a:xfrm>
              <a:off x="2714625" y="3619500"/>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Sintaxis y reglas para escribir instrucciones legibles.</a:t>
              </a:r>
              <a:endParaRPr b="0" sz="1150">
                <a:solidFill>
                  <a:srgbClr val="333333"/>
                </a:solidFill>
                <a:latin typeface="DM Sans"/>
                <a:ea typeface="DM Sans"/>
                <a:cs typeface="DM Sans"/>
                <a:sym typeface="DM Sans"/>
              </a:endParaRPr>
            </a:p>
          </p:txBody>
        </p:sp>
        <p:sp>
          <p:nvSpPr>
            <p:cNvPr id="123" name="Google Shape;123;p16"/>
            <p:cNvSpPr txBox="1"/>
            <p:nvPr/>
          </p:nvSpPr>
          <p:spPr>
            <a:xfrm>
              <a:off x="7143750" y="3619500"/>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Java, Python, C#, JavaScript, TypeScript, Rust</a:t>
              </a:r>
              <a:endParaRPr b="1" sz="1150">
                <a:solidFill>
                  <a:srgbClr val="11CAA0"/>
                </a:solidFill>
                <a:latin typeface="DM Sans"/>
                <a:ea typeface="DM Sans"/>
                <a:cs typeface="DM Sans"/>
                <a:sym typeface="DM Sans"/>
              </a:endParaRPr>
            </a:p>
          </p:txBody>
        </p:sp>
      </p:grpSp>
      <p:grpSp>
        <p:nvGrpSpPr>
          <p:cNvPr id="124" name="Google Shape;124;p16"/>
          <p:cNvGrpSpPr/>
          <p:nvPr/>
        </p:nvGrpSpPr>
        <p:grpSpPr>
          <a:xfrm>
            <a:off x="476250" y="4429125"/>
            <a:ext cx="11239500" cy="714300"/>
            <a:chOff x="476250" y="4429125"/>
            <a:chExt cx="11239500" cy="714300"/>
          </a:xfrm>
        </p:grpSpPr>
        <p:sp>
          <p:nvSpPr>
            <p:cNvPr id="125" name="Google Shape;125;p16"/>
            <p:cNvSpPr/>
            <p:nvPr/>
          </p:nvSpPr>
          <p:spPr>
            <a:xfrm>
              <a:off x="476250" y="4429125"/>
              <a:ext cx="11239500" cy="714300"/>
            </a:xfrm>
            <a:prstGeom prst="roundRect">
              <a:avLst>
                <a:gd fmla="val 10666" name="adj"/>
              </a:avLst>
            </a:prstGeom>
            <a:solidFill>
              <a:srgbClr val="E8F1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6"/>
            <p:cNvSpPr txBox="1"/>
            <p:nvPr/>
          </p:nvSpPr>
          <p:spPr>
            <a:xfrm>
              <a:off x="571500" y="4429125"/>
              <a:ext cx="1905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IDE / Editor</a:t>
              </a:r>
              <a:endParaRPr b="1" sz="1300">
                <a:solidFill>
                  <a:srgbClr val="005088"/>
                </a:solidFill>
                <a:latin typeface="DM Sans"/>
                <a:ea typeface="DM Sans"/>
                <a:cs typeface="DM Sans"/>
                <a:sym typeface="DM Sans"/>
              </a:endParaRPr>
            </a:p>
          </p:txBody>
        </p:sp>
        <p:sp>
          <p:nvSpPr>
            <p:cNvPr id="127" name="Google Shape;127;p16"/>
            <p:cNvSpPr txBox="1"/>
            <p:nvPr/>
          </p:nvSpPr>
          <p:spPr>
            <a:xfrm>
              <a:off x="2714625" y="4429125"/>
              <a:ext cx="42864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1150">
                  <a:solidFill>
                    <a:srgbClr val="333333"/>
                  </a:solidFill>
                  <a:latin typeface="DM Sans"/>
                  <a:ea typeface="DM Sans"/>
                  <a:cs typeface="DM Sans"/>
                  <a:sym typeface="DM Sans"/>
                </a:rPr>
                <a:t>Herramienta visual para escribir y depurar código.</a:t>
              </a:r>
              <a:endParaRPr b="0" sz="1150">
                <a:solidFill>
                  <a:srgbClr val="333333"/>
                </a:solidFill>
                <a:latin typeface="DM Sans"/>
                <a:ea typeface="DM Sans"/>
                <a:cs typeface="DM Sans"/>
                <a:sym typeface="DM Sans"/>
              </a:endParaRPr>
            </a:p>
          </p:txBody>
        </p:sp>
        <p:sp>
          <p:nvSpPr>
            <p:cNvPr id="128" name="Google Shape;128;p16"/>
            <p:cNvSpPr txBox="1"/>
            <p:nvPr/>
          </p:nvSpPr>
          <p:spPr>
            <a:xfrm>
              <a:off x="7143750" y="4429125"/>
              <a:ext cx="4572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VS Code, IntelliJ IDEA, Eclipse, PyCharm</a:t>
              </a:r>
              <a:endParaRPr b="1" sz="1150">
                <a:solidFill>
                  <a:srgbClr val="11CAA0"/>
                </a:solidFill>
                <a:latin typeface="DM Sans"/>
                <a:ea typeface="DM Sans"/>
                <a:cs typeface="DM Sans"/>
                <a:sym typeface="DM Sans"/>
              </a:endParaRPr>
            </a:p>
          </p:txBody>
        </p:sp>
      </p:grpSp>
      <p:grpSp>
        <p:nvGrpSpPr>
          <p:cNvPr id="129" name="Google Shape;129;p16"/>
          <p:cNvGrpSpPr/>
          <p:nvPr/>
        </p:nvGrpSpPr>
        <p:grpSpPr>
          <a:xfrm>
            <a:off x="476250" y="5238750"/>
            <a:ext cx="11239500" cy="1238400"/>
            <a:chOff x="476250" y="5238750"/>
            <a:chExt cx="11239500" cy="1238400"/>
          </a:xfrm>
        </p:grpSpPr>
        <p:sp>
          <p:nvSpPr>
            <p:cNvPr id="130" name="Google Shape;130;p16"/>
            <p:cNvSpPr/>
            <p:nvPr/>
          </p:nvSpPr>
          <p:spPr>
            <a:xfrm>
              <a:off x="476250" y="5238750"/>
              <a:ext cx="11239500" cy="1238400"/>
            </a:xfrm>
            <a:prstGeom prst="roundRect">
              <a:avLst>
                <a:gd fmla="val 615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txBox="1"/>
            <p:nvPr/>
          </p:nvSpPr>
          <p:spPr>
            <a:xfrm>
              <a:off x="571500" y="5238750"/>
              <a:ext cx="19050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005088"/>
                  </a:solidFill>
                  <a:latin typeface="DM Sans"/>
                  <a:ea typeface="DM Sans"/>
                  <a:cs typeface="DM Sans"/>
                  <a:sym typeface="DM Sans"/>
                </a:rPr>
                <a:t>Gestor de BD y Software de Acceso</a:t>
              </a:r>
              <a:endParaRPr b="1" sz="1300">
                <a:solidFill>
                  <a:srgbClr val="005088"/>
                </a:solidFill>
                <a:latin typeface="DM Sans"/>
                <a:ea typeface="DM Sans"/>
                <a:cs typeface="DM Sans"/>
                <a:sym typeface="DM Sans"/>
              </a:endParaRPr>
            </a:p>
          </p:txBody>
        </p:sp>
        <p:sp>
          <p:nvSpPr>
            <p:cNvPr id="132" name="Google Shape;132;p16"/>
            <p:cNvSpPr txBox="1"/>
            <p:nvPr/>
          </p:nvSpPr>
          <p:spPr>
            <a:xfrm>
              <a:off x="2714625" y="5238750"/>
              <a:ext cx="42864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333333"/>
                  </a:solidFill>
                  <a:latin typeface="DM Sans"/>
                  <a:ea typeface="DM Sans"/>
                  <a:cs typeface="DM Sans"/>
                  <a:sym typeface="DM Sans"/>
                </a:rPr>
                <a:t>Motor/Servidor:</a:t>
              </a:r>
              <a:r>
                <a:rPr b="0" lang="en-US" sz="1150">
                  <a:solidFill>
                    <a:srgbClr val="333333"/>
                  </a:solidFill>
                  <a:latin typeface="DM Sans"/>
                  <a:ea typeface="DM Sans"/>
                  <a:cs typeface="DM Sans"/>
                  <a:sym typeface="DM Sans"/>
                </a:rPr>
                <a:t> Procesa y almacena los datos.</a:t>
              </a:r>
              <a:endParaRPr b="0" sz="1150">
                <a:solidFill>
                  <a:srgbClr val="333333"/>
                </a:solidFill>
                <a:latin typeface="DM Sans"/>
                <a:ea typeface="DM Sans"/>
                <a:cs typeface="DM Sans"/>
                <a:sym typeface="DM Sans"/>
              </a:endParaRPr>
            </a:p>
            <a:p>
              <a:pPr indent="0" lvl="0" marL="0" rtl="0" algn="l">
                <a:spcBef>
                  <a:spcPts val="300"/>
                </a:spcBef>
                <a:spcAft>
                  <a:spcPts val="0"/>
                </a:spcAft>
                <a:buNone/>
              </a:pPr>
              <a:r>
                <a:rPr b="1" lang="en-US" sz="1150">
                  <a:solidFill>
                    <a:srgbClr val="333333"/>
                  </a:solidFill>
                  <a:latin typeface="DM Sans"/>
                  <a:ea typeface="DM Sans"/>
                  <a:cs typeface="DM Sans"/>
                  <a:sym typeface="DM Sans"/>
                </a:rPr>
                <a:t>Cliente/Interfaz:</a:t>
              </a:r>
              <a:r>
                <a:rPr b="0" lang="en-US" sz="1150">
                  <a:solidFill>
                    <a:srgbClr val="333333"/>
                  </a:solidFill>
                  <a:latin typeface="DM Sans"/>
                  <a:ea typeface="DM Sans"/>
                  <a:cs typeface="DM Sans"/>
                  <a:sym typeface="DM Sans"/>
                </a:rPr>
                <a:t> Permite manipular y visualizar los datos externamente.</a:t>
              </a:r>
              <a:endParaRPr b="0" sz="1150">
                <a:solidFill>
                  <a:srgbClr val="333333"/>
                </a:solidFill>
                <a:latin typeface="DM Sans"/>
                <a:ea typeface="DM Sans"/>
                <a:cs typeface="DM Sans"/>
                <a:sym typeface="DM Sans"/>
              </a:endParaRPr>
            </a:p>
          </p:txBody>
        </p:sp>
        <p:sp>
          <p:nvSpPr>
            <p:cNvPr id="133" name="Google Shape;133;p16"/>
            <p:cNvSpPr txBox="1"/>
            <p:nvPr/>
          </p:nvSpPr>
          <p:spPr>
            <a:xfrm>
              <a:off x="7143750" y="5238750"/>
              <a:ext cx="45720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50">
                  <a:solidFill>
                    <a:srgbClr val="11CAA0"/>
                  </a:solidFill>
                  <a:latin typeface="DM Sans"/>
                  <a:ea typeface="DM Sans"/>
                  <a:cs typeface="DM Sans"/>
                  <a:sym typeface="DM Sans"/>
                </a:rPr>
                <a:t>Motores: MySQL Server, MongoDB, SQL Server</a:t>
              </a:r>
              <a:endParaRPr b="1" sz="1150">
                <a:solidFill>
                  <a:srgbClr val="11CAA0"/>
                </a:solidFill>
                <a:latin typeface="DM Sans"/>
                <a:ea typeface="DM Sans"/>
                <a:cs typeface="DM Sans"/>
                <a:sym typeface="DM Sans"/>
              </a:endParaRPr>
            </a:p>
            <a:p>
              <a:pPr indent="0" lvl="0" marL="0" rtl="0" algn="l">
                <a:spcBef>
                  <a:spcPts val="300"/>
                </a:spcBef>
                <a:spcAft>
                  <a:spcPts val="300"/>
                </a:spcAft>
                <a:buNone/>
              </a:pPr>
              <a:r>
                <a:rPr b="1" lang="en-US" sz="1150">
                  <a:solidFill>
                    <a:srgbClr val="11CAA0"/>
                  </a:solidFill>
                  <a:latin typeface="DM Sans"/>
                  <a:ea typeface="DM Sans"/>
                  <a:cs typeface="DM Sans"/>
                  <a:sym typeface="DM Sans"/>
                </a:rPr>
                <a:t>Interfaces: MySQL Workbench, HeidiSQL, Consola/Terminal</a:t>
              </a:r>
              <a:endParaRPr b="1" sz="1150">
                <a:solidFill>
                  <a:srgbClr val="11CAA0"/>
                </a:solidFill>
                <a:latin typeface="DM Sans"/>
                <a:ea typeface="DM Sans"/>
                <a:cs typeface="DM Sans"/>
                <a:sym typeface="DM San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37" name="Shape 137"/>
        <p:cNvGrpSpPr/>
        <p:nvPr/>
      </p:nvGrpSpPr>
      <p:grpSpPr>
        <a:xfrm>
          <a:off x="0" y="0"/>
          <a:ext cx="0" cy="0"/>
          <a:chOff x="0" y="0"/>
          <a:chExt cx="0" cy="0"/>
        </a:xfrm>
      </p:grpSpPr>
      <p:pic>
        <p:nvPicPr>
          <p:cNvPr descr="image.png" id="138" name="Google Shape;138;p17"/>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39" name="Google Shape;139;p17"/>
          <p:cNvSpPr txBox="1"/>
          <p:nvPr/>
        </p:nvSpPr>
        <p:spPr>
          <a:xfrm>
            <a:off x="4600813" y="2278856"/>
            <a:ext cx="2990400" cy="8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250"/>
              <a:buFont typeface="Arial"/>
              <a:buNone/>
            </a:pPr>
            <a:r>
              <a:rPr b="1" lang="en-US" sz="5250">
                <a:solidFill>
                  <a:srgbClr val="F3F0DF"/>
                </a:solidFill>
                <a:latin typeface="Merriweather"/>
                <a:ea typeface="Merriweather"/>
                <a:cs typeface="Merriweather"/>
                <a:sym typeface="Merriweather"/>
              </a:rPr>
              <a:t>Vectores</a:t>
            </a:r>
            <a:endParaRPr b="0" i="0" sz="1400" u="none" cap="none" strike="noStrike">
              <a:solidFill>
                <a:srgbClr val="000000"/>
              </a:solidFill>
              <a:latin typeface="Arial"/>
              <a:ea typeface="Arial"/>
              <a:cs typeface="Arial"/>
              <a:sym typeface="Arial"/>
            </a:endParaRPr>
          </a:p>
        </p:txBody>
      </p:sp>
      <p:sp>
        <p:nvSpPr>
          <p:cNvPr id="140" name="Google Shape;140;p17"/>
          <p:cNvSpPr/>
          <p:nvPr/>
        </p:nvSpPr>
        <p:spPr>
          <a:xfrm>
            <a:off x="5381625" y="3593306"/>
            <a:ext cx="1428900" cy="5730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3748087" y="3936206"/>
            <a:ext cx="4695900" cy="1200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3000"/>
              <a:buFont typeface="Arial"/>
              <a:buNone/>
            </a:pPr>
            <a:r>
              <a:rPr b="1" i="0" lang="en-US" sz="3000" u="none" cap="none" strike="noStrike">
                <a:solidFill>
                  <a:srgbClr val="11CAA0"/>
                </a:solidFill>
                <a:latin typeface="DM Sans"/>
                <a:ea typeface="DM Sans"/>
                <a:cs typeface="DM Sans"/>
                <a:sym typeface="DM Sans"/>
              </a:rPr>
              <a:t>Arreglos</a:t>
            </a:r>
            <a:r>
              <a:rPr b="1" i="0" lang="en-US" sz="3000" u="none" cap="none" strike="noStrike">
                <a:solidFill>
                  <a:srgbClr val="11CAA0"/>
                </a:solidFill>
                <a:latin typeface="DM Sans"/>
                <a:ea typeface="DM Sans"/>
                <a:cs typeface="DM Sans"/>
                <a:sym typeface="DM Sans"/>
              </a:rPr>
              <a:t> </a:t>
            </a:r>
            <a:r>
              <a:rPr b="1" lang="en-US" sz="3000">
                <a:solidFill>
                  <a:srgbClr val="11CAA0"/>
                </a:solidFill>
                <a:latin typeface="DM Sans"/>
                <a:ea typeface="DM Sans"/>
                <a:cs typeface="DM Sans"/>
                <a:sym typeface="DM Sans"/>
              </a:rPr>
              <a:t>Unid</a:t>
            </a:r>
            <a:r>
              <a:rPr b="1" i="0" lang="en-US" sz="3000" u="none" cap="none" strike="noStrike">
                <a:solidFill>
                  <a:srgbClr val="11CAA0"/>
                </a:solidFill>
                <a:latin typeface="DM Sans"/>
                <a:ea typeface="DM Sans"/>
                <a:cs typeface="DM Sans"/>
                <a:sym typeface="DM Sans"/>
              </a:rPr>
              <a:t>imensionales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45" name="Shape 145"/>
        <p:cNvGrpSpPr/>
        <p:nvPr/>
      </p:nvGrpSpPr>
      <p:grpSpPr>
        <a:xfrm>
          <a:off x="0" y="0"/>
          <a:ext cx="0" cy="0"/>
          <a:chOff x="0" y="0"/>
          <a:chExt cx="0" cy="0"/>
        </a:xfrm>
      </p:grpSpPr>
      <p:pic>
        <p:nvPicPr>
          <p:cNvPr descr="image.png" id="146" name="Google Shape;146;p18"/>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47" name="Google Shape;147;p18"/>
          <p:cNvSpPr txBox="1"/>
          <p:nvPr/>
        </p:nvSpPr>
        <p:spPr>
          <a:xfrm>
            <a:off x="476250" y="1390650"/>
            <a:ext cx="5381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El Problema:</a:t>
            </a:r>
            <a:r>
              <a:rPr b="0" i="0" lang="en-US" sz="1500" u="none" cap="none" strike="noStrike">
                <a:solidFill>
                  <a:srgbClr val="121212"/>
                </a:solidFill>
                <a:latin typeface="DM Sans"/>
                <a:ea typeface="DM Sans"/>
                <a:cs typeface="DM Sans"/>
                <a:sym typeface="DM Sans"/>
              </a:rPr>
              <a:t> Necesitamos guardar las notas de 30 alumnos. ¿Crearías 30 variables independientes (nota1, nota2...)?</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476250" y="2143125"/>
            <a:ext cx="5381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La Solución:</a:t>
            </a:r>
            <a:r>
              <a:rPr b="0" i="0" lang="en-US" sz="1500" u="none" cap="none" strike="noStrike">
                <a:solidFill>
                  <a:srgbClr val="121212"/>
                </a:solidFill>
                <a:latin typeface="DM Sans"/>
                <a:ea typeface="DM Sans"/>
                <a:cs typeface="DM Sans"/>
                <a:sym typeface="DM Sans"/>
              </a:rPr>
              <a:t> Un arreglo (vector).</a:t>
            </a:r>
            <a:endParaRPr b="0" i="0" sz="1400" u="none" cap="none" strike="noStrike">
              <a:solidFill>
                <a:srgbClr val="000000"/>
              </a:solidFill>
              <a:latin typeface="Arial"/>
              <a:ea typeface="Arial"/>
              <a:cs typeface="Arial"/>
              <a:sym typeface="Arial"/>
            </a:endParaRPr>
          </a:p>
        </p:txBody>
      </p:sp>
      <p:sp>
        <p:nvSpPr>
          <p:cNvPr id="149" name="Google Shape;149;p18"/>
          <p:cNvSpPr txBox="1"/>
          <p:nvPr/>
        </p:nvSpPr>
        <p:spPr>
          <a:xfrm>
            <a:off x="714375" y="2590800"/>
            <a:ext cx="5143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Grupo de localidades de memoria </a:t>
            </a:r>
            <a:r>
              <a:rPr b="1" i="0" lang="en-US" sz="1500" u="none" cap="none" strike="noStrike">
                <a:solidFill>
                  <a:srgbClr val="121212"/>
                </a:solidFill>
                <a:latin typeface="DM Sans"/>
                <a:ea typeface="DM Sans"/>
                <a:cs typeface="DM Sans"/>
                <a:sym typeface="DM Sans"/>
              </a:rPr>
              <a:t>contiguas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0" name="Google Shape;150;p18"/>
          <p:cNvSpPr txBox="1"/>
          <p:nvPr/>
        </p:nvSpPr>
        <p:spPr>
          <a:xfrm>
            <a:off x="714375" y="3086100"/>
            <a:ext cx="5143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Comparten el </a:t>
            </a:r>
            <a:r>
              <a:rPr b="1" i="0" lang="en-US" sz="1500" u="none" cap="none" strike="noStrike">
                <a:solidFill>
                  <a:srgbClr val="121212"/>
                </a:solidFill>
                <a:latin typeface="DM Sans"/>
                <a:ea typeface="DM Sans"/>
                <a:cs typeface="DM Sans"/>
                <a:sym typeface="DM Sans"/>
              </a:rPr>
              <a:t>mismo nombre</a:t>
            </a:r>
            <a:r>
              <a:rPr b="0" i="0" lang="en-US" sz="1500" u="none" cap="none" strike="noStrike">
                <a:solidFill>
                  <a:srgbClr val="121212"/>
                </a:solidFill>
                <a:latin typeface="DM Sans"/>
                <a:ea typeface="DM Sans"/>
                <a:cs typeface="DM Sans"/>
                <a:sym typeface="DM Sans"/>
              </a:rPr>
              <a:t> y el </a:t>
            </a:r>
            <a:r>
              <a:rPr b="1" i="0" lang="en-US" sz="1500" u="none" cap="none" strike="noStrike">
                <a:solidFill>
                  <a:srgbClr val="121212"/>
                </a:solidFill>
                <a:latin typeface="DM Sans"/>
                <a:ea typeface="DM Sans"/>
                <a:cs typeface="DM Sans"/>
                <a:sym typeface="DM Sans"/>
              </a:rPr>
              <a:t>mismo tipo</a:t>
            </a:r>
            <a:r>
              <a:rPr b="0" i="0" lang="en-US" sz="1500" u="none" cap="none" strike="noStrike">
                <a:solidFill>
                  <a:srgbClr val="121212"/>
                </a:solidFill>
                <a:latin typeface="DM Sans"/>
                <a:ea typeface="DM Sans"/>
                <a:cs typeface="DM Sans"/>
                <a:sym typeface="DM Sans"/>
              </a:rPr>
              <a:t> de dato.</a:t>
            </a:r>
            <a:endParaRPr b="0" i="0" sz="1400" u="none" cap="none" strike="noStrike">
              <a:solidFill>
                <a:srgbClr val="000000"/>
              </a:solidFill>
              <a:latin typeface="Arial"/>
              <a:ea typeface="Arial"/>
              <a:cs typeface="Arial"/>
              <a:sym typeface="Arial"/>
            </a:endParaRPr>
          </a:p>
        </p:txBody>
      </p:sp>
      <p:sp>
        <p:nvSpPr>
          <p:cNvPr id="151" name="Google Shape;151;p18"/>
          <p:cNvSpPr txBox="1"/>
          <p:nvPr/>
        </p:nvSpPr>
        <p:spPr>
          <a:xfrm>
            <a:off x="714375" y="35814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Concepto de Índice:</a:t>
            </a:r>
            <a:r>
              <a:rPr b="0" i="0" lang="en-US" sz="1500" u="none" cap="none" strike="noStrike">
                <a:solidFill>
                  <a:srgbClr val="121212"/>
                </a:solidFill>
                <a:latin typeface="DM Sans"/>
                <a:ea typeface="DM Sans"/>
                <a:cs typeface="DM Sans"/>
                <a:sym typeface="DM Sans"/>
              </a:rPr>
              <a:t> Es la posición de un elemento. En Java, el primer elemento siempre es el índice 0.</a:t>
            </a:r>
            <a:endParaRPr b="0" i="0" sz="1400" u="none" cap="none" strike="noStrike">
              <a:solidFill>
                <a:srgbClr val="000000"/>
              </a:solidFill>
              <a:latin typeface="Arial"/>
              <a:ea typeface="Arial"/>
              <a:cs typeface="Arial"/>
              <a:sym typeface="Arial"/>
            </a:endParaRPr>
          </a:p>
        </p:txBody>
      </p:sp>
      <p:sp>
        <p:nvSpPr>
          <p:cNvPr id="152" name="Google Shape;152;p18"/>
          <p:cNvSpPr txBox="1"/>
          <p:nvPr/>
        </p:nvSpPr>
        <p:spPr>
          <a:xfrm>
            <a:off x="714375" y="43815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El último elemento de un vector está en la posición longitud - 1.</a:t>
            </a:r>
            <a:endParaRPr b="0" i="0" sz="1400" u="none" cap="none" strike="noStrike">
              <a:solidFill>
                <a:srgbClr val="000000"/>
              </a:solidFill>
              <a:latin typeface="Arial"/>
              <a:ea typeface="Arial"/>
              <a:cs typeface="Arial"/>
              <a:sym typeface="Arial"/>
            </a:endParaRPr>
          </a:p>
        </p:txBody>
      </p:sp>
      <p:sp>
        <p:nvSpPr>
          <p:cNvPr id="153" name="Google Shape;153;p18"/>
          <p:cNvSpPr txBox="1"/>
          <p:nvPr/>
        </p:nvSpPr>
        <p:spPr>
          <a:xfrm>
            <a:off x="476250" y="25908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476250" y="30861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5" name="Google Shape;155;p18"/>
          <p:cNvSpPr txBox="1"/>
          <p:nvPr/>
        </p:nvSpPr>
        <p:spPr>
          <a:xfrm>
            <a:off x="476250" y="35814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6" name="Google Shape;156;p18"/>
          <p:cNvSpPr txBox="1"/>
          <p:nvPr/>
        </p:nvSpPr>
        <p:spPr>
          <a:xfrm>
            <a:off x="476250" y="43815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157" name="Google Shape;157;p18"/>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Concepto de Vector</a:t>
            </a:r>
            <a:endParaRPr b="0" i="0" sz="1400" u="none" cap="none" strike="noStrike">
              <a:solidFill>
                <a:srgbClr val="000000"/>
              </a:solidFill>
              <a:latin typeface="Arial"/>
              <a:ea typeface="Arial"/>
              <a:cs typeface="Arial"/>
              <a:sym typeface="Arial"/>
            </a:endParaRPr>
          </a:p>
        </p:txBody>
      </p:sp>
      <p:pic>
        <p:nvPicPr>
          <p:cNvPr id="158" name="Google Shape;158;p18"/>
          <p:cNvPicPr preferRelativeResize="0"/>
          <p:nvPr/>
        </p:nvPicPr>
        <p:blipFill>
          <a:blip r:embed="rId4">
            <a:alphaModFix/>
          </a:blip>
          <a:stretch>
            <a:fillRect/>
          </a:stretch>
        </p:blipFill>
        <p:spPr>
          <a:xfrm>
            <a:off x="6487850" y="2686438"/>
            <a:ext cx="5074175" cy="14851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162" name="Shape 162"/>
        <p:cNvGrpSpPr/>
        <p:nvPr/>
      </p:nvGrpSpPr>
      <p:grpSpPr>
        <a:xfrm>
          <a:off x="0" y="0"/>
          <a:ext cx="0" cy="0"/>
          <a:chOff x="0" y="0"/>
          <a:chExt cx="0" cy="0"/>
        </a:xfrm>
      </p:grpSpPr>
      <p:pic>
        <p:nvPicPr>
          <p:cNvPr descr="image.png" id="163" name="Google Shape;163;p19"/>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164" name="Google Shape;164;p19"/>
          <p:cNvSpPr txBox="1"/>
          <p:nvPr/>
        </p:nvSpPr>
        <p:spPr>
          <a:xfrm>
            <a:off x="476250" y="1390650"/>
            <a:ext cx="53817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9"/>
          <p:cNvSpPr txBox="1"/>
          <p:nvPr/>
        </p:nvSpPr>
        <p:spPr>
          <a:xfrm>
            <a:off x="476250" y="2143125"/>
            <a:ext cx="73089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476250" y="1606050"/>
            <a:ext cx="9108900" cy="4663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 </a:t>
            </a:r>
            <a:r>
              <a:rPr b="1" i="0" lang="en-US" sz="1500" u="none" cap="none" strike="noStrike">
                <a:solidFill>
                  <a:schemeClr val="dk1"/>
                </a:solidFill>
                <a:latin typeface="DM Sans"/>
                <a:ea typeface="DM Sans"/>
                <a:cs typeface="DM Sans"/>
                <a:sym typeface="DM Sans"/>
              </a:rPr>
              <a:t>I</a:t>
            </a:r>
            <a:r>
              <a:rPr b="1" lang="en-US" sz="1500">
                <a:solidFill>
                  <a:srgbClr val="121212"/>
                </a:solidFill>
                <a:latin typeface="DM Sans"/>
                <a:ea typeface="DM Sans"/>
                <a:cs typeface="DM Sans"/>
                <a:sym typeface="DM Sans"/>
              </a:rPr>
              <a:t>nstalar GIT</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u="sng">
                <a:solidFill>
                  <a:schemeClr val="hlink"/>
                </a:solidFill>
                <a:latin typeface="DM Sans"/>
                <a:ea typeface="DM Sans"/>
                <a:cs typeface="DM Sans"/>
                <a:sym typeface="DM Sans"/>
                <a:hlinkClick r:id="rId4"/>
              </a:rPr>
              <a:t>https://git-scm.com/install/windows</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br>
              <a:rPr b="1" lang="en-US" sz="1500">
                <a:solidFill>
                  <a:srgbClr val="121212"/>
                </a:solidFill>
                <a:latin typeface="DM Sans"/>
                <a:ea typeface="DM Sans"/>
                <a:cs typeface="DM Sans"/>
                <a:sym typeface="DM Sans"/>
              </a:rPr>
            </a:b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En la carpeta de tu preferencia, ejecutar en el CMD o Git CMD</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21212"/>
                </a:solidFill>
                <a:latin typeface="DM Sans"/>
                <a:ea typeface="DM Sans"/>
                <a:cs typeface="DM Sans"/>
                <a:sym typeface="DM Sans"/>
              </a:rPr>
              <a:t>C:\Users\your_user&gt;  git clone </a:t>
            </a:r>
            <a:r>
              <a:rPr b="1" lang="en-US" sz="1500" u="sng">
                <a:solidFill>
                  <a:schemeClr val="hlink"/>
                </a:solidFill>
                <a:latin typeface="DM Sans"/>
                <a:ea typeface="DM Sans"/>
                <a:cs typeface="DM Sans"/>
                <a:sym typeface="DM Sans"/>
                <a:hlinkClick r:id="rId5"/>
              </a:rPr>
              <a:t>https://github.com/MelvinSevilla/programacionBasica.git</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br>
              <a:rPr b="1" lang="en-US" sz="1500">
                <a:solidFill>
                  <a:srgbClr val="121212"/>
                </a:solidFill>
                <a:latin typeface="DM Sans"/>
                <a:ea typeface="DM Sans"/>
                <a:cs typeface="DM Sans"/>
                <a:sym typeface="DM Sans"/>
              </a:rPr>
            </a:b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Después de cada clase se actualizará el repositorio </a:t>
            </a:r>
            <a:endParaRPr b="1" sz="1500">
              <a:solidFill>
                <a:schemeClr val="dk1"/>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t/>
            </a:r>
            <a:endParaRPr b="1" sz="1500">
              <a:solidFill>
                <a:schemeClr val="dk1"/>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1CAA0"/>
                </a:solidFill>
                <a:latin typeface="DM Sans"/>
                <a:ea typeface="DM Sans"/>
                <a:cs typeface="DM Sans"/>
                <a:sym typeface="DM Sans"/>
              </a:rPr>
              <a:t>→ </a:t>
            </a:r>
            <a:r>
              <a:rPr b="1" lang="en-US" sz="1500">
                <a:solidFill>
                  <a:schemeClr val="dk1"/>
                </a:solidFill>
                <a:latin typeface="DM Sans"/>
                <a:ea typeface="DM Sans"/>
                <a:cs typeface="DM Sans"/>
                <a:sym typeface="DM Sans"/>
              </a:rPr>
              <a:t>Para actualizar tu carpeta local, haz git pull</a:t>
            </a:r>
            <a:endParaRPr b="1" sz="1500">
              <a:solidFill>
                <a:srgbClr val="121212"/>
              </a:solidFill>
              <a:latin typeface="DM Sans"/>
              <a:ea typeface="DM Sans"/>
              <a:cs typeface="DM Sans"/>
              <a:sym typeface="DM Sans"/>
            </a:endParaRPr>
          </a:p>
          <a:p>
            <a:pPr indent="0" lvl="0" marL="0" rtl="0" algn="l">
              <a:lnSpc>
                <a:spcPct val="160000"/>
              </a:lnSpc>
              <a:spcBef>
                <a:spcPts val="0"/>
              </a:spcBef>
              <a:spcAft>
                <a:spcPts val="0"/>
              </a:spcAft>
              <a:buClr>
                <a:schemeClr val="dk1"/>
              </a:buClr>
              <a:buSzPts val="1500"/>
              <a:buFont typeface="Arial"/>
              <a:buNone/>
            </a:pPr>
            <a:r>
              <a:rPr b="1" lang="en-US" sz="1500">
                <a:solidFill>
                  <a:srgbClr val="121212"/>
                </a:solidFill>
                <a:latin typeface="DM Sans"/>
                <a:ea typeface="DM Sans"/>
                <a:cs typeface="DM Sans"/>
                <a:sym typeface="DM Sans"/>
              </a:rPr>
              <a:t>C:\Users\your_user\programacionBasica&gt;  git pull</a:t>
            </a:r>
            <a:br>
              <a:rPr b="1" lang="en-US" sz="1500">
                <a:solidFill>
                  <a:srgbClr val="121212"/>
                </a:solidFill>
                <a:latin typeface="DM Sans"/>
                <a:ea typeface="DM Sans"/>
                <a:cs typeface="DM Sans"/>
                <a:sym typeface="DM Sans"/>
              </a:rPr>
            </a:br>
            <a:br>
              <a:rPr b="1" lang="en-US" sz="1500">
                <a:solidFill>
                  <a:srgbClr val="121212"/>
                </a:solidFill>
                <a:latin typeface="DM Sans"/>
                <a:ea typeface="DM Sans"/>
                <a:cs typeface="DM Sans"/>
                <a:sym typeface="DM Sans"/>
              </a:rPr>
            </a:br>
            <a:br>
              <a:rPr b="1" lang="en-US" sz="1500">
                <a:solidFill>
                  <a:srgbClr val="121212"/>
                </a:solidFill>
                <a:latin typeface="DM Sans"/>
                <a:ea typeface="DM Sans"/>
                <a:cs typeface="DM Sans"/>
                <a:sym typeface="DM Sans"/>
              </a:rPr>
            </a:br>
            <a:endParaRPr b="1" sz="1500">
              <a:solidFill>
                <a:srgbClr val="11CAA0"/>
              </a:solidFill>
              <a:latin typeface="DM Sans"/>
              <a:ea typeface="DM Sans"/>
              <a:cs typeface="DM Sans"/>
              <a:sym typeface="DM Sans"/>
            </a:endParaRPr>
          </a:p>
        </p:txBody>
      </p:sp>
      <p:sp>
        <p:nvSpPr>
          <p:cNvPr id="167" name="Google Shape;167;p19"/>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C</a:t>
            </a:r>
            <a:r>
              <a:rPr b="1" lang="en-US" sz="3375">
                <a:solidFill>
                  <a:srgbClr val="005088"/>
                </a:solidFill>
                <a:latin typeface="Merriweather"/>
                <a:ea typeface="Merriweather"/>
                <a:cs typeface="Merriweather"/>
                <a:sym typeface="Merriweather"/>
              </a:rPr>
              <a:t>arpeta compartida en GIT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p:nvPr/>
        </p:nvSpPr>
        <p:spPr>
          <a:xfrm>
            <a:off x="0" y="0"/>
            <a:ext cx="12192000" cy="6858000"/>
          </a:xfrm>
          <a:prstGeom prst="rect">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professional background for a Java programming presentation with subtle code syntax highlighting and tech patterns in blue and cream tones. Simple and clean." id="173" name="Google Shape;17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p20"/>
          <p:cNvSpPr/>
          <p:nvPr/>
        </p:nvSpPr>
        <p:spPr>
          <a:xfrm>
            <a:off x="0" y="0"/>
            <a:ext cx="12192000" cy="10479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5" name="Google Shape;175;p20"/>
          <p:cNvSpPr txBox="1"/>
          <p:nvPr/>
        </p:nvSpPr>
        <p:spPr>
          <a:xfrm>
            <a:off x="476250" y="28575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Glosario</a:t>
            </a:r>
            <a:endParaRPr b="1" sz="3200">
              <a:solidFill>
                <a:srgbClr val="005088"/>
              </a:solidFill>
              <a:latin typeface="Merriweather"/>
              <a:ea typeface="Merriweather"/>
              <a:cs typeface="Merriweather"/>
              <a:sym typeface="Merriweather"/>
            </a:endParaRPr>
          </a:p>
        </p:txBody>
      </p:sp>
      <p:grpSp>
        <p:nvGrpSpPr>
          <p:cNvPr id="176" name="Google Shape;176;p20"/>
          <p:cNvGrpSpPr/>
          <p:nvPr/>
        </p:nvGrpSpPr>
        <p:grpSpPr>
          <a:xfrm>
            <a:off x="428625" y="1333500"/>
            <a:ext cx="5572200" cy="5191200"/>
            <a:chOff x="0" y="0"/>
            <a:chExt cx="5572200" cy="5191200"/>
          </a:xfrm>
        </p:grpSpPr>
        <p:sp>
          <p:nvSpPr>
            <p:cNvPr id="177" name="Google Shape;177;p20"/>
            <p:cNvSpPr/>
            <p:nvPr/>
          </p:nvSpPr>
          <p:spPr>
            <a:xfrm>
              <a:off x="0" y="0"/>
              <a:ext cx="5572200" cy="5191200"/>
            </a:xfrm>
            <a:prstGeom prst="roundRect">
              <a:avLst>
                <a:gd fmla="val 1834" name="adj"/>
              </a:avLst>
            </a:prstGeom>
            <a:solidFill>
              <a:srgbClr val="005088">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20"/>
            <p:cNvSpPr/>
            <p:nvPr/>
          </p:nvSpPr>
          <p:spPr>
            <a:xfrm>
              <a:off x="23813" y="23813"/>
              <a:ext cx="5524500" cy="5143500"/>
            </a:xfrm>
            <a:prstGeom prst="roundRect">
              <a:avLst>
                <a:gd fmla="val 148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20"/>
            <p:cNvSpPr txBox="1"/>
            <p:nvPr/>
          </p:nvSpPr>
          <p:spPr>
            <a:xfrm>
              <a:off x="238125" y="238125"/>
              <a:ext cx="5048400" cy="476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5088"/>
                  </a:solidFill>
                  <a:latin typeface="Merriweather"/>
                  <a:ea typeface="Merriweather"/>
                  <a:cs typeface="Merriweather"/>
                  <a:sym typeface="Merriweather"/>
                </a:rPr>
                <a:t>Estructura y Modificadores</a:t>
              </a:r>
              <a:endParaRPr b="1" sz="2200">
                <a:solidFill>
                  <a:srgbClr val="005088"/>
                </a:solidFill>
                <a:latin typeface="Merriweather"/>
                <a:ea typeface="Merriweather"/>
                <a:cs typeface="Merriweather"/>
                <a:sym typeface="Merriweather"/>
              </a:endParaRPr>
            </a:p>
            <a:p>
              <a:pPr indent="0" lvl="0" marL="0" rtl="0" algn="l">
                <a:spcBef>
                  <a:spcPts val="1125"/>
                </a:spcBef>
                <a:spcAft>
                  <a:spcPts val="0"/>
                </a:spcAft>
                <a:buNone/>
              </a:pPr>
              <a:r>
                <a:rPr b="1" lang="en-US" sz="1300">
                  <a:solidFill>
                    <a:srgbClr val="005088"/>
                  </a:solidFill>
                  <a:latin typeface="DM Sans"/>
                  <a:ea typeface="DM Sans"/>
                  <a:cs typeface="DM Sans"/>
                  <a:sym typeface="DM Sans"/>
                </a:rPr>
                <a:t>class (Clase)</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El molde o plantilla principal. Todo el código en Java debe vivir dentro de una clase.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public (Público)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Permite que cualquier otra clase del programa vea y use este elemento.</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private (Privado)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Oculta y protege el dato; solo se puede usar dentro de su propia clase.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static (Estático)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Le pertenece a la clase y no requiere crear un objeto para usarse.</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void (Vacío)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Indica que el método realiza una acción pero no devuelve ningún valor.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import (Importar)</a:t>
              </a:r>
              <a:endParaRPr b="1" sz="1300">
                <a:solidFill>
                  <a:srgbClr val="005088"/>
                </a:solidFill>
                <a:latin typeface="DM Sans"/>
                <a:ea typeface="DM Sans"/>
                <a:cs typeface="DM Sans"/>
                <a:sym typeface="DM Sans"/>
              </a:endParaRPr>
            </a:p>
            <a:p>
              <a:pPr indent="0" lvl="0" marL="0" rtl="0" algn="l">
                <a:spcBef>
                  <a:spcPts val="0"/>
                </a:spcBef>
                <a:spcAft>
                  <a:spcPts val="900"/>
                </a:spcAft>
                <a:buNone/>
              </a:pPr>
              <a:r>
                <a:rPr b="0" lang="en-US" sz="1200">
                  <a:solidFill>
                    <a:srgbClr val="333333"/>
                  </a:solidFill>
                  <a:latin typeface="DM Sans"/>
                  <a:ea typeface="DM Sans"/>
                  <a:cs typeface="DM Sans"/>
                  <a:sym typeface="DM Sans"/>
                </a:rPr>
                <a:t>Trae herramientas o librerías externas que no vienen cargadas por defecto.</a:t>
              </a:r>
              <a:endParaRPr b="0" sz="1200">
                <a:solidFill>
                  <a:srgbClr val="333333"/>
                </a:solidFill>
                <a:latin typeface="DM Sans"/>
                <a:ea typeface="DM Sans"/>
                <a:cs typeface="DM Sans"/>
                <a:sym typeface="DM Sans"/>
              </a:endParaRPr>
            </a:p>
          </p:txBody>
        </p:sp>
      </p:grpSp>
      <p:grpSp>
        <p:nvGrpSpPr>
          <p:cNvPr id="180" name="Google Shape;180;p20"/>
          <p:cNvGrpSpPr/>
          <p:nvPr/>
        </p:nvGrpSpPr>
        <p:grpSpPr>
          <a:xfrm>
            <a:off x="6191250" y="1333500"/>
            <a:ext cx="5572200" cy="5191200"/>
            <a:chOff x="0" y="0"/>
            <a:chExt cx="5572200" cy="5191200"/>
          </a:xfrm>
        </p:grpSpPr>
        <p:sp>
          <p:nvSpPr>
            <p:cNvPr id="181" name="Google Shape;181;p20"/>
            <p:cNvSpPr/>
            <p:nvPr/>
          </p:nvSpPr>
          <p:spPr>
            <a:xfrm>
              <a:off x="0" y="0"/>
              <a:ext cx="5572200" cy="5191200"/>
            </a:xfrm>
            <a:prstGeom prst="roundRect">
              <a:avLst>
                <a:gd fmla="val 1834" name="adj"/>
              </a:avLst>
            </a:prstGeom>
            <a:solidFill>
              <a:srgbClr val="005088">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2" name="Google Shape;182;p20"/>
            <p:cNvSpPr/>
            <p:nvPr/>
          </p:nvSpPr>
          <p:spPr>
            <a:xfrm>
              <a:off x="23813" y="23813"/>
              <a:ext cx="5524500" cy="5143500"/>
            </a:xfrm>
            <a:prstGeom prst="roundRect">
              <a:avLst>
                <a:gd fmla="val 1481"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txBox="1"/>
            <p:nvPr/>
          </p:nvSpPr>
          <p:spPr>
            <a:xfrm>
              <a:off x="238125" y="238125"/>
              <a:ext cx="5048400" cy="476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200">
                  <a:solidFill>
                    <a:srgbClr val="005088"/>
                  </a:solidFill>
                  <a:latin typeface="Merriweather"/>
                  <a:ea typeface="Merriweather"/>
                  <a:cs typeface="Merriweather"/>
                  <a:sym typeface="Merriweather"/>
                </a:rPr>
                <a:t>Variables y Gestión de Memoria</a:t>
              </a:r>
              <a:endParaRPr b="1" sz="2200">
                <a:solidFill>
                  <a:srgbClr val="005088"/>
                </a:solidFill>
                <a:latin typeface="Merriweather"/>
                <a:ea typeface="Merriweather"/>
                <a:cs typeface="Merriweather"/>
                <a:sym typeface="Merriweather"/>
              </a:endParaRPr>
            </a:p>
            <a:p>
              <a:pPr indent="0" lvl="0" marL="0" rtl="0" algn="l">
                <a:spcBef>
                  <a:spcPts val="1125"/>
                </a:spcBef>
                <a:spcAft>
                  <a:spcPts val="0"/>
                </a:spcAft>
                <a:buNone/>
              </a:pPr>
              <a:r>
                <a:rPr b="1" lang="en-US" sz="1300">
                  <a:solidFill>
                    <a:srgbClr val="005088"/>
                  </a:solidFill>
                  <a:latin typeface="DM Sans"/>
                  <a:ea typeface="DM Sans"/>
                  <a:cs typeface="DM Sans"/>
                  <a:sym typeface="DM Sans"/>
                </a:rPr>
                <a:t>Declarar e Inicializar</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Crear una variable definiendo su tipo (int edad;) y asignar su primer valor (edad = 20;).</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Asignar (=)</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Operador que guarda el valor de la derecha dentro de la variable de la izquierda.</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new (Nuevo)</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Reserva espacio en la memoria física para crear un objeto o un vector.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Instanciar</a:t>
              </a:r>
              <a:endParaRPr b="1" sz="1300">
                <a:solidFill>
                  <a:srgbClr val="005088"/>
                </a:solidFill>
                <a:latin typeface="DM Sans"/>
                <a:ea typeface="DM Sans"/>
                <a:cs typeface="DM Sans"/>
                <a:sym typeface="DM Sans"/>
              </a:endParaRPr>
            </a:p>
            <a:p>
              <a:pPr indent="0" lvl="0" marL="0" rtl="0" algn="l">
                <a:spcBef>
                  <a:spcPts val="0"/>
                </a:spcBef>
                <a:spcAft>
                  <a:spcPts val="0"/>
                </a:spcAft>
                <a:buNone/>
              </a:pPr>
              <a:r>
                <a:rPr b="0" lang="en-US" sz="1200">
                  <a:solidFill>
                    <a:srgbClr val="333333"/>
                  </a:solidFill>
                  <a:latin typeface="DM Sans"/>
                  <a:ea typeface="DM Sans"/>
                  <a:cs typeface="DM Sans"/>
                  <a:sym typeface="DM Sans"/>
                </a:rPr>
                <a:t>El acto de dar vida a un objeto en memoria usando new (ej: teclado = new Scanner(...)).</a:t>
              </a:r>
              <a:endParaRPr b="0" sz="1200">
                <a:solidFill>
                  <a:srgbClr val="333333"/>
                </a:solidFill>
                <a:latin typeface="DM Sans"/>
                <a:ea typeface="DM Sans"/>
                <a:cs typeface="DM Sans"/>
                <a:sym typeface="DM Sans"/>
              </a:endParaRPr>
            </a:p>
            <a:p>
              <a:pPr indent="0" lvl="0" marL="0" rtl="0" algn="l">
                <a:spcBef>
                  <a:spcPts val="900"/>
                </a:spcBef>
                <a:spcAft>
                  <a:spcPts val="0"/>
                </a:spcAft>
                <a:buNone/>
              </a:pPr>
              <a:r>
                <a:rPr b="1" lang="en-US" sz="1300">
                  <a:solidFill>
                    <a:srgbClr val="005088"/>
                  </a:solidFill>
                  <a:latin typeface="DM Sans"/>
                  <a:ea typeface="DM Sans"/>
                  <a:cs typeface="DM Sans"/>
                  <a:sym typeface="DM Sans"/>
                </a:rPr>
                <a:t>Invocar</a:t>
              </a:r>
              <a:endParaRPr b="1" sz="1300">
                <a:solidFill>
                  <a:srgbClr val="005088"/>
                </a:solidFill>
                <a:latin typeface="DM Sans"/>
                <a:ea typeface="DM Sans"/>
                <a:cs typeface="DM Sans"/>
                <a:sym typeface="DM Sans"/>
              </a:endParaRPr>
            </a:p>
            <a:p>
              <a:pPr indent="0" lvl="0" marL="0" rtl="0" algn="l">
                <a:spcBef>
                  <a:spcPts val="0"/>
                </a:spcBef>
                <a:spcAft>
                  <a:spcPts val="900"/>
                </a:spcAft>
                <a:buNone/>
              </a:pPr>
              <a:r>
                <a:rPr b="0" lang="en-US" sz="1200">
                  <a:solidFill>
                    <a:srgbClr val="333333"/>
                  </a:solidFill>
                  <a:latin typeface="DM Sans"/>
                  <a:ea typeface="DM Sans"/>
                  <a:cs typeface="DM Sans"/>
                  <a:sym typeface="DM Sans"/>
                </a:rPr>
                <a:t>Llamar o ejecutar las instrucciones guardadas dentro de un método (ej: vector.size();).</a:t>
              </a:r>
              <a:endParaRPr b="0" sz="1200">
                <a:solidFill>
                  <a:srgbClr val="333333"/>
                </a:solidFill>
                <a:latin typeface="DM Sans"/>
                <a:ea typeface="DM Sans"/>
                <a:cs typeface="DM Sans"/>
                <a:sym typeface="DM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187" name="Shape 187"/>
        <p:cNvGrpSpPr/>
        <p:nvPr/>
      </p:nvGrpSpPr>
      <p:grpSpPr>
        <a:xfrm>
          <a:off x="0" y="0"/>
          <a:ext cx="0" cy="0"/>
          <a:chOff x="0" y="0"/>
          <a:chExt cx="0" cy="0"/>
        </a:xfrm>
      </p:grpSpPr>
      <p:pic>
        <p:nvPicPr>
          <p:cNvPr descr="image.png" id="188" name="Google Shape;188;p21"/>
          <p:cNvPicPr preferRelativeResize="0"/>
          <p:nvPr/>
        </p:nvPicPr>
        <p:blipFill rotWithShape="1">
          <a:blip r:embed="rId3">
            <a:alphaModFix/>
          </a:blip>
          <a:srcRect b="0" l="0" r="0" t="0"/>
          <a:stretch/>
        </p:blipFill>
        <p:spPr>
          <a:xfrm>
            <a:off x="-1905000" y="2095500"/>
            <a:ext cx="7620000" cy="7620000"/>
          </a:xfrm>
          <a:prstGeom prst="rect">
            <a:avLst/>
          </a:prstGeom>
          <a:noFill/>
          <a:ln>
            <a:noFill/>
          </a:ln>
        </p:spPr>
      </p:pic>
      <p:pic>
        <p:nvPicPr>
          <p:cNvPr descr="image.png" id="189" name="Google Shape;189;p21"/>
          <p:cNvPicPr preferRelativeResize="0"/>
          <p:nvPr/>
        </p:nvPicPr>
        <p:blipFill rotWithShape="1">
          <a:blip r:embed="rId4">
            <a:alphaModFix/>
          </a:blip>
          <a:srcRect b="0" l="0" r="0" t="0"/>
          <a:stretch/>
        </p:blipFill>
        <p:spPr>
          <a:xfrm>
            <a:off x="476250" y="914400"/>
            <a:ext cx="3429000" cy="5762826"/>
          </a:xfrm>
          <a:prstGeom prst="rect">
            <a:avLst/>
          </a:prstGeom>
          <a:noFill/>
          <a:ln>
            <a:noFill/>
          </a:ln>
        </p:spPr>
      </p:pic>
      <p:pic>
        <p:nvPicPr>
          <p:cNvPr descr="image.png" id="190" name="Google Shape;190;p21"/>
          <p:cNvPicPr preferRelativeResize="0"/>
          <p:nvPr/>
        </p:nvPicPr>
        <p:blipFill rotWithShape="1">
          <a:blip r:embed="rId4">
            <a:alphaModFix/>
          </a:blip>
          <a:srcRect b="0" l="0" r="0" t="0"/>
          <a:stretch/>
        </p:blipFill>
        <p:spPr>
          <a:xfrm>
            <a:off x="4191000" y="914400"/>
            <a:ext cx="3429000" cy="5762826"/>
          </a:xfrm>
          <a:prstGeom prst="rect">
            <a:avLst/>
          </a:prstGeom>
          <a:noFill/>
          <a:ln>
            <a:noFill/>
          </a:ln>
        </p:spPr>
      </p:pic>
      <p:pic>
        <p:nvPicPr>
          <p:cNvPr descr="image.png" id="191" name="Google Shape;191;p21"/>
          <p:cNvPicPr preferRelativeResize="0"/>
          <p:nvPr/>
        </p:nvPicPr>
        <p:blipFill rotWithShape="1">
          <a:blip r:embed="rId5">
            <a:alphaModFix/>
          </a:blip>
          <a:srcRect b="0" l="0" r="0" t="0"/>
          <a:stretch/>
        </p:blipFill>
        <p:spPr>
          <a:xfrm>
            <a:off x="7905750" y="914400"/>
            <a:ext cx="3810000" cy="5762826"/>
          </a:xfrm>
          <a:prstGeom prst="rect">
            <a:avLst/>
          </a:prstGeom>
          <a:noFill/>
          <a:ln>
            <a:noFill/>
          </a:ln>
        </p:spPr>
      </p:pic>
      <p:pic>
        <p:nvPicPr>
          <p:cNvPr descr="image.png" id="192" name="Google Shape;192;p21"/>
          <p:cNvPicPr preferRelativeResize="0"/>
          <p:nvPr/>
        </p:nvPicPr>
        <p:blipFill rotWithShape="1">
          <a:blip r:embed="rId6">
            <a:alphaModFix/>
          </a:blip>
          <a:srcRect b="0" l="0" r="0" t="0"/>
          <a:stretch/>
        </p:blipFill>
        <p:spPr>
          <a:xfrm>
            <a:off x="781050" y="1219200"/>
            <a:ext cx="762000" cy="762000"/>
          </a:xfrm>
          <a:prstGeom prst="rect">
            <a:avLst/>
          </a:prstGeom>
          <a:noFill/>
          <a:ln>
            <a:noFill/>
          </a:ln>
        </p:spPr>
      </p:pic>
      <p:sp>
        <p:nvSpPr>
          <p:cNvPr id="193" name="Google Shape;193;p21"/>
          <p:cNvSpPr txBox="1"/>
          <p:nvPr/>
        </p:nvSpPr>
        <p:spPr>
          <a:xfrm>
            <a:off x="781050" y="5419725"/>
            <a:ext cx="2819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F3F0DF"/>
                </a:solidFill>
                <a:latin typeface="DM Sans"/>
                <a:ea typeface="DM Sans"/>
                <a:cs typeface="DM Sans"/>
                <a:sym typeface="DM Sans"/>
              </a:rPr>
              <a:t>Ideal cuando necesitamos modificar los datos o saber la posición exacta.</a:t>
            </a:r>
            <a:endParaRPr b="0" i="0" sz="1400" u="none" cap="none" strike="noStrike">
              <a:solidFill>
                <a:srgbClr val="000000"/>
              </a:solidFill>
              <a:latin typeface="Arial"/>
              <a:ea typeface="Arial"/>
              <a:cs typeface="Arial"/>
              <a:sym typeface="Arial"/>
            </a:endParaRPr>
          </a:p>
        </p:txBody>
      </p:sp>
      <p:pic>
        <p:nvPicPr>
          <p:cNvPr descr="image.png" id="194" name="Google Shape;194;p21"/>
          <p:cNvPicPr preferRelativeResize="0"/>
          <p:nvPr/>
        </p:nvPicPr>
        <p:blipFill rotWithShape="1">
          <a:blip r:embed="rId7">
            <a:alphaModFix/>
          </a:blip>
          <a:srcRect b="0" l="0" r="0" t="0"/>
          <a:stretch/>
        </p:blipFill>
        <p:spPr>
          <a:xfrm>
            <a:off x="4495800" y="1219200"/>
            <a:ext cx="762000" cy="762000"/>
          </a:xfrm>
          <a:prstGeom prst="rect">
            <a:avLst/>
          </a:prstGeom>
          <a:noFill/>
          <a:ln>
            <a:noFill/>
          </a:ln>
        </p:spPr>
      </p:pic>
      <p:sp>
        <p:nvSpPr>
          <p:cNvPr id="195" name="Google Shape;195;p21"/>
          <p:cNvSpPr txBox="1"/>
          <p:nvPr/>
        </p:nvSpPr>
        <p:spPr>
          <a:xfrm>
            <a:off x="4495800" y="5495925"/>
            <a:ext cx="28194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F3F0DF"/>
                </a:solidFill>
                <a:latin typeface="DM Sans"/>
                <a:ea typeface="DM Sans"/>
                <a:cs typeface="DM Sans"/>
                <a:sym typeface="DM Sans"/>
              </a:rPr>
              <a:t>Ideal para lecturas limpias, como sumar elementos o imprimirlos en pantalla.</a:t>
            </a:r>
            <a:endParaRPr b="0" i="0" sz="1400" u="none" cap="none" strike="noStrike">
              <a:solidFill>
                <a:srgbClr val="000000"/>
              </a:solidFill>
              <a:latin typeface="Arial"/>
              <a:ea typeface="Arial"/>
              <a:cs typeface="Arial"/>
              <a:sym typeface="Arial"/>
            </a:endParaRPr>
          </a:p>
        </p:txBody>
      </p:sp>
      <p:pic>
        <p:nvPicPr>
          <p:cNvPr descr="image.png" id="196" name="Google Shape;196;p21"/>
          <p:cNvPicPr preferRelativeResize="0"/>
          <p:nvPr/>
        </p:nvPicPr>
        <p:blipFill rotWithShape="1">
          <a:blip r:embed="rId8">
            <a:alphaModFix/>
          </a:blip>
          <a:srcRect b="0" l="0" r="0" t="0"/>
          <a:stretch/>
        </p:blipFill>
        <p:spPr>
          <a:xfrm>
            <a:off x="8210550" y="1219200"/>
            <a:ext cx="762000" cy="762000"/>
          </a:xfrm>
          <a:prstGeom prst="rect">
            <a:avLst/>
          </a:prstGeom>
          <a:noFill/>
          <a:ln>
            <a:noFill/>
          </a:ln>
        </p:spPr>
      </p:pic>
      <p:sp>
        <p:nvSpPr>
          <p:cNvPr id="197" name="Google Shape;197;p21"/>
          <p:cNvSpPr txBox="1"/>
          <p:nvPr/>
        </p:nvSpPr>
        <p:spPr>
          <a:xfrm>
            <a:off x="8210550" y="2171700"/>
            <a:ext cx="27603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D32F2F"/>
                </a:solidFill>
                <a:latin typeface="Merriweather"/>
                <a:ea typeface="Merriweather"/>
                <a:cs typeface="Merriweather"/>
                <a:sym typeface="Merriweather"/>
              </a:rPr>
              <a:t>Alerta: Excepción</a:t>
            </a:r>
            <a:endParaRPr b="0" i="0" sz="1400" u="none" cap="none" strike="noStrike">
              <a:solidFill>
                <a:srgbClr val="000000"/>
              </a:solidFill>
              <a:latin typeface="Arial"/>
              <a:ea typeface="Arial"/>
              <a:cs typeface="Arial"/>
              <a:sym typeface="Arial"/>
            </a:endParaRPr>
          </a:p>
        </p:txBody>
      </p:sp>
      <p:sp>
        <p:nvSpPr>
          <p:cNvPr id="198" name="Google Shape;198;p21"/>
          <p:cNvSpPr txBox="1"/>
          <p:nvPr/>
        </p:nvSpPr>
        <p:spPr>
          <a:xfrm>
            <a:off x="8210550" y="2695575"/>
            <a:ext cx="3200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333333"/>
                </a:solidFill>
                <a:latin typeface="DM Sans"/>
                <a:ea typeface="DM Sans"/>
                <a:cs typeface="DM Sans"/>
                <a:sym typeface="DM Sans"/>
              </a:rPr>
              <a:t>ArrayIndexOutOfBoundsException</a:t>
            </a:r>
            <a:endParaRPr b="0" i="0" sz="1400" u="none" cap="none" strike="noStrike">
              <a:solidFill>
                <a:srgbClr val="000000"/>
              </a:solidFill>
              <a:latin typeface="Arial"/>
              <a:ea typeface="Arial"/>
              <a:cs typeface="Arial"/>
              <a:sym typeface="Arial"/>
            </a:endParaRPr>
          </a:p>
        </p:txBody>
      </p:sp>
      <p:sp>
        <p:nvSpPr>
          <p:cNvPr id="199" name="Google Shape;199;p21"/>
          <p:cNvSpPr txBox="1"/>
          <p:nvPr/>
        </p:nvSpPr>
        <p:spPr>
          <a:xfrm>
            <a:off x="8210550" y="3143250"/>
            <a:ext cx="32004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333333"/>
                </a:solidFill>
                <a:latin typeface="DM Sans"/>
                <a:ea typeface="DM Sans"/>
                <a:cs typeface="DM Sans"/>
                <a:sym typeface="DM Sans"/>
              </a:rPr>
              <a:t>Ocurre al intentar acceder a un índice que no existe (ej. índice 5 en un arreglo de tamaño 5, recordando que van de 0 a 4).</a:t>
            </a:r>
            <a:endParaRPr b="0" i="0" sz="1400" u="none" cap="none" strike="noStrike">
              <a:solidFill>
                <a:srgbClr val="000000"/>
              </a:solidFill>
              <a:latin typeface="Arial"/>
              <a:ea typeface="Arial"/>
              <a:cs typeface="Arial"/>
              <a:sym typeface="Arial"/>
            </a:endParaRPr>
          </a:p>
        </p:txBody>
      </p:sp>
      <p:pic>
        <p:nvPicPr>
          <p:cNvPr descr="image.png" id="200" name="Google Shape;200;p21"/>
          <p:cNvPicPr preferRelativeResize="0"/>
          <p:nvPr/>
        </p:nvPicPr>
        <p:blipFill rotWithShape="1">
          <a:blip r:embed="rId9">
            <a:alphaModFix/>
          </a:blip>
          <a:srcRect b="0" l="0" r="0" t="0"/>
          <a:stretch/>
        </p:blipFill>
        <p:spPr>
          <a:xfrm>
            <a:off x="971550" y="1409700"/>
            <a:ext cx="381000" cy="381000"/>
          </a:xfrm>
          <a:prstGeom prst="rect">
            <a:avLst/>
          </a:prstGeom>
          <a:noFill/>
          <a:ln>
            <a:noFill/>
          </a:ln>
        </p:spPr>
      </p:pic>
      <p:pic>
        <p:nvPicPr>
          <p:cNvPr descr="image.png" id="201" name="Google Shape;201;p21"/>
          <p:cNvPicPr preferRelativeResize="0"/>
          <p:nvPr/>
        </p:nvPicPr>
        <p:blipFill rotWithShape="1">
          <a:blip r:embed="rId10">
            <a:alphaModFix/>
          </a:blip>
          <a:srcRect b="0" l="0" r="0" t="0"/>
          <a:stretch/>
        </p:blipFill>
        <p:spPr>
          <a:xfrm>
            <a:off x="4757737" y="1409700"/>
            <a:ext cx="238125" cy="381000"/>
          </a:xfrm>
          <a:prstGeom prst="rect">
            <a:avLst/>
          </a:prstGeom>
          <a:noFill/>
          <a:ln>
            <a:noFill/>
          </a:ln>
        </p:spPr>
      </p:pic>
      <p:pic>
        <p:nvPicPr>
          <p:cNvPr descr="image.png" id="202" name="Google Shape;202;p21"/>
          <p:cNvPicPr preferRelativeResize="0"/>
          <p:nvPr/>
        </p:nvPicPr>
        <p:blipFill rotWithShape="1">
          <a:blip r:embed="rId11">
            <a:alphaModFix/>
          </a:blip>
          <a:srcRect b="0" l="0" r="0" t="0"/>
          <a:stretch/>
        </p:blipFill>
        <p:spPr>
          <a:xfrm>
            <a:off x="8401050" y="1409700"/>
            <a:ext cx="381000" cy="381000"/>
          </a:xfrm>
          <a:prstGeom prst="rect">
            <a:avLst/>
          </a:prstGeom>
          <a:noFill/>
          <a:ln>
            <a:noFill/>
          </a:ln>
        </p:spPr>
      </p:pic>
      <p:sp>
        <p:nvSpPr>
          <p:cNvPr id="203" name="Google Shape;203;p21"/>
          <p:cNvSpPr txBox="1"/>
          <p:nvPr/>
        </p:nvSpPr>
        <p:spPr>
          <a:xfrm>
            <a:off x="476250" y="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F3F0DF"/>
                </a:solidFill>
                <a:latin typeface="Merriweather"/>
                <a:ea typeface="Merriweather"/>
                <a:cs typeface="Merriweather"/>
                <a:sym typeface="Merriweather"/>
              </a:rPr>
              <a:t>Recorriendo el Vector</a:t>
            </a:r>
            <a:endParaRPr b="0" i="0" sz="1400" u="none" cap="none" strike="noStrike">
              <a:solidFill>
                <a:srgbClr val="000000"/>
              </a:solidFill>
              <a:latin typeface="Arial"/>
              <a:ea typeface="Arial"/>
              <a:cs typeface="Arial"/>
              <a:sym typeface="Arial"/>
            </a:endParaRPr>
          </a:p>
        </p:txBody>
      </p:sp>
      <p:sp>
        <p:nvSpPr>
          <p:cNvPr id="204" name="Google Shape;204;p21"/>
          <p:cNvSpPr txBox="1"/>
          <p:nvPr/>
        </p:nvSpPr>
        <p:spPr>
          <a:xfrm>
            <a:off x="781050" y="2171700"/>
            <a:ext cx="28905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11CAA0"/>
                </a:solidFill>
                <a:latin typeface="Merriweather"/>
                <a:ea typeface="Merriweather"/>
                <a:cs typeface="Merriweather"/>
                <a:sym typeface="Merriweather"/>
              </a:rPr>
              <a:t>Iteración Clásica</a:t>
            </a:r>
            <a:endParaRPr b="1" sz="2400">
              <a:solidFill>
                <a:srgbClr val="11CAA0"/>
              </a:solidFill>
              <a:latin typeface="Merriweather"/>
              <a:ea typeface="Merriweather"/>
              <a:cs typeface="Merriweather"/>
              <a:sym typeface="Merriweather"/>
            </a:endParaRPr>
          </a:p>
        </p:txBody>
      </p:sp>
      <p:sp>
        <p:nvSpPr>
          <p:cNvPr id="205" name="Google Shape;205;p21"/>
          <p:cNvSpPr txBox="1"/>
          <p:nvPr/>
        </p:nvSpPr>
        <p:spPr>
          <a:xfrm>
            <a:off x="781050" y="2695575"/>
            <a:ext cx="28194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Uso del método </a:t>
            </a:r>
            <a:r>
              <a:rPr b="1" lang="en-US" sz="1500">
                <a:solidFill>
                  <a:srgbClr val="F3F0DF"/>
                </a:solidFill>
                <a:latin typeface="DM Sans"/>
                <a:ea typeface="DM Sans"/>
                <a:cs typeface="DM Sans"/>
                <a:sym typeface="DM Sans"/>
              </a:rPr>
              <a:t>get(i)</a:t>
            </a:r>
            <a:r>
              <a:rPr b="0" lang="en-US" sz="1500">
                <a:solidFill>
                  <a:srgbClr val="F3F0DF"/>
                </a:solidFill>
                <a:latin typeface="DM Sans"/>
                <a:ea typeface="DM Sans"/>
                <a:cs typeface="DM Sans"/>
                <a:sym typeface="DM Sans"/>
              </a:rPr>
              <a:t> para acceder a elementos mediante su posición exacta.</a:t>
            </a:r>
            <a:endParaRPr b="0" sz="1500">
              <a:solidFill>
                <a:srgbClr val="F3F0DF"/>
              </a:solidFill>
              <a:latin typeface="DM Sans"/>
              <a:ea typeface="DM Sans"/>
              <a:cs typeface="DM Sans"/>
              <a:sym typeface="DM Sans"/>
            </a:endParaRPr>
          </a:p>
        </p:txBody>
      </p:sp>
      <p:sp>
        <p:nvSpPr>
          <p:cNvPr id="206" name="Google Shape;206;p21"/>
          <p:cNvSpPr txBox="1"/>
          <p:nvPr/>
        </p:nvSpPr>
        <p:spPr>
          <a:xfrm>
            <a:off x="781050" y="3752850"/>
            <a:ext cx="2819400" cy="740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for(int i = 0; i &lt; v.size(); i++) {</a:t>
            </a:r>
            <a:endParaRPr b="0" sz="1500">
              <a:solidFill>
                <a:srgbClr val="F3F0DF"/>
              </a:solidFill>
              <a:latin typeface="DM Sans"/>
              <a:ea typeface="DM Sans"/>
              <a:cs typeface="DM Sans"/>
              <a:sym typeface="DM Sans"/>
            </a:endParaRPr>
          </a:p>
          <a:p>
            <a:pPr indent="0" lvl="0" marL="0" rtl="0" algn="l">
              <a:spcBef>
                <a:spcPts val="375"/>
              </a:spcBef>
              <a:spcAft>
                <a:spcPts val="0"/>
              </a:spcAft>
              <a:buNone/>
            </a:pPr>
            <a:r>
              <a:rPr b="0" lang="en-US" sz="1500">
                <a:solidFill>
                  <a:srgbClr val="F3F0DF"/>
                </a:solidFill>
                <a:latin typeface="DM Sans"/>
                <a:ea typeface="DM Sans"/>
                <a:cs typeface="DM Sans"/>
                <a:sym typeface="DM Sans"/>
              </a:rPr>
              <a:t>String s = v.get(i);</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sp>
        <p:nvSpPr>
          <p:cNvPr id="207" name="Google Shape;207;p21"/>
          <p:cNvSpPr txBox="1"/>
          <p:nvPr/>
        </p:nvSpPr>
        <p:spPr>
          <a:xfrm>
            <a:off x="4495800" y="2171700"/>
            <a:ext cx="2960400" cy="738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11CAA0"/>
                </a:solidFill>
                <a:latin typeface="Merriweather"/>
                <a:ea typeface="Merriweather"/>
                <a:cs typeface="Merriweather"/>
                <a:sym typeface="Merriweather"/>
              </a:rPr>
              <a:t>Iteración de Contenido</a:t>
            </a:r>
            <a:endParaRPr b="1" sz="2400">
              <a:solidFill>
                <a:srgbClr val="11CAA0"/>
              </a:solidFill>
              <a:latin typeface="Merriweather"/>
              <a:ea typeface="Merriweather"/>
              <a:cs typeface="Merriweather"/>
              <a:sym typeface="Merriweather"/>
            </a:endParaRPr>
          </a:p>
        </p:txBody>
      </p:sp>
      <p:sp>
        <p:nvSpPr>
          <p:cNvPr id="208" name="Google Shape;208;p21"/>
          <p:cNvSpPr txBox="1"/>
          <p:nvPr/>
        </p:nvSpPr>
        <p:spPr>
          <a:xfrm>
            <a:off x="4495800" y="3076575"/>
            <a:ext cx="28194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Ideal para procesar cada objeto sin preocuparse por la gestión de índices.</a:t>
            </a:r>
            <a:endParaRPr b="0" sz="1500">
              <a:solidFill>
                <a:srgbClr val="F3F0DF"/>
              </a:solidFill>
              <a:latin typeface="DM Sans"/>
              <a:ea typeface="DM Sans"/>
              <a:cs typeface="DM Sans"/>
              <a:sym typeface="DM Sans"/>
            </a:endParaRPr>
          </a:p>
        </p:txBody>
      </p:sp>
      <p:sp>
        <p:nvSpPr>
          <p:cNvPr id="209" name="Google Shape;209;p21"/>
          <p:cNvSpPr txBox="1"/>
          <p:nvPr/>
        </p:nvSpPr>
        <p:spPr>
          <a:xfrm>
            <a:off x="4495800" y="4133850"/>
            <a:ext cx="2819400" cy="740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for(String elemento : v) {</a:t>
            </a:r>
            <a:endParaRPr b="0" sz="1500">
              <a:solidFill>
                <a:srgbClr val="F3F0DF"/>
              </a:solidFill>
              <a:latin typeface="DM Sans"/>
              <a:ea typeface="DM Sans"/>
              <a:cs typeface="DM Sans"/>
              <a:sym typeface="DM Sans"/>
            </a:endParaRPr>
          </a:p>
          <a:p>
            <a:pPr indent="0" lvl="0" marL="0" rtl="0" algn="l">
              <a:spcBef>
                <a:spcPts val="375"/>
              </a:spcBef>
              <a:spcAft>
                <a:spcPts val="0"/>
              </a:spcAft>
              <a:buNone/>
            </a:pPr>
            <a:r>
              <a:rPr b="0" lang="en-US" sz="1500">
                <a:solidFill>
                  <a:srgbClr val="F3F0DF"/>
                </a:solidFill>
                <a:latin typeface="DM Sans"/>
                <a:ea typeface="DM Sans"/>
                <a:cs typeface="DM Sans"/>
                <a:sym typeface="DM Sans"/>
              </a:rPr>
              <a:t>// Acción con el objeto</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22"/>
          <p:cNvSpPr/>
          <p:nvPr/>
        </p:nvSpPr>
        <p:spPr>
          <a:xfrm>
            <a:off x="0" y="0"/>
            <a:ext cx="12192000" cy="1143000"/>
          </a:xfrm>
          <a:prstGeom prst="rect">
            <a:avLst/>
          </a:prstGeom>
          <a:solidFill>
            <a:srgbClr val="FFFFFF">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2"/>
          <p:cNvSpPr txBox="1"/>
          <p:nvPr/>
        </p:nvSpPr>
        <p:spPr>
          <a:xfrm>
            <a:off x="476250" y="28575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Operadores de Vectores</a:t>
            </a:r>
            <a:endParaRPr b="1" sz="3200">
              <a:solidFill>
                <a:srgbClr val="005088"/>
              </a:solidFill>
              <a:latin typeface="Merriweather"/>
              <a:ea typeface="Merriweather"/>
              <a:cs typeface="Merriweather"/>
              <a:sym typeface="Merriweather"/>
            </a:endParaRPr>
          </a:p>
        </p:txBody>
      </p:sp>
      <p:grpSp>
        <p:nvGrpSpPr>
          <p:cNvPr id="216" name="Google Shape;216;p22"/>
          <p:cNvGrpSpPr/>
          <p:nvPr/>
        </p:nvGrpSpPr>
        <p:grpSpPr>
          <a:xfrm>
            <a:off x="381000" y="1238250"/>
            <a:ext cx="11430150" cy="5362725"/>
            <a:chOff x="0" y="0"/>
            <a:chExt cx="11430150" cy="5362725"/>
          </a:xfrm>
        </p:grpSpPr>
        <p:sp>
          <p:nvSpPr>
            <p:cNvPr id="217" name="Google Shape;217;p22"/>
            <p:cNvSpPr/>
            <p:nvPr/>
          </p:nvSpPr>
          <p:spPr>
            <a:xfrm>
              <a:off x="0" y="0"/>
              <a:ext cx="11430000" cy="381000"/>
            </a:xfrm>
            <a:prstGeom prst="roundRect">
              <a:avLst>
                <a:gd fmla="val 10000" name="adj"/>
              </a:avLst>
            </a:prstGeom>
            <a:solidFill>
              <a:srgbClr val="0050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2"/>
            <p:cNvSpPr txBox="1"/>
            <p:nvPr/>
          </p:nvSpPr>
          <p:spPr>
            <a:xfrm>
              <a:off x="0" y="0"/>
              <a:ext cx="20955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Operación</a:t>
              </a:r>
              <a:endParaRPr b="1" sz="1200">
                <a:solidFill>
                  <a:srgbClr val="F3F0DF"/>
                </a:solidFill>
                <a:latin typeface="DM Sans"/>
                <a:ea typeface="DM Sans"/>
                <a:cs typeface="DM Sans"/>
                <a:sym typeface="DM Sans"/>
              </a:endParaRPr>
            </a:p>
          </p:txBody>
        </p:sp>
        <p:sp>
          <p:nvSpPr>
            <p:cNvPr id="219" name="Google Shape;219;p22"/>
            <p:cNvSpPr txBox="1"/>
            <p:nvPr/>
          </p:nvSpPr>
          <p:spPr>
            <a:xfrm>
              <a:off x="2095500" y="0"/>
              <a:ext cx="52389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Descripción Teórica</a:t>
              </a:r>
              <a:endParaRPr b="1" sz="1200">
                <a:solidFill>
                  <a:srgbClr val="F3F0DF"/>
                </a:solidFill>
                <a:latin typeface="DM Sans"/>
                <a:ea typeface="DM Sans"/>
                <a:cs typeface="DM Sans"/>
                <a:sym typeface="DM Sans"/>
              </a:endParaRPr>
            </a:p>
          </p:txBody>
        </p:sp>
        <p:sp>
          <p:nvSpPr>
            <p:cNvPr id="220" name="Google Shape;220;p22"/>
            <p:cNvSpPr txBox="1"/>
            <p:nvPr/>
          </p:nvSpPr>
          <p:spPr>
            <a:xfrm>
              <a:off x="7334250" y="0"/>
              <a:ext cx="4095900" cy="3810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200">
                  <a:solidFill>
                    <a:srgbClr val="F3F0DF"/>
                  </a:solidFill>
                  <a:latin typeface="DM Sans"/>
                  <a:ea typeface="DM Sans"/>
                  <a:cs typeface="DM Sans"/>
                  <a:sym typeface="DM Sans"/>
                </a:rPr>
                <a:t>Ejemplo de Código</a:t>
              </a:r>
              <a:endParaRPr b="1" sz="1200">
                <a:solidFill>
                  <a:srgbClr val="F3F0DF"/>
                </a:solidFill>
                <a:latin typeface="DM Sans"/>
                <a:ea typeface="DM Sans"/>
                <a:cs typeface="DM Sans"/>
                <a:sym typeface="DM Sans"/>
              </a:endParaRPr>
            </a:p>
          </p:txBody>
        </p:sp>
        <p:grpSp>
          <p:nvGrpSpPr>
            <p:cNvPr id="221" name="Google Shape;221;p22"/>
            <p:cNvGrpSpPr/>
            <p:nvPr/>
          </p:nvGrpSpPr>
          <p:grpSpPr>
            <a:xfrm>
              <a:off x="0" y="428625"/>
              <a:ext cx="11430150" cy="362100"/>
              <a:chOff x="0" y="0"/>
              <a:chExt cx="11430150" cy="362100"/>
            </a:xfrm>
          </p:grpSpPr>
          <p:sp>
            <p:nvSpPr>
              <p:cNvPr id="222" name="Google Shape;22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add(E e)</a:t>
                </a:r>
                <a:endParaRPr b="1" sz="1100">
                  <a:solidFill>
                    <a:srgbClr val="005088"/>
                  </a:solidFill>
                  <a:latin typeface="DM Sans"/>
                  <a:ea typeface="DM Sans"/>
                  <a:cs typeface="DM Sans"/>
                  <a:sym typeface="DM Sans"/>
                </a:endParaRPr>
              </a:p>
            </p:txBody>
          </p:sp>
          <p:sp>
            <p:nvSpPr>
              <p:cNvPr id="224" name="Google Shape;22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Inserción al Final: Añade el elemento en la última posición libre.</a:t>
                </a:r>
                <a:endParaRPr b="0" sz="1050">
                  <a:solidFill>
                    <a:srgbClr val="121212"/>
                  </a:solidFill>
                  <a:latin typeface="DM Sans"/>
                  <a:ea typeface="DM Sans"/>
                  <a:cs typeface="DM Sans"/>
                  <a:sym typeface="DM Sans"/>
                </a:endParaRPr>
              </a:p>
            </p:txBody>
          </p:sp>
          <p:sp>
            <p:nvSpPr>
              <p:cNvPr id="225" name="Google Shape;22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vector.add("Carlos");</a:t>
                </a:r>
                <a:endParaRPr sz="1000">
                  <a:solidFill>
                    <a:srgbClr val="D32F2F"/>
                  </a:solidFill>
                  <a:latin typeface="Arial"/>
                  <a:ea typeface="Arial"/>
                  <a:cs typeface="Arial"/>
                  <a:sym typeface="Arial"/>
                </a:endParaRPr>
              </a:p>
            </p:txBody>
          </p:sp>
        </p:grpSp>
        <p:grpSp>
          <p:nvGrpSpPr>
            <p:cNvPr id="226" name="Google Shape;226;p22"/>
            <p:cNvGrpSpPr/>
            <p:nvPr/>
          </p:nvGrpSpPr>
          <p:grpSpPr>
            <a:xfrm>
              <a:off x="0" y="809625"/>
              <a:ext cx="11430150" cy="362100"/>
              <a:chOff x="0" y="0"/>
              <a:chExt cx="11430150" cy="362100"/>
            </a:xfrm>
          </p:grpSpPr>
          <p:sp>
            <p:nvSpPr>
              <p:cNvPr id="227" name="Google Shape;22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add(int, E)</a:t>
                </a:r>
                <a:endParaRPr b="1" sz="1100">
                  <a:solidFill>
                    <a:srgbClr val="005088"/>
                  </a:solidFill>
                  <a:latin typeface="DM Sans"/>
                  <a:ea typeface="DM Sans"/>
                  <a:cs typeface="DM Sans"/>
                  <a:sym typeface="DM Sans"/>
                </a:endParaRPr>
              </a:p>
            </p:txBody>
          </p:sp>
          <p:sp>
            <p:nvSpPr>
              <p:cNvPr id="229" name="Google Shape;22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Inserción por Desplazamiento: Inserta en un índice moviendo el resto.</a:t>
                </a:r>
                <a:endParaRPr b="0" sz="1050">
                  <a:solidFill>
                    <a:srgbClr val="121212"/>
                  </a:solidFill>
                  <a:latin typeface="DM Sans"/>
                  <a:ea typeface="DM Sans"/>
                  <a:cs typeface="DM Sans"/>
                  <a:sym typeface="DM Sans"/>
                </a:endParaRPr>
              </a:p>
            </p:txBody>
          </p:sp>
          <p:sp>
            <p:nvSpPr>
              <p:cNvPr id="230" name="Google Shape;23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vector.add(0, "VIP");</a:t>
                </a:r>
                <a:endParaRPr sz="1000">
                  <a:solidFill>
                    <a:srgbClr val="D32F2F"/>
                  </a:solidFill>
                  <a:latin typeface="Arial"/>
                  <a:ea typeface="Arial"/>
                  <a:cs typeface="Arial"/>
                  <a:sym typeface="Arial"/>
                </a:endParaRPr>
              </a:p>
            </p:txBody>
          </p:sp>
        </p:grpSp>
        <p:grpSp>
          <p:nvGrpSpPr>
            <p:cNvPr id="231" name="Google Shape;231;p22"/>
            <p:cNvGrpSpPr/>
            <p:nvPr/>
          </p:nvGrpSpPr>
          <p:grpSpPr>
            <a:xfrm>
              <a:off x="0" y="1190625"/>
              <a:ext cx="11430150" cy="362100"/>
              <a:chOff x="0" y="0"/>
              <a:chExt cx="11430150" cy="362100"/>
            </a:xfrm>
          </p:grpSpPr>
          <p:sp>
            <p:nvSpPr>
              <p:cNvPr id="232" name="Google Shape;23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get(int index)</a:t>
                </a:r>
                <a:endParaRPr b="1" sz="1100">
                  <a:solidFill>
                    <a:srgbClr val="005088"/>
                  </a:solidFill>
                  <a:latin typeface="DM Sans"/>
                  <a:ea typeface="DM Sans"/>
                  <a:cs typeface="DM Sans"/>
                  <a:sym typeface="DM Sans"/>
                </a:endParaRPr>
              </a:p>
            </p:txBody>
          </p:sp>
          <p:sp>
            <p:nvSpPr>
              <p:cNvPr id="234" name="Google Shape;23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Directo: Retorna el objeto en la posición indicada.</a:t>
                </a:r>
                <a:endParaRPr b="0" sz="1050">
                  <a:solidFill>
                    <a:srgbClr val="121212"/>
                  </a:solidFill>
                  <a:latin typeface="DM Sans"/>
                  <a:ea typeface="DM Sans"/>
                  <a:cs typeface="DM Sans"/>
                  <a:sym typeface="DM Sans"/>
                </a:endParaRPr>
              </a:p>
            </p:txBody>
          </p:sp>
          <p:sp>
            <p:nvSpPr>
              <p:cNvPr id="235" name="Google Shape;23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String c = vector.get(2);</a:t>
                </a:r>
                <a:endParaRPr sz="1000">
                  <a:solidFill>
                    <a:srgbClr val="D32F2F"/>
                  </a:solidFill>
                  <a:latin typeface="Arial"/>
                  <a:ea typeface="Arial"/>
                  <a:cs typeface="Arial"/>
                  <a:sym typeface="Arial"/>
                </a:endParaRPr>
              </a:p>
            </p:txBody>
          </p:sp>
        </p:grpSp>
        <p:grpSp>
          <p:nvGrpSpPr>
            <p:cNvPr id="236" name="Google Shape;236;p22"/>
            <p:cNvGrpSpPr/>
            <p:nvPr/>
          </p:nvGrpSpPr>
          <p:grpSpPr>
            <a:xfrm>
              <a:off x="0" y="1571625"/>
              <a:ext cx="11430150" cy="362100"/>
              <a:chOff x="0" y="0"/>
              <a:chExt cx="11430150" cy="362100"/>
            </a:xfrm>
          </p:grpSpPr>
          <p:sp>
            <p:nvSpPr>
              <p:cNvPr id="237" name="Google Shape;23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firstElement()</a:t>
                </a:r>
                <a:endParaRPr b="1" sz="1100">
                  <a:solidFill>
                    <a:srgbClr val="005088"/>
                  </a:solidFill>
                  <a:latin typeface="DM Sans"/>
                  <a:ea typeface="DM Sans"/>
                  <a:cs typeface="DM Sans"/>
                  <a:sym typeface="DM Sans"/>
                </a:endParaRPr>
              </a:p>
            </p:txBody>
          </p:sp>
          <p:sp>
            <p:nvSpPr>
              <p:cNvPr id="239" name="Google Shape;23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al Origen: Retorna referencia al primer elemento (índice 0).</a:t>
                </a:r>
                <a:endParaRPr b="0" sz="1050">
                  <a:solidFill>
                    <a:srgbClr val="121212"/>
                  </a:solidFill>
                  <a:latin typeface="DM Sans"/>
                  <a:ea typeface="DM Sans"/>
                  <a:cs typeface="DM Sans"/>
                  <a:sym typeface="DM Sans"/>
                </a:endParaRPr>
              </a:p>
            </p:txBody>
          </p:sp>
          <p:sp>
            <p:nvSpPr>
              <p:cNvPr id="240" name="Google Shape;24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vector.firstElement();</a:t>
                </a:r>
                <a:endParaRPr sz="1000">
                  <a:solidFill>
                    <a:srgbClr val="D32F2F"/>
                  </a:solidFill>
                  <a:latin typeface="Arial"/>
                  <a:ea typeface="Arial"/>
                  <a:cs typeface="Arial"/>
                  <a:sym typeface="Arial"/>
                </a:endParaRPr>
              </a:p>
            </p:txBody>
          </p:sp>
        </p:grpSp>
        <p:grpSp>
          <p:nvGrpSpPr>
            <p:cNvPr id="241" name="Google Shape;241;p22"/>
            <p:cNvGrpSpPr/>
            <p:nvPr/>
          </p:nvGrpSpPr>
          <p:grpSpPr>
            <a:xfrm>
              <a:off x="0" y="1952625"/>
              <a:ext cx="11430150" cy="362100"/>
              <a:chOff x="0" y="0"/>
              <a:chExt cx="11430150" cy="362100"/>
            </a:xfrm>
          </p:grpSpPr>
          <p:sp>
            <p:nvSpPr>
              <p:cNvPr id="242" name="Google Shape;24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lastElement()</a:t>
                </a:r>
                <a:endParaRPr b="1" sz="1100">
                  <a:solidFill>
                    <a:srgbClr val="005088"/>
                  </a:solidFill>
                  <a:latin typeface="DM Sans"/>
                  <a:ea typeface="DM Sans"/>
                  <a:cs typeface="DM Sans"/>
                  <a:sym typeface="DM Sans"/>
                </a:endParaRPr>
              </a:p>
            </p:txBody>
          </p:sp>
          <p:sp>
            <p:nvSpPr>
              <p:cNvPr id="244" name="Google Shape;24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Acceso al Extremo: Retorna referencia al último elemento activo.</a:t>
                </a:r>
                <a:endParaRPr b="0" sz="1050">
                  <a:solidFill>
                    <a:srgbClr val="121212"/>
                  </a:solidFill>
                  <a:latin typeface="DM Sans"/>
                  <a:ea typeface="DM Sans"/>
                  <a:cs typeface="DM Sans"/>
                  <a:sym typeface="DM Sans"/>
                </a:endParaRPr>
              </a:p>
            </p:txBody>
          </p:sp>
          <p:sp>
            <p:nvSpPr>
              <p:cNvPr id="245" name="Google Shape;24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vector.lastElement();</a:t>
                </a:r>
                <a:endParaRPr sz="1000">
                  <a:solidFill>
                    <a:srgbClr val="D32F2F"/>
                  </a:solidFill>
                  <a:latin typeface="Arial"/>
                  <a:ea typeface="Arial"/>
                  <a:cs typeface="Arial"/>
                  <a:sym typeface="Arial"/>
                </a:endParaRPr>
              </a:p>
            </p:txBody>
          </p:sp>
        </p:grpSp>
        <p:grpSp>
          <p:nvGrpSpPr>
            <p:cNvPr id="246" name="Google Shape;246;p22"/>
            <p:cNvGrpSpPr/>
            <p:nvPr/>
          </p:nvGrpSpPr>
          <p:grpSpPr>
            <a:xfrm>
              <a:off x="0" y="2333625"/>
              <a:ext cx="11430150" cy="362100"/>
              <a:chOff x="0" y="0"/>
              <a:chExt cx="11430150" cy="362100"/>
            </a:xfrm>
          </p:grpSpPr>
          <p:sp>
            <p:nvSpPr>
              <p:cNvPr id="247" name="Google Shape;24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set(int, E)</a:t>
                </a:r>
                <a:endParaRPr b="1" sz="1100">
                  <a:solidFill>
                    <a:srgbClr val="005088"/>
                  </a:solidFill>
                  <a:latin typeface="DM Sans"/>
                  <a:ea typeface="DM Sans"/>
                  <a:cs typeface="DM Sans"/>
                  <a:sym typeface="DM Sans"/>
                </a:endParaRPr>
              </a:p>
            </p:txBody>
          </p:sp>
          <p:sp>
            <p:nvSpPr>
              <p:cNvPr id="249" name="Google Shape;24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Mutación: Reemplaza y sobrescribe el elemento en el índice.</a:t>
                </a:r>
                <a:endParaRPr b="0" sz="1050">
                  <a:solidFill>
                    <a:srgbClr val="121212"/>
                  </a:solidFill>
                  <a:latin typeface="DM Sans"/>
                  <a:ea typeface="DM Sans"/>
                  <a:cs typeface="DM Sans"/>
                  <a:sym typeface="DM Sans"/>
                </a:endParaRPr>
              </a:p>
            </p:txBody>
          </p:sp>
          <p:sp>
            <p:nvSpPr>
              <p:cNvPr id="250" name="Google Shape;25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vector.set(1, "Tablet");</a:t>
                </a:r>
                <a:endParaRPr sz="1000">
                  <a:solidFill>
                    <a:srgbClr val="D32F2F"/>
                  </a:solidFill>
                  <a:latin typeface="Arial"/>
                  <a:ea typeface="Arial"/>
                  <a:cs typeface="Arial"/>
                  <a:sym typeface="Arial"/>
                </a:endParaRPr>
              </a:p>
            </p:txBody>
          </p:sp>
        </p:grpSp>
        <p:grpSp>
          <p:nvGrpSpPr>
            <p:cNvPr id="251" name="Google Shape;251;p22"/>
            <p:cNvGrpSpPr/>
            <p:nvPr/>
          </p:nvGrpSpPr>
          <p:grpSpPr>
            <a:xfrm>
              <a:off x="0" y="2714625"/>
              <a:ext cx="11430150" cy="362100"/>
              <a:chOff x="0" y="0"/>
              <a:chExt cx="11430150" cy="362100"/>
            </a:xfrm>
          </p:grpSpPr>
          <p:sp>
            <p:nvSpPr>
              <p:cNvPr id="252" name="Google Shape;25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remove(int)</a:t>
                </a:r>
                <a:endParaRPr b="1" sz="1100">
                  <a:solidFill>
                    <a:srgbClr val="005088"/>
                  </a:solidFill>
                  <a:latin typeface="DM Sans"/>
                  <a:ea typeface="DM Sans"/>
                  <a:cs typeface="DM Sans"/>
                  <a:sym typeface="DM Sans"/>
                </a:endParaRPr>
              </a:p>
            </p:txBody>
          </p:sp>
          <p:sp>
            <p:nvSpPr>
              <p:cNvPr id="254" name="Google Shape;25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Eliminación por Índice: Remueve y desplaza hacia la izquierda.</a:t>
                </a:r>
                <a:endParaRPr b="0" sz="1050">
                  <a:solidFill>
                    <a:srgbClr val="121212"/>
                  </a:solidFill>
                  <a:latin typeface="DM Sans"/>
                  <a:ea typeface="DM Sans"/>
                  <a:cs typeface="DM Sans"/>
                  <a:sym typeface="DM Sans"/>
                </a:endParaRPr>
              </a:p>
            </p:txBody>
          </p:sp>
          <p:sp>
            <p:nvSpPr>
              <p:cNvPr id="255" name="Google Shape;25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vector.remove(0);</a:t>
                </a:r>
                <a:endParaRPr sz="1000">
                  <a:solidFill>
                    <a:srgbClr val="D32F2F"/>
                  </a:solidFill>
                  <a:latin typeface="Arial"/>
                  <a:ea typeface="Arial"/>
                  <a:cs typeface="Arial"/>
                  <a:sym typeface="Arial"/>
                </a:endParaRPr>
              </a:p>
            </p:txBody>
          </p:sp>
        </p:grpSp>
        <p:grpSp>
          <p:nvGrpSpPr>
            <p:cNvPr id="256" name="Google Shape;256;p22"/>
            <p:cNvGrpSpPr/>
            <p:nvPr/>
          </p:nvGrpSpPr>
          <p:grpSpPr>
            <a:xfrm>
              <a:off x="0" y="3095625"/>
              <a:ext cx="11430150" cy="362100"/>
              <a:chOff x="0" y="0"/>
              <a:chExt cx="11430150" cy="362100"/>
            </a:xfrm>
          </p:grpSpPr>
          <p:sp>
            <p:nvSpPr>
              <p:cNvPr id="257" name="Google Shape;25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remove(Object)</a:t>
                </a:r>
                <a:endParaRPr b="1" sz="1100">
                  <a:solidFill>
                    <a:srgbClr val="005088"/>
                  </a:solidFill>
                  <a:latin typeface="DM Sans"/>
                  <a:ea typeface="DM Sans"/>
                  <a:cs typeface="DM Sans"/>
                  <a:sym typeface="DM Sans"/>
                </a:endParaRPr>
              </a:p>
            </p:txBody>
          </p:sp>
          <p:sp>
            <p:nvSpPr>
              <p:cNvPr id="259" name="Google Shape;25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Eliminación por Contenido: Elimina la primera aparición del objeto.</a:t>
                </a:r>
                <a:endParaRPr b="0" sz="1050">
                  <a:solidFill>
                    <a:srgbClr val="121212"/>
                  </a:solidFill>
                  <a:latin typeface="DM Sans"/>
                  <a:ea typeface="DM Sans"/>
                  <a:cs typeface="DM Sans"/>
                  <a:sym typeface="DM Sans"/>
                </a:endParaRPr>
              </a:p>
            </p:txBody>
          </p:sp>
          <p:sp>
            <p:nvSpPr>
              <p:cNvPr id="260" name="Google Shape;26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vector.remove("Mouse");</a:t>
                </a:r>
                <a:endParaRPr sz="1000">
                  <a:solidFill>
                    <a:srgbClr val="D32F2F"/>
                  </a:solidFill>
                  <a:latin typeface="Arial"/>
                  <a:ea typeface="Arial"/>
                  <a:cs typeface="Arial"/>
                  <a:sym typeface="Arial"/>
                </a:endParaRPr>
              </a:p>
            </p:txBody>
          </p:sp>
        </p:grpSp>
        <p:grpSp>
          <p:nvGrpSpPr>
            <p:cNvPr id="261" name="Google Shape;261;p22"/>
            <p:cNvGrpSpPr/>
            <p:nvPr/>
          </p:nvGrpSpPr>
          <p:grpSpPr>
            <a:xfrm>
              <a:off x="0" y="3476625"/>
              <a:ext cx="11430150" cy="362100"/>
              <a:chOff x="0" y="0"/>
              <a:chExt cx="11430150" cy="362100"/>
            </a:xfrm>
          </p:grpSpPr>
          <p:sp>
            <p:nvSpPr>
              <p:cNvPr id="262" name="Google Shape;26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clear()</a:t>
                </a:r>
                <a:endParaRPr b="1" sz="1100">
                  <a:solidFill>
                    <a:srgbClr val="005088"/>
                  </a:solidFill>
                  <a:latin typeface="DM Sans"/>
                  <a:ea typeface="DM Sans"/>
                  <a:cs typeface="DM Sans"/>
                  <a:sym typeface="DM Sans"/>
                </a:endParaRPr>
              </a:p>
            </p:txBody>
          </p:sp>
          <p:sp>
            <p:nvSpPr>
              <p:cNvPr id="264" name="Google Shape;26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Vaciado Estructural: Elimina todas las referencias (size = 0).</a:t>
                </a:r>
                <a:endParaRPr b="0" sz="1050">
                  <a:solidFill>
                    <a:srgbClr val="121212"/>
                  </a:solidFill>
                  <a:latin typeface="DM Sans"/>
                  <a:ea typeface="DM Sans"/>
                  <a:cs typeface="DM Sans"/>
                  <a:sym typeface="DM Sans"/>
                </a:endParaRPr>
              </a:p>
            </p:txBody>
          </p:sp>
          <p:sp>
            <p:nvSpPr>
              <p:cNvPr id="265" name="Google Shape;26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vector.clear();</a:t>
                </a:r>
                <a:endParaRPr sz="1000">
                  <a:solidFill>
                    <a:srgbClr val="D32F2F"/>
                  </a:solidFill>
                  <a:latin typeface="Arial"/>
                  <a:ea typeface="Arial"/>
                  <a:cs typeface="Arial"/>
                  <a:sym typeface="Arial"/>
                </a:endParaRPr>
              </a:p>
            </p:txBody>
          </p:sp>
        </p:grpSp>
        <p:grpSp>
          <p:nvGrpSpPr>
            <p:cNvPr id="266" name="Google Shape;266;p22"/>
            <p:cNvGrpSpPr/>
            <p:nvPr/>
          </p:nvGrpSpPr>
          <p:grpSpPr>
            <a:xfrm>
              <a:off x="0" y="3857625"/>
              <a:ext cx="11430150" cy="362100"/>
              <a:chOff x="0" y="0"/>
              <a:chExt cx="11430150" cy="362100"/>
            </a:xfrm>
          </p:grpSpPr>
          <p:sp>
            <p:nvSpPr>
              <p:cNvPr id="267" name="Google Shape;26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contains(Obj)</a:t>
                </a:r>
                <a:endParaRPr b="1" sz="1100">
                  <a:solidFill>
                    <a:srgbClr val="005088"/>
                  </a:solidFill>
                  <a:latin typeface="DM Sans"/>
                  <a:ea typeface="DM Sans"/>
                  <a:cs typeface="DM Sans"/>
                  <a:sym typeface="DM Sans"/>
                </a:endParaRPr>
              </a:p>
            </p:txBody>
          </p:sp>
          <p:sp>
            <p:nvSpPr>
              <p:cNvPr id="269" name="Google Shape;26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Búsqueda Booleana: Evalúa si el objeto existe secuencialmente.</a:t>
                </a:r>
                <a:endParaRPr b="0" sz="1050">
                  <a:solidFill>
                    <a:srgbClr val="121212"/>
                  </a:solidFill>
                  <a:latin typeface="DM Sans"/>
                  <a:ea typeface="DM Sans"/>
                  <a:cs typeface="DM Sans"/>
                  <a:sym typeface="DM Sans"/>
                </a:endParaRPr>
              </a:p>
            </p:txBody>
          </p:sp>
          <p:sp>
            <p:nvSpPr>
              <p:cNvPr id="270" name="Google Shape;27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if(vector.contains("Juan"))</a:t>
                </a:r>
                <a:endParaRPr sz="1000">
                  <a:solidFill>
                    <a:srgbClr val="D32F2F"/>
                  </a:solidFill>
                  <a:latin typeface="Arial"/>
                  <a:ea typeface="Arial"/>
                  <a:cs typeface="Arial"/>
                  <a:sym typeface="Arial"/>
                </a:endParaRPr>
              </a:p>
            </p:txBody>
          </p:sp>
        </p:grpSp>
        <p:grpSp>
          <p:nvGrpSpPr>
            <p:cNvPr id="271" name="Google Shape;271;p22"/>
            <p:cNvGrpSpPr/>
            <p:nvPr/>
          </p:nvGrpSpPr>
          <p:grpSpPr>
            <a:xfrm>
              <a:off x="0" y="4238625"/>
              <a:ext cx="11430150" cy="362100"/>
              <a:chOff x="0" y="0"/>
              <a:chExt cx="11430150" cy="362100"/>
            </a:xfrm>
          </p:grpSpPr>
          <p:sp>
            <p:nvSpPr>
              <p:cNvPr id="272" name="Google Shape;27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indexOf(Obj)</a:t>
                </a:r>
                <a:endParaRPr b="1" sz="1100">
                  <a:solidFill>
                    <a:srgbClr val="005088"/>
                  </a:solidFill>
                  <a:latin typeface="DM Sans"/>
                  <a:ea typeface="DM Sans"/>
                  <a:cs typeface="DM Sans"/>
                  <a:sym typeface="DM Sans"/>
                </a:endParaRPr>
              </a:p>
            </p:txBody>
          </p:sp>
          <p:sp>
            <p:nvSpPr>
              <p:cNvPr id="274" name="Google Shape;27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Búsqueda de Índice: Retorna posición numérica o -1 si no existe.</a:t>
                </a:r>
                <a:endParaRPr b="0" sz="1050">
                  <a:solidFill>
                    <a:srgbClr val="121212"/>
                  </a:solidFill>
                  <a:latin typeface="DM Sans"/>
                  <a:ea typeface="DM Sans"/>
                  <a:cs typeface="DM Sans"/>
                  <a:sym typeface="DM Sans"/>
                </a:endParaRPr>
              </a:p>
            </p:txBody>
          </p:sp>
          <p:sp>
            <p:nvSpPr>
              <p:cNvPr id="275" name="Google Shape;27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int p = vector.indexOf("Luis");</a:t>
                </a:r>
                <a:endParaRPr sz="1000">
                  <a:solidFill>
                    <a:srgbClr val="D32F2F"/>
                  </a:solidFill>
                  <a:latin typeface="Arial"/>
                  <a:ea typeface="Arial"/>
                  <a:cs typeface="Arial"/>
                  <a:sym typeface="Arial"/>
                </a:endParaRPr>
              </a:p>
            </p:txBody>
          </p:sp>
        </p:grpSp>
        <p:grpSp>
          <p:nvGrpSpPr>
            <p:cNvPr id="276" name="Google Shape;276;p22"/>
            <p:cNvGrpSpPr/>
            <p:nvPr/>
          </p:nvGrpSpPr>
          <p:grpSpPr>
            <a:xfrm>
              <a:off x="0" y="4619625"/>
              <a:ext cx="11430150" cy="362100"/>
              <a:chOff x="0" y="0"/>
              <a:chExt cx="11430150" cy="362100"/>
            </a:xfrm>
          </p:grpSpPr>
          <p:sp>
            <p:nvSpPr>
              <p:cNvPr id="277" name="Google Shape;277;p22"/>
              <p:cNvSpPr/>
              <p:nvPr/>
            </p:nvSpPr>
            <p:spPr>
              <a:xfrm>
                <a:off x="0" y="0"/>
                <a:ext cx="11430000" cy="362100"/>
              </a:xfrm>
              <a:prstGeom prst="roundRect">
                <a:avLst>
                  <a:gd fmla="val 5263" name="adj"/>
                </a:avLst>
              </a:prstGeom>
              <a:solidFill>
                <a:srgbClr val="F3F0D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size()</a:t>
                </a:r>
                <a:endParaRPr b="1" sz="1100">
                  <a:solidFill>
                    <a:srgbClr val="005088"/>
                  </a:solidFill>
                  <a:latin typeface="DM Sans"/>
                  <a:ea typeface="DM Sans"/>
                  <a:cs typeface="DM Sans"/>
                  <a:sym typeface="DM Sans"/>
                </a:endParaRPr>
              </a:p>
            </p:txBody>
          </p:sp>
          <p:sp>
            <p:nvSpPr>
              <p:cNvPr id="279" name="Google Shape;279;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Evaluación de Cardinalidad: Cantidad de elementos lógicos.</a:t>
                </a:r>
                <a:endParaRPr b="0" sz="1050">
                  <a:solidFill>
                    <a:srgbClr val="121212"/>
                  </a:solidFill>
                  <a:latin typeface="DM Sans"/>
                  <a:ea typeface="DM Sans"/>
                  <a:cs typeface="DM Sans"/>
                  <a:sym typeface="DM Sans"/>
                </a:endParaRPr>
              </a:p>
            </p:txBody>
          </p:sp>
          <p:sp>
            <p:nvSpPr>
              <p:cNvPr id="280" name="Google Shape;280;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int t = vector.size();</a:t>
                </a:r>
                <a:endParaRPr sz="1000">
                  <a:solidFill>
                    <a:srgbClr val="D32F2F"/>
                  </a:solidFill>
                  <a:latin typeface="Arial"/>
                  <a:ea typeface="Arial"/>
                  <a:cs typeface="Arial"/>
                  <a:sym typeface="Arial"/>
                </a:endParaRPr>
              </a:p>
            </p:txBody>
          </p:sp>
        </p:grpSp>
        <p:grpSp>
          <p:nvGrpSpPr>
            <p:cNvPr id="281" name="Google Shape;281;p22"/>
            <p:cNvGrpSpPr/>
            <p:nvPr/>
          </p:nvGrpSpPr>
          <p:grpSpPr>
            <a:xfrm>
              <a:off x="0" y="5000625"/>
              <a:ext cx="11430150" cy="362100"/>
              <a:chOff x="0" y="0"/>
              <a:chExt cx="11430150" cy="362100"/>
            </a:xfrm>
          </p:grpSpPr>
          <p:sp>
            <p:nvSpPr>
              <p:cNvPr id="282" name="Google Shape;282;p22"/>
              <p:cNvSpPr/>
              <p:nvPr/>
            </p:nvSpPr>
            <p:spPr>
              <a:xfrm>
                <a:off x="0" y="0"/>
                <a:ext cx="11430000" cy="362100"/>
              </a:xfrm>
              <a:prstGeom prst="roundRect">
                <a:avLst>
                  <a:gd fmla="val 526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txBox="1"/>
              <p:nvPr/>
            </p:nvSpPr>
            <p:spPr>
              <a:xfrm>
                <a:off x="0" y="0"/>
                <a:ext cx="20955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1" lang="en-US" sz="1100">
                    <a:solidFill>
                      <a:srgbClr val="005088"/>
                    </a:solidFill>
                    <a:latin typeface="DM Sans"/>
                    <a:ea typeface="DM Sans"/>
                    <a:cs typeface="DM Sans"/>
                    <a:sym typeface="DM Sans"/>
                  </a:rPr>
                  <a:t>isEmpty()</a:t>
                </a:r>
                <a:endParaRPr b="1" sz="1100">
                  <a:solidFill>
                    <a:srgbClr val="005088"/>
                  </a:solidFill>
                  <a:latin typeface="DM Sans"/>
                  <a:ea typeface="DM Sans"/>
                  <a:cs typeface="DM Sans"/>
                  <a:sym typeface="DM Sans"/>
                </a:endParaRPr>
              </a:p>
            </p:txBody>
          </p:sp>
          <p:sp>
            <p:nvSpPr>
              <p:cNvPr id="284" name="Google Shape;284;p22"/>
              <p:cNvSpPr txBox="1"/>
              <p:nvPr/>
            </p:nvSpPr>
            <p:spPr>
              <a:xfrm>
                <a:off x="2095500" y="0"/>
                <a:ext cx="5238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b="0" lang="en-US" sz="1050">
                    <a:solidFill>
                      <a:srgbClr val="121212"/>
                    </a:solidFill>
                    <a:latin typeface="DM Sans"/>
                    <a:ea typeface="DM Sans"/>
                    <a:cs typeface="DM Sans"/>
                    <a:sym typeface="DM Sans"/>
                  </a:rPr>
                  <a:t>Validación de Vacuidad: Determina si el vector no tiene elementos.</a:t>
                </a:r>
                <a:endParaRPr b="0" sz="1050">
                  <a:solidFill>
                    <a:srgbClr val="121212"/>
                  </a:solidFill>
                  <a:latin typeface="DM Sans"/>
                  <a:ea typeface="DM Sans"/>
                  <a:cs typeface="DM Sans"/>
                  <a:sym typeface="DM Sans"/>
                </a:endParaRPr>
              </a:p>
            </p:txBody>
          </p:sp>
          <p:sp>
            <p:nvSpPr>
              <p:cNvPr id="285" name="Google Shape;285;p22"/>
              <p:cNvSpPr txBox="1"/>
              <p:nvPr/>
            </p:nvSpPr>
            <p:spPr>
              <a:xfrm>
                <a:off x="7334250" y="0"/>
                <a:ext cx="4095900" cy="362100"/>
              </a:xfrm>
              <a:prstGeom prst="rect">
                <a:avLst/>
              </a:prstGeom>
              <a:noFill/>
              <a:ln>
                <a:noFill/>
              </a:ln>
            </p:spPr>
            <p:txBody>
              <a:bodyPr anchorCtr="0" anchor="ctr" bIns="76200" lIns="76200" spcFirstLastPara="1" rIns="76200" wrap="square" tIns="76200">
                <a:noAutofit/>
              </a:bodyPr>
              <a:lstStyle/>
              <a:p>
                <a:pPr indent="0" lvl="0" marL="0" rtl="0" algn="l">
                  <a:spcBef>
                    <a:spcPts val="0"/>
                  </a:spcBef>
                  <a:spcAft>
                    <a:spcPts val="0"/>
                  </a:spcAft>
                  <a:buNone/>
                </a:pPr>
                <a:r>
                  <a:rPr lang="en-US" sz="1000">
                    <a:solidFill>
                      <a:srgbClr val="D32F2F"/>
                    </a:solidFill>
                    <a:latin typeface="Arial"/>
                    <a:ea typeface="Arial"/>
                    <a:cs typeface="Arial"/>
                    <a:sym typeface="Arial"/>
                  </a:rPr>
                  <a:t>while(!vector.isEmpty())</a:t>
                </a:r>
                <a:endParaRPr sz="1000">
                  <a:solidFill>
                    <a:srgbClr val="D32F2F"/>
                  </a:solidFill>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289" name="Shape 289"/>
        <p:cNvGrpSpPr/>
        <p:nvPr/>
      </p:nvGrpSpPr>
      <p:grpSpPr>
        <a:xfrm>
          <a:off x="0" y="0"/>
          <a:ext cx="0" cy="0"/>
          <a:chOff x="0" y="0"/>
          <a:chExt cx="0" cy="0"/>
        </a:xfrm>
      </p:grpSpPr>
      <p:pic>
        <p:nvPicPr>
          <p:cNvPr descr="image.png" id="290" name="Google Shape;290;p23"/>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291" name="Google Shape;291;p23"/>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292" name="Google Shape;292;p23"/>
          <p:cNvSpPr txBox="1"/>
          <p:nvPr/>
        </p:nvSpPr>
        <p:spPr>
          <a:xfrm>
            <a:off x="866775"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1. Declaración y Creación</a:t>
            </a:r>
            <a:endParaRPr b="1" sz="2400">
              <a:solidFill>
                <a:srgbClr val="005088"/>
              </a:solidFill>
              <a:latin typeface="Merriweather"/>
              <a:ea typeface="Merriweather"/>
              <a:cs typeface="Merriweather"/>
              <a:sym typeface="Merriweather"/>
            </a:endParaRPr>
          </a:p>
        </p:txBody>
      </p:sp>
      <p:sp>
        <p:nvSpPr>
          <p:cNvPr id="293" name="Google Shape;293;p23"/>
          <p:cNvSpPr txBox="1"/>
          <p:nvPr/>
        </p:nvSpPr>
        <p:spPr>
          <a:xfrm>
            <a:off x="866775" y="2305050"/>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En Java, declarar e instanciar un Vector se realiza mediante la clase Vector:</a:t>
            </a:r>
            <a:endParaRPr b="0" sz="1500">
              <a:solidFill>
                <a:srgbClr val="121212"/>
              </a:solidFill>
              <a:latin typeface="DM Sans"/>
              <a:ea typeface="DM Sans"/>
              <a:cs typeface="DM Sans"/>
              <a:sym typeface="DM Sans"/>
            </a:endParaRPr>
          </a:p>
        </p:txBody>
      </p:sp>
      <p:sp>
        <p:nvSpPr>
          <p:cNvPr id="294" name="Google Shape;294;p23"/>
          <p:cNvSpPr txBox="1"/>
          <p:nvPr/>
        </p:nvSpPr>
        <p:spPr>
          <a:xfrm>
            <a:off x="866775" y="305752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Vector&lt;String&gt; v; (Declaración)</a:t>
            </a:r>
            <a:endParaRPr b="0" sz="1500">
              <a:solidFill>
                <a:srgbClr val="121212"/>
              </a:solidFill>
              <a:latin typeface="DM Sans"/>
              <a:ea typeface="DM Sans"/>
              <a:cs typeface="DM Sans"/>
              <a:sym typeface="DM Sans"/>
            </a:endParaRPr>
          </a:p>
        </p:txBody>
      </p:sp>
      <p:sp>
        <p:nvSpPr>
          <p:cNvPr id="295" name="Google Shape;295;p23"/>
          <p:cNvSpPr txBox="1"/>
          <p:nvPr/>
        </p:nvSpPr>
        <p:spPr>
          <a:xfrm>
            <a:off x="866775" y="350520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 = new Vector&lt;&gt;(5); (Instanciación)</a:t>
            </a:r>
            <a:endParaRPr b="0" sz="1500">
              <a:solidFill>
                <a:srgbClr val="121212"/>
              </a:solidFill>
              <a:latin typeface="DM Sans"/>
              <a:ea typeface="DM Sans"/>
              <a:cs typeface="DM Sans"/>
              <a:sym typeface="DM Sans"/>
            </a:endParaRPr>
          </a:p>
        </p:txBody>
      </p:sp>
      <p:sp>
        <p:nvSpPr>
          <p:cNvPr id="296" name="Google Shape;296;p23"/>
          <p:cNvSpPr txBox="1"/>
          <p:nvPr/>
        </p:nvSpPr>
        <p:spPr>
          <a:xfrm>
            <a:off x="866775" y="3952875"/>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Forma Directa:</a:t>
            </a:r>
            <a:br>
              <a:rPr b="1" lang="en-US" sz="1500">
                <a:solidFill>
                  <a:srgbClr val="121212"/>
                </a:solidFill>
                <a:latin typeface="DM Sans"/>
                <a:ea typeface="DM Sans"/>
                <a:cs typeface="DM Sans"/>
                <a:sym typeface="DM Sans"/>
              </a:rPr>
            </a:br>
            <a:r>
              <a:rPr b="0" lang="en-US" sz="1500">
                <a:solidFill>
                  <a:srgbClr val="121212"/>
                </a:solidFill>
                <a:latin typeface="DM Sans"/>
                <a:ea typeface="DM Sans"/>
                <a:cs typeface="DM Sans"/>
                <a:sym typeface="DM Sans"/>
              </a:rPr>
              <a:t>Vector&lt;String&gt; vector = new Vector&lt;&gt;(5);</a:t>
            </a:r>
            <a:endParaRPr b="1" sz="1500">
              <a:solidFill>
                <a:srgbClr val="121212"/>
              </a:solidFill>
              <a:latin typeface="DM Sans"/>
              <a:ea typeface="DM Sans"/>
              <a:cs typeface="DM Sans"/>
              <a:sym typeface="DM Sans"/>
            </a:endParaRPr>
          </a:p>
        </p:txBody>
      </p:sp>
      <p:sp>
        <p:nvSpPr>
          <p:cNvPr id="297" name="Google Shape;297;p23"/>
          <p:cNvSpPr txBox="1"/>
          <p:nvPr/>
        </p:nvSpPr>
        <p:spPr>
          <a:xfrm>
            <a:off x="866775" y="489585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Capacidad Inicial:</a:t>
            </a:r>
            <a:r>
              <a:rPr b="0" lang="en-US" sz="1500">
                <a:solidFill>
                  <a:srgbClr val="121212"/>
                </a:solidFill>
                <a:latin typeface="DM Sans"/>
                <a:ea typeface="DM Sans"/>
                <a:cs typeface="DM Sans"/>
                <a:sym typeface="DM Sans"/>
              </a:rPr>
              <a:t> El número entre paréntesis indica la capacidad inicial del vector, la cual crece dinámicamente si es necesario.</a:t>
            </a:r>
            <a:endParaRPr b="1" sz="1500">
              <a:solidFill>
                <a:srgbClr val="121212"/>
              </a:solidFill>
              <a:latin typeface="DM Sans"/>
              <a:ea typeface="DM Sans"/>
              <a:cs typeface="DM Sans"/>
              <a:sym typeface="DM Sans"/>
            </a:endParaRPr>
          </a:p>
        </p:txBody>
      </p:sp>
      <p:sp>
        <p:nvSpPr>
          <p:cNvPr id="298" name="Google Shape;298;p23"/>
          <p:cNvSpPr txBox="1"/>
          <p:nvPr/>
        </p:nvSpPr>
        <p:spPr>
          <a:xfrm>
            <a:off x="6724650"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2400">
                <a:solidFill>
                  <a:srgbClr val="005088"/>
                </a:solidFill>
                <a:latin typeface="Merriweather"/>
                <a:ea typeface="Merriweather"/>
                <a:cs typeface="Merriweather"/>
                <a:sym typeface="Merriweather"/>
              </a:rPr>
              <a:t>2. Inicialización con List.of</a:t>
            </a:r>
            <a:endParaRPr b="1" i="0" sz="2400">
              <a:solidFill>
                <a:srgbClr val="005088"/>
              </a:solidFill>
              <a:latin typeface="Merriweather"/>
              <a:ea typeface="Merriweather"/>
              <a:cs typeface="Merriweather"/>
              <a:sym typeface="Merriweather"/>
            </a:endParaRPr>
          </a:p>
        </p:txBody>
      </p:sp>
      <p:sp>
        <p:nvSpPr>
          <p:cNvPr id="299" name="Google Shape;299;p23"/>
          <p:cNvSpPr txBox="1"/>
          <p:nvPr/>
        </p:nvSpPr>
        <p:spPr>
          <a:xfrm>
            <a:off x="6724650" y="230505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500">
                <a:solidFill>
                  <a:srgbClr val="121212"/>
                </a:solidFill>
                <a:latin typeface="DM Sans"/>
                <a:ea typeface="DM Sans"/>
                <a:cs typeface="DM Sans"/>
                <a:sym typeface="DM Sans"/>
              </a:rPr>
              <a:t>Para inicializar un Vector con valores específicos desde el inicio, puedes usar el método List.of de Java 9+ dentro del constructor:</a:t>
            </a:r>
            <a:endParaRPr b="0" i="0" sz="1500">
              <a:solidFill>
                <a:srgbClr val="121212"/>
              </a:solidFill>
              <a:latin typeface="DM Sans"/>
              <a:ea typeface="DM Sans"/>
              <a:cs typeface="DM Sans"/>
              <a:sym typeface="DM Sans"/>
            </a:endParaRPr>
          </a:p>
        </p:txBody>
      </p:sp>
      <p:sp>
        <p:nvSpPr>
          <p:cNvPr id="300" name="Google Shape;300;p23"/>
          <p:cNvSpPr txBox="1"/>
          <p:nvPr/>
        </p:nvSpPr>
        <p:spPr>
          <a:xfrm>
            <a:off x="6724650" y="3362325"/>
            <a:ext cx="4600500" cy="178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163">
                <a:solidFill>
                  <a:srgbClr val="121212"/>
                </a:solidFill>
                <a:latin typeface="DM Sans"/>
                <a:ea typeface="DM Sans"/>
                <a:cs typeface="DM Sans"/>
                <a:sym typeface="DM Sans"/>
              </a:rPr>
              <a:t>Vector&lt;Integer&gt; notas = new Vector&lt;&gt;(List.of(85, 90, 78, 100, 60));</a:t>
            </a:r>
            <a:endParaRPr b="0" i="0" sz="1163">
              <a:solidFill>
                <a:srgbClr val="121212"/>
              </a:solidFill>
              <a:latin typeface="DM Sans"/>
              <a:ea typeface="DM Sans"/>
              <a:cs typeface="DM Sans"/>
              <a:sym typeface="DM Sans"/>
            </a:endParaRPr>
          </a:p>
        </p:txBody>
      </p:sp>
      <p:sp>
        <p:nvSpPr>
          <p:cNvPr id="301" name="Google Shape;301;p23"/>
          <p:cNvSpPr txBox="1"/>
          <p:nvPr/>
        </p:nvSpPr>
        <p:spPr>
          <a:xfrm>
            <a:off x="6724650" y="4000500"/>
            <a:ext cx="4600500" cy="692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i="0" lang="en-US" sz="1500">
                <a:solidFill>
                  <a:srgbClr val="121212"/>
                </a:solidFill>
                <a:latin typeface="DM Sans"/>
                <a:ea typeface="DM Sans"/>
                <a:cs typeface="DM Sans"/>
                <a:sym typeface="DM Sans"/>
              </a:rPr>
              <a:t>Método .size():</a:t>
            </a:r>
            <a:br>
              <a:rPr b="1" i="0" lang="en-US" sz="1500">
                <a:solidFill>
                  <a:srgbClr val="121212"/>
                </a:solidFill>
                <a:latin typeface="DM Sans"/>
                <a:ea typeface="DM Sans"/>
                <a:cs typeface="DM Sans"/>
                <a:sym typeface="DM Sans"/>
              </a:rPr>
            </a:br>
            <a:r>
              <a:rPr b="0" i="0" lang="en-US" sz="1500">
                <a:solidFill>
                  <a:srgbClr val="121212"/>
                </a:solidFill>
                <a:latin typeface="DM Sans"/>
                <a:ea typeface="DM Sans"/>
                <a:cs typeface="DM Sans"/>
                <a:sym typeface="DM Sans"/>
              </a:rPr>
              <a:t>En la clase Vector, usamos .size() para conocer la cantidad de elementos actuales:</a:t>
            </a:r>
            <a:endParaRPr b="1" i="0" sz="1500">
              <a:solidFill>
                <a:srgbClr val="121212"/>
              </a:solidFill>
              <a:latin typeface="DM Sans"/>
              <a:ea typeface="DM Sans"/>
              <a:cs typeface="DM Sans"/>
              <a:sym typeface="DM Sans"/>
            </a:endParaRPr>
          </a:p>
        </p:txBody>
      </p:sp>
      <p:sp>
        <p:nvSpPr>
          <p:cNvPr id="302" name="Google Shape;302;p23"/>
          <p:cNvSpPr txBox="1"/>
          <p:nvPr/>
        </p:nvSpPr>
        <p:spPr>
          <a:xfrm>
            <a:off x="6724650" y="505777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0" lang="en-US" sz="1500">
                <a:solidFill>
                  <a:srgbClr val="121212"/>
                </a:solidFill>
                <a:latin typeface="DM Sans"/>
                <a:ea typeface="DM Sans"/>
                <a:cs typeface="DM Sans"/>
                <a:sym typeface="DM Sans"/>
              </a:rPr>
              <a:t>int tamanio = notas.size();</a:t>
            </a:r>
            <a:endParaRPr b="0" i="0" sz="1500">
              <a:solidFill>
                <a:srgbClr val="121212"/>
              </a:solidFill>
              <a:latin typeface="DM Sans"/>
              <a:ea typeface="DM Sans"/>
              <a:cs typeface="DM Sans"/>
              <a:sym typeface="DM Sans"/>
            </a:endParaRPr>
          </a:p>
        </p:txBody>
      </p:sp>
      <p:sp>
        <p:nvSpPr>
          <p:cNvPr id="303" name="Google Shape;303;p23"/>
          <p:cNvSpPr txBox="1"/>
          <p:nvPr/>
        </p:nvSpPr>
        <p:spPr>
          <a:xfrm>
            <a:off x="6724650" y="5505450"/>
            <a:ext cx="460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(En este caso, tamanio será igual a 5).</a:t>
            </a:r>
            <a:endParaRPr b="0" i="0" sz="1400" u="none" cap="none" strike="noStrike">
              <a:solidFill>
                <a:srgbClr val="000000"/>
              </a:solidFill>
              <a:latin typeface="Arial"/>
              <a:ea typeface="Arial"/>
              <a:cs typeface="Arial"/>
              <a:sym typeface="Arial"/>
            </a:endParaRPr>
          </a:p>
        </p:txBody>
      </p:sp>
      <p:sp>
        <p:nvSpPr>
          <p:cNvPr id="304" name="Google Shape;304;p23"/>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Declaración e Inicialización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8" name="Shape 308"/>
        <p:cNvGrpSpPr/>
        <p:nvPr/>
      </p:nvGrpSpPr>
      <p:grpSpPr>
        <a:xfrm>
          <a:off x="0" y="0"/>
          <a:ext cx="0" cy="0"/>
          <a:chOff x="0" y="0"/>
          <a:chExt cx="0" cy="0"/>
        </a:xfrm>
      </p:grpSpPr>
      <p:pic>
        <p:nvPicPr>
          <p:cNvPr id="309" name="Google Shape;309;p2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10" name="Google Shape;310;p24"/>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4"/>
          <p:cNvSpPr txBox="1"/>
          <p:nvPr/>
        </p:nvSpPr>
        <p:spPr>
          <a:xfrm>
            <a:off x="476250" y="19050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1: Gestión de Turnos Bancarios</a:t>
            </a:r>
            <a:endParaRPr b="1" sz="3200">
              <a:solidFill>
                <a:srgbClr val="005088"/>
              </a:solidFill>
              <a:latin typeface="Merriweather"/>
              <a:ea typeface="Merriweather"/>
              <a:cs typeface="Merriweather"/>
              <a:sym typeface="Merriweather"/>
            </a:endParaRPr>
          </a:p>
        </p:txBody>
      </p:sp>
      <p:sp>
        <p:nvSpPr>
          <p:cNvPr id="312" name="Google Shape;312;p24"/>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3" name="Google Shape;313;p24"/>
          <p:cNvGrpSpPr/>
          <p:nvPr/>
        </p:nvGrpSpPr>
        <p:grpSpPr>
          <a:xfrm>
            <a:off x="666750" y="1524000"/>
            <a:ext cx="3238500" cy="4572150"/>
            <a:chOff x="666750" y="1524000"/>
            <a:chExt cx="3238500" cy="4572150"/>
          </a:xfrm>
        </p:grpSpPr>
        <p:sp>
          <p:nvSpPr>
            <p:cNvPr id="314" name="Google Shape;314;p24"/>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15" name="Google Shape;315;p24"/>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700">
                  <a:solidFill>
                    <a:srgbClr val="333333"/>
                  </a:solidFill>
                  <a:latin typeface="Arial"/>
                  <a:ea typeface="Arial"/>
                  <a:cs typeface="Arial"/>
                  <a:sym typeface="Arial"/>
                </a:rPr>
                <a:t>Trabajas para el Banco programando el software de turnos preferenciales.</a:t>
              </a:r>
              <a:endParaRPr b="0" sz="1700">
                <a:solidFill>
                  <a:srgbClr val="333333"/>
                </a:solidFill>
                <a:latin typeface="Arial"/>
                <a:ea typeface="Arial"/>
                <a:cs typeface="Arial"/>
                <a:sym typeface="Arial"/>
              </a:endParaRPr>
            </a:p>
            <a:p>
              <a:pPr indent="0" lvl="0" marL="0" rtl="0" algn="l">
                <a:spcBef>
                  <a:spcPts val="1125"/>
                </a:spcBef>
                <a:spcAft>
                  <a:spcPts val="0"/>
                </a:spcAft>
                <a:buNone/>
              </a:pPr>
              <a:r>
                <a:rPr b="0" lang="en-US" sz="1700">
                  <a:solidFill>
                    <a:srgbClr val="333333"/>
                  </a:solidFill>
                  <a:latin typeface="Arial"/>
                  <a:ea typeface="Arial"/>
                  <a:cs typeface="Arial"/>
                  <a:sym typeface="Arial"/>
                </a:rPr>
                <a:t>El sistema debe gestionar clientes comunes y priorizar por ley a:</a:t>
              </a:r>
              <a:endParaRPr b="0" sz="1700">
                <a:solidFill>
                  <a:srgbClr val="333333"/>
                </a:solidFill>
                <a:latin typeface="Arial"/>
                <a:ea typeface="Arial"/>
                <a:cs typeface="Arial"/>
                <a:sym typeface="Arial"/>
              </a:endParaRPr>
            </a:p>
            <a:p>
              <a:pPr indent="-336550" lvl="0" marL="457200" rtl="0" algn="l">
                <a:spcBef>
                  <a:spcPts val="1125"/>
                </a:spcBef>
                <a:spcAft>
                  <a:spcPts val="0"/>
                </a:spcAft>
                <a:buClr>
                  <a:srgbClr val="333333"/>
                </a:buClr>
                <a:buSzPts val="1700"/>
                <a:buFont typeface="Arial"/>
                <a:buChar char="●"/>
              </a:pPr>
              <a:r>
                <a:rPr b="0" lang="en-US" sz="1700">
                  <a:solidFill>
                    <a:srgbClr val="333333"/>
                  </a:solidFill>
                  <a:latin typeface="Arial"/>
                  <a:ea typeface="Arial"/>
                  <a:cs typeface="Arial"/>
                  <a:sym typeface="Arial"/>
                </a:rPr>
                <a:t>Personas de la tercera edad</a:t>
              </a:r>
              <a:endParaRPr b="0" sz="1700">
                <a:solidFill>
                  <a:srgbClr val="333333"/>
                </a:solidFill>
                <a:latin typeface="Arial"/>
                <a:ea typeface="Arial"/>
                <a:cs typeface="Arial"/>
                <a:sym typeface="Arial"/>
              </a:endParaRPr>
            </a:p>
            <a:p>
              <a:pPr indent="-336550" lvl="0" marL="457200" rtl="0" algn="l">
                <a:spcBef>
                  <a:spcPts val="600"/>
                </a:spcBef>
                <a:spcAft>
                  <a:spcPts val="600"/>
                </a:spcAft>
                <a:buClr>
                  <a:srgbClr val="333333"/>
                </a:buClr>
                <a:buSzPts val="1700"/>
                <a:buFont typeface="Arial"/>
                <a:buChar char="●"/>
              </a:pPr>
              <a:r>
                <a:rPr b="0" lang="en-US" sz="1700">
                  <a:solidFill>
                    <a:srgbClr val="333333"/>
                  </a:solidFill>
                  <a:latin typeface="Arial"/>
                  <a:ea typeface="Arial"/>
                  <a:cs typeface="Arial"/>
                  <a:sym typeface="Arial"/>
                </a:rPr>
                <a:t>Mujeres embarazadas</a:t>
              </a:r>
              <a:endParaRPr b="0" sz="1700">
                <a:solidFill>
                  <a:srgbClr val="333333"/>
                </a:solidFill>
                <a:latin typeface="Arial"/>
                <a:ea typeface="Arial"/>
                <a:cs typeface="Arial"/>
                <a:sym typeface="Arial"/>
              </a:endParaRPr>
            </a:p>
          </p:txBody>
        </p:sp>
      </p:grpSp>
      <p:sp>
        <p:nvSpPr>
          <p:cNvPr id="316" name="Google Shape;316;p24"/>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7" name="Google Shape;317;p24"/>
          <p:cNvGrpSpPr/>
          <p:nvPr/>
        </p:nvGrpSpPr>
        <p:grpSpPr>
          <a:xfrm>
            <a:off x="4476750" y="1524000"/>
            <a:ext cx="7048500" cy="4572000"/>
            <a:chOff x="4476750" y="1524000"/>
            <a:chExt cx="7048500" cy="4572000"/>
          </a:xfrm>
        </p:grpSpPr>
        <p:sp>
          <p:nvSpPr>
            <p:cNvPr id="318" name="Google Shape;318;p24"/>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19" name="Google Shape;319;p24"/>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49250" lvl="0" marL="457200" rtl="0" algn="l">
                <a:spcBef>
                  <a:spcPts val="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Estructura:</a:t>
              </a:r>
              <a:r>
                <a:rPr b="0" lang="en-US" sz="1900">
                  <a:solidFill>
                    <a:srgbClr val="121212"/>
                  </a:solidFill>
                  <a:latin typeface="Arial"/>
                  <a:ea typeface="Arial"/>
                  <a:cs typeface="Arial"/>
                  <a:sym typeface="Arial"/>
                </a:rPr>
                <a:t> Crear almacenamiento dinámico para clientes.</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Prioridad:</a:t>
              </a:r>
              <a:r>
                <a:rPr b="0" lang="en-US" sz="1900">
                  <a:solidFill>
                    <a:srgbClr val="121212"/>
                  </a:solidFill>
                  <a:latin typeface="Arial"/>
                  <a:ea typeface="Arial"/>
                  <a:cs typeface="Arial"/>
                  <a:sym typeface="Arial"/>
                </a:rPr>
                <a:t> Insertar adultos mayores al </a:t>
              </a:r>
              <a:r>
                <a:rPr b="1" lang="en-US" sz="1900">
                  <a:solidFill>
                    <a:srgbClr val="121212"/>
                  </a:solidFill>
                  <a:latin typeface="Arial"/>
                  <a:ea typeface="Arial"/>
                  <a:cs typeface="Arial"/>
                  <a:sym typeface="Arial"/>
                </a:rPr>
                <a:t>inicio de la fila</a:t>
              </a:r>
              <a:r>
                <a:rPr b="0" lang="en-US" sz="1900">
                  <a:solidFill>
                    <a:srgbClr val="121212"/>
                  </a:solidFill>
                  <a:latin typeface="Arial"/>
                  <a:ea typeface="Arial"/>
                  <a:cs typeface="Arial"/>
                  <a:sym typeface="Arial"/>
                </a:rPr>
                <a:t> sin borrar el resto.</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Reporte:</a:t>
              </a:r>
              <a:r>
                <a:rPr b="0" lang="en-US" sz="1900">
                  <a:solidFill>
                    <a:srgbClr val="121212"/>
                  </a:solidFill>
                  <a:latin typeface="Arial"/>
                  <a:ea typeface="Arial"/>
                  <a:cs typeface="Arial"/>
                  <a:sym typeface="Arial"/>
                </a:rPr>
                <a:t> Identificar de inmediato al </a:t>
              </a:r>
              <a:r>
                <a:rPr b="1" lang="en-US" sz="1900">
                  <a:solidFill>
                    <a:srgbClr val="121212"/>
                  </a:solidFill>
                  <a:latin typeface="Arial"/>
                  <a:ea typeface="Arial"/>
                  <a:cs typeface="Arial"/>
                  <a:sym typeface="Arial"/>
                </a:rPr>
                <a:t>siguiente</a:t>
              </a:r>
              <a:r>
                <a:rPr b="0" lang="en-US" sz="1900">
                  <a:solidFill>
                    <a:srgbClr val="121212"/>
                  </a:solidFill>
                  <a:latin typeface="Arial"/>
                  <a:ea typeface="Arial"/>
                  <a:cs typeface="Arial"/>
                  <a:sym typeface="Arial"/>
                </a:rPr>
                <a:t> y al </a:t>
              </a:r>
              <a:r>
                <a:rPr b="1" lang="en-US" sz="1900">
                  <a:solidFill>
                    <a:srgbClr val="121212"/>
                  </a:solidFill>
                  <a:latin typeface="Arial"/>
                  <a:ea typeface="Arial"/>
                  <a:cs typeface="Arial"/>
                  <a:sym typeface="Arial"/>
                </a:rPr>
                <a:t>último</a:t>
              </a:r>
              <a:r>
                <a:rPr b="0" lang="en-US" sz="1900">
                  <a:solidFill>
                    <a:srgbClr val="121212"/>
                  </a:solidFill>
                  <a:latin typeface="Arial"/>
                  <a:ea typeface="Arial"/>
                  <a:cs typeface="Arial"/>
                  <a:sym typeface="Arial"/>
                </a:rPr>
                <a:t> cliente.</a:t>
              </a:r>
              <a:endParaRPr b="0" sz="1900">
                <a:solidFill>
                  <a:srgbClr val="121212"/>
                </a:solidFill>
                <a:latin typeface="Arial"/>
                <a:ea typeface="Arial"/>
                <a:cs typeface="Arial"/>
                <a:sym typeface="Arial"/>
              </a:endParaRPr>
            </a:p>
            <a:p>
              <a:pPr indent="-349250" lvl="0" marL="457200" rtl="0" algn="l">
                <a:spcBef>
                  <a:spcPts val="900"/>
                </a:spcBef>
                <a:spcAft>
                  <a:spcPts val="0"/>
                </a:spcAft>
                <a:buClr>
                  <a:srgbClr val="121212"/>
                </a:buClr>
                <a:buSzPts val="1900"/>
                <a:buFont typeface="Arial"/>
                <a:buAutoNum type="arabicPeriod"/>
              </a:pPr>
              <a:r>
                <a:rPr b="1" lang="en-US" sz="1900">
                  <a:solidFill>
                    <a:srgbClr val="121212"/>
                  </a:solidFill>
                  <a:latin typeface="Arial"/>
                  <a:ea typeface="Arial"/>
                  <a:cs typeface="Arial"/>
                  <a:sym typeface="Arial"/>
                </a:rPr>
                <a:t>Atención:</a:t>
              </a:r>
              <a:r>
                <a:rPr b="0" lang="en-US" sz="1900">
                  <a:solidFill>
                    <a:srgbClr val="121212"/>
                  </a:solidFill>
                  <a:latin typeface="Arial"/>
                  <a:ea typeface="Arial"/>
                  <a:cs typeface="Arial"/>
                  <a:sym typeface="Arial"/>
                </a:rPr>
                <a:t> Ciclo iterativo que atiende uno a uno desde el inicio.</a:t>
              </a:r>
              <a:endParaRPr b="0" sz="1900">
                <a:solidFill>
                  <a:srgbClr val="121212"/>
                </a:solidFill>
                <a:latin typeface="Arial"/>
                <a:ea typeface="Arial"/>
                <a:cs typeface="Arial"/>
                <a:sym typeface="Arial"/>
              </a:endParaRPr>
            </a:p>
            <a:p>
              <a:pPr indent="-349250" lvl="0" marL="457200" rtl="0" algn="l">
                <a:spcBef>
                  <a:spcPts val="900"/>
                </a:spcBef>
                <a:spcAft>
                  <a:spcPts val="900"/>
                </a:spcAft>
                <a:buClr>
                  <a:srgbClr val="121212"/>
                </a:buClr>
                <a:buSzPts val="1900"/>
                <a:buFont typeface="Arial"/>
                <a:buAutoNum type="arabicPeriod"/>
              </a:pPr>
              <a:r>
                <a:rPr b="1" lang="en-US" sz="1900">
                  <a:solidFill>
                    <a:srgbClr val="121212"/>
                  </a:solidFill>
                  <a:latin typeface="Arial"/>
                  <a:ea typeface="Arial"/>
                  <a:cs typeface="Arial"/>
                  <a:sym typeface="Arial"/>
                </a:rPr>
                <a:t>Rezago:</a:t>
              </a:r>
              <a:r>
                <a:rPr b="0" lang="en-US" sz="1900">
                  <a:solidFill>
                    <a:srgbClr val="121212"/>
                  </a:solidFill>
                  <a:latin typeface="Arial"/>
                  <a:ea typeface="Arial"/>
                  <a:cs typeface="Arial"/>
                  <a:sym typeface="Arial"/>
                </a:rPr>
                <a:t> Lista dinámica de personas que llegaron tarde para el siguiente día.</a:t>
              </a:r>
              <a:endParaRPr b="0" sz="1900">
                <a:solidFill>
                  <a:srgbClr val="121212"/>
                </a:solidFill>
                <a:latin typeface="Arial"/>
                <a:ea typeface="Arial"/>
                <a:cs typeface="Arial"/>
                <a:sym typeface="Arial"/>
              </a:endParaRPr>
            </a:p>
          </p:txBody>
        </p:sp>
        <p:sp>
          <p:nvSpPr>
            <p:cNvPr id="320" name="Google Shape;320;p24"/>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4"/>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b="0" lang="en-US" sz="1100">
                  <a:solidFill>
                    <a:srgbClr val="188038"/>
                  </a:solidFill>
                  <a:latin typeface="Roboto Mono"/>
                  <a:ea typeface="Roboto Mono"/>
                  <a:cs typeface="Roboto Mono"/>
                  <a:sym typeface="Roboto Mono"/>
                </a:rPr>
                <a:t>add(E), add(int, E), firstElement(), lastElement(), remove(int), isEmpty()</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5" name="Shape 325"/>
        <p:cNvGrpSpPr/>
        <p:nvPr/>
      </p:nvGrpSpPr>
      <p:grpSpPr>
        <a:xfrm>
          <a:off x="0" y="0"/>
          <a:ext cx="0" cy="0"/>
          <a:chOff x="0" y="0"/>
          <a:chExt cx="0" cy="0"/>
        </a:xfrm>
      </p:grpSpPr>
      <p:pic>
        <p:nvPicPr>
          <p:cNvPr id="326" name="Google Shape;326;p25"/>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27" name="Google Shape;327;p25"/>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5"/>
          <p:cNvSpPr txBox="1"/>
          <p:nvPr/>
        </p:nvSpPr>
        <p:spPr>
          <a:xfrm>
            <a:off x="476250" y="190500"/>
            <a:ext cx="11239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2: </a:t>
            </a:r>
            <a:r>
              <a:rPr b="1" lang="en-US" sz="3200">
                <a:solidFill>
                  <a:srgbClr val="005088"/>
                </a:solidFill>
                <a:latin typeface="Merriweather"/>
                <a:ea typeface="Merriweather"/>
                <a:cs typeface="Merriweather"/>
                <a:sym typeface="Merriweather"/>
              </a:rPr>
              <a:t>El Carrito de Compras Inteligente</a:t>
            </a:r>
            <a:endParaRPr b="1" sz="3200">
              <a:solidFill>
                <a:srgbClr val="005088"/>
              </a:solidFill>
              <a:latin typeface="Merriweather"/>
              <a:ea typeface="Merriweather"/>
              <a:cs typeface="Merriweather"/>
              <a:sym typeface="Merriweather"/>
            </a:endParaRPr>
          </a:p>
        </p:txBody>
      </p:sp>
      <p:sp>
        <p:nvSpPr>
          <p:cNvPr id="329" name="Google Shape;329;p25"/>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0" name="Google Shape;330;p25"/>
          <p:cNvGrpSpPr/>
          <p:nvPr/>
        </p:nvGrpSpPr>
        <p:grpSpPr>
          <a:xfrm>
            <a:off x="666750" y="1524000"/>
            <a:ext cx="3238500" cy="4572150"/>
            <a:chOff x="666750" y="1524000"/>
            <a:chExt cx="3238500" cy="4572150"/>
          </a:xfrm>
        </p:grpSpPr>
        <p:sp>
          <p:nvSpPr>
            <p:cNvPr id="331" name="Google Shape;331;p25"/>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32" name="Google Shape;332;p25"/>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lang="en-US" sz="1700">
                  <a:solidFill>
                    <a:srgbClr val="333333"/>
                  </a:solidFill>
                </a:rPr>
                <a:t>Estás desarrollando el módulo de carrito de compras de una tienda de tecnología en línea. A diferencia de un sistema rígido, tu carrito debe permitir que el usuario cambie de opinión, reemplace productos por otros más económicos o elimine artículos duplicados antes de proceder al pago final.</a:t>
              </a:r>
              <a:endParaRPr sz="1700">
                <a:solidFill>
                  <a:srgbClr val="333333"/>
                </a:solidFill>
              </a:endParaRPr>
            </a:p>
          </p:txBody>
        </p:sp>
      </p:grpSp>
      <p:sp>
        <p:nvSpPr>
          <p:cNvPr id="333" name="Google Shape;333;p25"/>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4" name="Google Shape;334;p25"/>
          <p:cNvGrpSpPr/>
          <p:nvPr/>
        </p:nvGrpSpPr>
        <p:grpSpPr>
          <a:xfrm>
            <a:off x="4476750" y="1524000"/>
            <a:ext cx="7048500" cy="4572000"/>
            <a:chOff x="4476750" y="1524000"/>
            <a:chExt cx="7048500" cy="4572000"/>
          </a:xfrm>
        </p:grpSpPr>
        <p:sp>
          <p:nvSpPr>
            <p:cNvPr id="335" name="Google Shape;335;p25"/>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36" name="Google Shape;336;p25"/>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7500" lvl="0" marL="457200" rtl="0" algn="l">
                <a:lnSpc>
                  <a:spcPct val="115000"/>
                </a:lnSpc>
                <a:spcBef>
                  <a:spcPts val="1200"/>
                </a:spcBef>
                <a:spcAft>
                  <a:spcPts val="0"/>
                </a:spcAft>
                <a:buClr>
                  <a:schemeClr val="dk1"/>
                </a:buClr>
                <a:buSzPts val="1400"/>
                <a:buAutoNum type="arabicPeriod"/>
              </a:pPr>
              <a:r>
                <a:rPr lang="en-US">
                  <a:solidFill>
                    <a:schemeClr val="dk1"/>
                  </a:solidFill>
                </a:rPr>
                <a:t>Inicializa el carrito de compras del usuario cargando los siguientes artículos en orden: </a:t>
              </a:r>
              <a:r>
                <a:rPr b="1" lang="en-US">
                  <a:solidFill>
                    <a:schemeClr val="dk1"/>
                  </a:solidFill>
                </a:rPr>
                <a:t>"Laptop"</a:t>
              </a:r>
              <a:r>
                <a:rPr lang="en-US">
                  <a:solidFill>
                    <a:schemeClr val="dk1"/>
                  </a:solidFill>
                </a:rPr>
                <a:t>, </a:t>
              </a:r>
              <a:r>
                <a:rPr b="1" lang="en-US">
                  <a:solidFill>
                    <a:schemeClr val="dk1"/>
                  </a:solidFill>
                </a:rPr>
                <a:t>"Mouse"</a:t>
              </a:r>
              <a:r>
                <a:rPr lang="en-US">
                  <a:solidFill>
                    <a:schemeClr val="dk1"/>
                  </a:solidFill>
                </a:rPr>
                <a:t>, </a:t>
              </a:r>
              <a:r>
                <a:rPr b="1" lang="en-US">
                  <a:solidFill>
                    <a:schemeClr val="dk1"/>
                  </a:solidFill>
                </a:rPr>
                <a:t>"Teclado"</a:t>
              </a:r>
              <a:r>
                <a:rPr lang="en-US">
                  <a:solidFill>
                    <a:schemeClr val="dk1"/>
                  </a:solidFill>
                </a:rPr>
                <a:t>, </a:t>
              </a:r>
              <a:r>
                <a:rPr b="1" lang="en-US">
                  <a:solidFill>
                    <a:schemeClr val="dk1"/>
                  </a:solidFill>
                </a:rPr>
                <a:t>"Mouse"</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US">
                  <a:solidFill>
                    <a:schemeClr val="dk1"/>
                  </a:solidFill>
                </a:rPr>
                <a:t>El cliente revisa su presupuesto y decide hacer tres cambios de última hora:</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Decide que la "Laptop" es muy costosa; reemplázala en su misma posición por una </a:t>
              </a:r>
              <a:r>
                <a:rPr b="1" lang="en-US">
                  <a:solidFill>
                    <a:schemeClr val="dk1"/>
                  </a:solidFill>
                </a:rPr>
                <a:t>"Tablet"</a:t>
              </a:r>
              <a:r>
                <a:rPr lang="en-US">
                  <a:solidFill>
                    <a:schemeClr val="dk1"/>
                  </a:solidFill>
                </a:rPr>
                <a:t>.</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Revisa su saldo y decide quitar el "Teclado”, asume que conoce la posicion de la lista</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US">
                  <a:solidFill>
                    <a:schemeClr val="dk1"/>
                  </a:solidFill>
                </a:rPr>
                <a:t>Considera que dos mouses son un exceso. Pide al sistema remover un </a:t>
              </a:r>
              <a:r>
                <a:rPr b="1" lang="en-US">
                  <a:solidFill>
                    <a:schemeClr val="dk1"/>
                  </a:solidFill>
                </a:rPr>
                <a:t>"Mouse"</a:t>
              </a:r>
              <a:r>
                <a:rPr lang="en-US">
                  <a:solidFill>
                    <a:schemeClr val="dk1"/>
                  </a:solidFill>
                </a:rPr>
                <a:t> buscando directamente por el nombre del artículo. </a:t>
              </a:r>
              <a:endParaRPr i="1">
                <a:solidFill>
                  <a:schemeClr val="dk1"/>
                </a:solidFill>
              </a:endParaRPr>
            </a:p>
            <a:p>
              <a:pPr indent="0" lvl="0" marL="0" rtl="0" algn="l">
                <a:lnSpc>
                  <a:spcPct val="115000"/>
                </a:lnSpc>
                <a:spcBef>
                  <a:spcPts val="1200"/>
                </a:spcBef>
                <a:spcAft>
                  <a:spcPts val="0"/>
                </a:spcAft>
                <a:buNone/>
              </a:pPr>
              <a:r>
                <a:rPr b="1" lang="en-US">
                  <a:solidFill>
                    <a:schemeClr val="dk1"/>
                  </a:solidFill>
                </a:rPr>
                <a:t>El Ticket de Compra:</a:t>
              </a:r>
              <a:r>
                <a:rPr lang="en-US">
                  <a:solidFill>
                    <a:schemeClr val="dk1"/>
                  </a:solidFill>
                </a:rPr>
                <a:t> Diseña un bucle clásico que recorra el carrito restante de inicio a fin. El programa debe imprimir en la consola el desglose final de los productos en formato de lista numerada (Ej: </a:t>
              </a:r>
              <a:r>
                <a:rPr i="1" lang="en-US">
                  <a:solidFill>
                    <a:schemeClr val="dk1"/>
                  </a:solidFill>
                </a:rPr>
                <a:t>1. Tablet</a:t>
              </a:r>
              <a:r>
                <a:rPr lang="en-US">
                  <a:solidFill>
                    <a:schemeClr val="dk1"/>
                  </a:solidFill>
                </a:rPr>
                <a:t>, </a:t>
              </a:r>
              <a:r>
                <a:rPr i="1" lang="en-US">
                  <a:solidFill>
                    <a:schemeClr val="dk1"/>
                  </a:solidFill>
                </a:rPr>
                <a:t>2. Mouse</a:t>
              </a:r>
              <a:r>
                <a:rPr lang="en-US">
                  <a:solidFill>
                    <a:schemeClr val="dk1"/>
                  </a:solidFill>
                </a:rPr>
                <a:t>).</a:t>
              </a:r>
              <a:endParaRPr>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37" name="Google Shape;337;p25"/>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5"/>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set(int index, E element), remove(int index), remove(Object o), size(), get(int index).</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2" name="Shape 342"/>
        <p:cNvGrpSpPr/>
        <p:nvPr/>
      </p:nvGrpSpPr>
      <p:grpSpPr>
        <a:xfrm>
          <a:off x="0" y="0"/>
          <a:ext cx="0" cy="0"/>
          <a:chOff x="0" y="0"/>
          <a:chExt cx="0" cy="0"/>
        </a:xfrm>
      </p:grpSpPr>
      <p:pic>
        <p:nvPicPr>
          <p:cNvPr id="343" name="Google Shape;343;p2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44" name="Google Shape;344;p26"/>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6"/>
          <p:cNvSpPr txBox="1"/>
          <p:nvPr/>
        </p:nvSpPr>
        <p:spPr>
          <a:xfrm>
            <a:off x="476250" y="190500"/>
            <a:ext cx="11239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3: </a:t>
            </a:r>
            <a:r>
              <a:rPr b="1" lang="en-US" sz="3200">
                <a:solidFill>
                  <a:srgbClr val="005088"/>
                </a:solidFill>
                <a:latin typeface="Merriweather"/>
                <a:ea typeface="Merriweather"/>
                <a:cs typeface="Merriweather"/>
                <a:sym typeface="Merriweather"/>
              </a:rPr>
              <a:t>Sistema de Check-In de Vuelo (Pase de Lista y Ubicación)</a:t>
            </a:r>
            <a:endParaRPr b="1" sz="3200">
              <a:solidFill>
                <a:srgbClr val="005088"/>
              </a:solidFill>
              <a:latin typeface="Merriweather"/>
              <a:ea typeface="Merriweather"/>
              <a:cs typeface="Merriweather"/>
              <a:sym typeface="Merriweather"/>
            </a:endParaRPr>
          </a:p>
        </p:txBody>
      </p:sp>
      <p:sp>
        <p:nvSpPr>
          <p:cNvPr id="346" name="Google Shape;346;p26"/>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7" name="Google Shape;347;p26"/>
          <p:cNvGrpSpPr/>
          <p:nvPr/>
        </p:nvGrpSpPr>
        <p:grpSpPr>
          <a:xfrm>
            <a:off x="666750" y="1524000"/>
            <a:ext cx="3238500" cy="4572150"/>
            <a:chOff x="666750" y="1524000"/>
            <a:chExt cx="3238500" cy="4572150"/>
          </a:xfrm>
        </p:grpSpPr>
        <p:sp>
          <p:nvSpPr>
            <p:cNvPr id="348" name="Google Shape;348;p26"/>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49" name="Google Shape;349;p26"/>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800">
                  <a:solidFill>
                    <a:srgbClr val="333333"/>
                  </a:solidFill>
                </a:rPr>
                <a:t>La aerolínea "SkyJava" necesita un software para la sala de abordaje. El sistema registra a los pasajeros a medida que se presentan en la puerta de embarque. El personal de tierra necesita validar de forma inmediata si un pasajero específico ya abordó o si sigue atrapado en las tiendas del aeropuerto, y en qué número de asiento asignado se encuentra.</a:t>
              </a:r>
              <a:endParaRPr sz="1800">
                <a:solidFill>
                  <a:srgbClr val="333333"/>
                </a:solidFill>
              </a:endParaRPr>
            </a:p>
            <a:p>
              <a:pPr indent="0" lvl="0" marL="0" rtl="0" algn="l">
                <a:spcBef>
                  <a:spcPts val="600"/>
                </a:spcBef>
                <a:spcAft>
                  <a:spcPts val="600"/>
                </a:spcAft>
                <a:buNone/>
              </a:pPr>
              <a:r>
                <a:t/>
              </a:r>
              <a:endParaRPr sz="1700">
                <a:solidFill>
                  <a:srgbClr val="333333"/>
                </a:solidFill>
              </a:endParaRPr>
            </a:p>
          </p:txBody>
        </p:sp>
      </p:grpSp>
      <p:sp>
        <p:nvSpPr>
          <p:cNvPr id="350" name="Google Shape;350;p26"/>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1" name="Google Shape;351;p26"/>
          <p:cNvGrpSpPr/>
          <p:nvPr/>
        </p:nvGrpSpPr>
        <p:grpSpPr>
          <a:xfrm>
            <a:off x="4476750" y="1524000"/>
            <a:ext cx="7048500" cy="4572000"/>
            <a:chOff x="4476750" y="1524000"/>
            <a:chExt cx="7048500" cy="4572000"/>
          </a:xfrm>
        </p:grpSpPr>
        <p:sp>
          <p:nvSpPr>
            <p:cNvPr id="352" name="Google Shape;352;p26"/>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53" name="Google Shape;353;p26"/>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AutoNum type="arabicPeriod"/>
              </a:pPr>
              <a:r>
                <a:rPr lang="en-US" sz="1300">
                  <a:solidFill>
                    <a:schemeClr val="dk1"/>
                  </a:solidFill>
                </a:rPr>
                <a:t>Crea el registro de pasajeros a bordo e ingresa los nombres de los que van llegando a la puerta: </a:t>
              </a:r>
              <a:r>
                <a:rPr b="1" lang="en-US" sz="1300">
                  <a:solidFill>
                    <a:schemeClr val="dk1"/>
                  </a:solidFill>
                </a:rPr>
                <a:t>"Alejandro"</a:t>
              </a:r>
              <a:r>
                <a:rPr lang="en-US" sz="1300">
                  <a:solidFill>
                    <a:schemeClr val="dk1"/>
                  </a:solidFill>
                </a:rPr>
                <a:t>, </a:t>
              </a:r>
              <a:r>
                <a:rPr b="1" lang="en-US" sz="1300">
                  <a:solidFill>
                    <a:schemeClr val="dk1"/>
                  </a:solidFill>
                </a:rPr>
                <a:t>"Sofía"</a:t>
              </a:r>
              <a:r>
                <a:rPr lang="en-US" sz="1300">
                  <a:solidFill>
                    <a:schemeClr val="dk1"/>
                  </a:solidFill>
                </a:rPr>
                <a:t>, </a:t>
              </a:r>
              <a:r>
                <a:rPr b="1" lang="en-US" sz="1300">
                  <a:solidFill>
                    <a:schemeClr val="dk1"/>
                  </a:solidFill>
                </a:rPr>
                <a:t>"Carlos"</a:t>
              </a:r>
              <a:r>
                <a:rPr lang="en-US" sz="1300">
                  <a:solidFill>
                    <a:schemeClr val="dk1"/>
                  </a:solidFill>
                </a:rPr>
                <a:t> y </a:t>
              </a:r>
              <a:r>
                <a:rPr b="1" lang="en-US" sz="1300">
                  <a:solidFill>
                    <a:schemeClr val="dk1"/>
                  </a:solidFill>
                </a:rPr>
                <a:t>"Lucía"</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Un familiar se comunica con la aerolínea con urgencia para confirmar el estado de un pasajero. Programa el sistema para responder las siguientes preguntas de forma automatizada:</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¿Se encuentra </a:t>
              </a:r>
              <a:r>
                <a:rPr b="1" lang="en-US" sz="1300">
                  <a:solidFill>
                    <a:schemeClr val="dk1"/>
                  </a:solidFill>
                </a:rPr>
                <a:t>"Carlos"</a:t>
              </a:r>
              <a:r>
                <a:rPr lang="en-US" sz="1300">
                  <a:solidFill>
                    <a:schemeClr val="dk1"/>
                  </a:solidFill>
                </a:rPr>
                <a:t> dentro de la lista de pasajeros a bordo? Si la respuesta es afirmativa, averigua e imprime </a:t>
              </a:r>
              <a:r>
                <a:rPr b="1" lang="en-US" sz="1300">
                  <a:solidFill>
                    <a:schemeClr val="dk1"/>
                  </a:solidFill>
                </a:rPr>
                <a:t>el número exacto de asiento</a:t>
              </a:r>
              <a:r>
                <a:rPr lang="en-US" sz="1300">
                  <a:solidFill>
                    <a:schemeClr val="dk1"/>
                  </a:solidFill>
                </a:rPr>
                <a:t> (índice de posición) donde está sentado.</a:t>
              </a:r>
              <a:endParaRPr sz="1300">
                <a:solidFill>
                  <a:schemeClr val="dk1"/>
                </a:solidFill>
              </a:endParaRPr>
            </a:p>
            <a:p>
              <a:pPr indent="-311150" lvl="1" marL="914400" rtl="0" algn="l">
                <a:lnSpc>
                  <a:spcPct val="115000"/>
                </a:lnSpc>
                <a:spcBef>
                  <a:spcPts val="0"/>
                </a:spcBef>
                <a:spcAft>
                  <a:spcPts val="0"/>
                </a:spcAft>
                <a:buClr>
                  <a:schemeClr val="dk1"/>
                </a:buClr>
                <a:buSzPts val="1300"/>
                <a:buChar char="○"/>
              </a:pPr>
              <a:r>
                <a:rPr lang="en-US" sz="1300">
                  <a:solidFill>
                    <a:schemeClr val="dk1"/>
                  </a:solidFill>
                </a:rPr>
                <a:t>¿Se encuentra </a:t>
              </a:r>
              <a:r>
                <a:rPr b="1" lang="en-US" sz="1300">
                  <a:solidFill>
                    <a:schemeClr val="dk1"/>
                  </a:solidFill>
                </a:rPr>
                <a:t>"Mariana"</a:t>
              </a:r>
              <a:r>
                <a:rPr lang="en-US" sz="1300">
                  <a:solidFill>
                    <a:schemeClr val="dk1"/>
                  </a:solidFill>
                </a:rPr>
                <a:t> a bordo? Si no se encuentra, despliega un mensaje de alerta.</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Reporte del Capitán:</a:t>
              </a:r>
              <a:r>
                <a:rPr lang="en-US" sz="1300">
                  <a:solidFill>
                    <a:schemeClr val="dk1"/>
                  </a:solidFill>
                </a:rPr>
                <a:t> Antes de despegar, el piloto solicita la lista completa de pasajeros con un formato limpio y simplificado.</a:t>
              </a:r>
              <a:endParaRPr>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54" name="Google Shape;354;p26"/>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6"/>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contains(Object o), indexOf(Object o).</a:t>
              </a:r>
              <a:endParaRPr sz="1100">
                <a:solidFill>
                  <a:srgbClr val="188038"/>
                </a:solidFill>
                <a:latin typeface="Roboto Mono"/>
                <a:ea typeface="Roboto Mono"/>
                <a:cs typeface="Roboto Mono"/>
                <a:sym typeface="Roboto Mono"/>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Bucle for-each (for mejorado).</a:t>
              </a:r>
              <a:endParaRPr sz="1100">
                <a:solidFill>
                  <a:srgbClr val="188038"/>
                </a:solidFill>
                <a:latin typeface="Roboto Mono"/>
                <a:ea typeface="Roboto Mono"/>
                <a:cs typeface="Roboto Mono"/>
                <a:sym typeface="Roboto Mono"/>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9" name="Shape 359"/>
        <p:cNvGrpSpPr/>
        <p:nvPr/>
      </p:nvGrpSpPr>
      <p:grpSpPr>
        <a:xfrm>
          <a:off x="0" y="0"/>
          <a:ext cx="0" cy="0"/>
          <a:chOff x="0" y="0"/>
          <a:chExt cx="0" cy="0"/>
        </a:xfrm>
      </p:grpSpPr>
      <p:pic>
        <p:nvPicPr>
          <p:cNvPr id="360" name="Google Shape;360;p27"/>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61" name="Google Shape;361;p27"/>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7"/>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4: </a:t>
            </a:r>
            <a:r>
              <a:rPr b="1" lang="en-US" sz="3200">
                <a:solidFill>
                  <a:srgbClr val="005088"/>
                </a:solidFill>
                <a:latin typeface="Merriweather"/>
                <a:ea typeface="Merriweather"/>
                <a:cs typeface="Merriweather"/>
                <a:sym typeface="Merriweather"/>
              </a:rPr>
              <a:t>Automatización</a:t>
            </a:r>
            <a:r>
              <a:rPr b="1" lang="en-US" sz="3200">
                <a:solidFill>
                  <a:srgbClr val="005088"/>
                </a:solidFill>
                <a:latin typeface="Merriweather"/>
                <a:ea typeface="Merriweather"/>
                <a:cs typeface="Merriweather"/>
                <a:sym typeface="Merriweather"/>
              </a:rPr>
              <a:t> de Bodegas (Control de Capacidades)</a:t>
            </a:r>
            <a:endParaRPr b="1" sz="3200">
              <a:solidFill>
                <a:srgbClr val="005088"/>
              </a:solidFill>
              <a:latin typeface="Merriweather"/>
              <a:ea typeface="Merriweather"/>
              <a:cs typeface="Merriweather"/>
              <a:sym typeface="Merriweather"/>
            </a:endParaRPr>
          </a:p>
        </p:txBody>
      </p:sp>
      <p:sp>
        <p:nvSpPr>
          <p:cNvPr id="363" name="Google Shape;363;p27"/>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4" name="Google Shape;364;p27"/>
          <p:cNvGrpSpPr/>
          <p:nvPr/>
        </p:nvGrpSpPr>
        <p:grpSpPr>
          <a:xfrm>
            <a:off x="666750" y="1524000"/>
            <a:ext cx="3238500" cy="4572150"/>
            <a:chOff x="666750" y="1524000"/>
            <a:chExt cx="3238500" cy="4572150"/>
          </a:xfrm>
        </p:grpSpPr>
        <p:sp>
          <p:nvSpPr>
            <p:cNvPr id="365" name="Google Shape;365;p27"/>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66" name="Google Shape;366;p27"/>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lang="en-US" sz="1900">
                  <a:solidFill>
                    <a:schemeClr val="dk1"/>
                  </a:solidFill>
                </a:rPr>
                <a:t>Cada bodega tiene una capacidad física estricta de </a:t>
              </a:r>
              <a:r>
                <a:rPr b="1" lang="en-US" sz="1900">
                  <a:solidFill>
                    <a:schemeClr val="dk1"/>
                  </a:solidFill>
                </a:rPr>
                <a:t>máximo 5 contenedores industriales</a:t>
              </a:r>
              <a:r>
                <a:rPr lang="en-US" sz="1900">
                  <a:solidFill>
                    <a:schemeClr val="dk1"/>
                  </a:solidFill>
                </a:rPr>
                <a:t>. Si la bodega se vacía por completo, se debe disparar una alerta de desabastecimiento. Si llega a su límite, las compuertas mecánicas deben bloquearse para evitar sobrecargar la estructura.</a:t>
              </a:r>
              <a:endParaRPr sz="2500">
                <a:solidFill>
                  <a:srgbClr val="333333"/>
                </a:solidFill>
              </a:endParaRPr>
            </a:p>
          </p:txBody>
        </p:sp>
      </p:grpSp>
      <p:sp>
        <p:nvSpPr>
          <p:cNvPr id="367" name="Google Shape;367;p27"/>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8" name="Google Shape;368;p27"/>
          <p:cNvGrpSpPr/>
          <p:nvPr/>
        </p:nvGrpSpPr>
        <p:grpSpPr>
          <a:xfrm>
            <a:off x="4476750" y="1524000"/>
            <a:ext cx="7048500" cy="4572000"/>
            <a:chOff x="4476750" y="1524000"/>
            <a:chExt cx="7048500" cy="4572000"/>
          </a:xfrm>
        </p:grpSpPr>
        <p:sp>
          <p:nvSpPr>
            <p:cNvPr id="369" name="Google Shape;369;p27"/>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70" name="Google Shape;370;p27"/>
            <p:cNvSpPr txBox="1"/>
            <p:nvPr/>
          </p:nvSpPr>
          <p:spPr>
            <a:xfrm>
              <a:off x="4476750" y="2000250"/>
              <a:ext cx="7048500" cy="3333900"/>
            </a:xfrm>
            <a:prstGeom prst="rect">
              <a:avLst/>
            </a:prstGeom>
            <a:noFill/>
            <a:ln>
              <a:noFill/>
            </a:ln>
          </p:spPr>
          <p:txBody>
            <a:bodyPr anchorCtr="0" anchor="t" bIns="0" lIns="0" spcFirstLastPara="1" rIns="0" wrap="square" tIns="0">
              <a:noAutofit/>
            </a:bodyPr>
            <a:lstStyle/>
            <a:p>
              <a:pPr indent="-311150" lvl="0" marL="457200" rtl="0" algn="l">
                <a:lnSpc>
                  <a:spcPct val="115000"/>
                </a:lnSpc>
                <a:spcBef>
                  <a:spcPts val="1200"/>
                </a:spcBef>
                <a:spcAft>
                  <a:spcPts val="0"/>
                </a:spcAft>
                <a:buClr>
                  <a:schemeClr val="dk1"/>
                </a:buClr>
                <a:buSzPts val="1300"/>
                <a:buAutoNum type="arabicPeriod"/>
              </a:pPr>
              <a:r>
                <a:rPr lang="en-US" sz="1300">
                  <a:solidFill>
                    <a:schemeClr val="dk1"/>
                  </a:solidFill>
                </a:rPr>
                <a:t>Crea una estructura que represente el inventario de contenedores de la "Bodega A".</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Fase Inicial:</a:t>
              </a:r>
              <a:r>
                <a:rPr lang="en-US" sz="1300">
                  <a:solidFill>
                    <a:schemeClr val="dk1"/>
                  </a:solidFill>
                </a:rPr>
                <a:t> Antes de ingresar cualquier mercancía, haz que el sistema evalúe si la bodega se encuentra completamente vacía. </a:t>
              </a:r>
              <a:r>
                <a:rPr lang="en-US" sz="1300">
                  <a:solidFill>
                    <a:schemeClr val="dk1"/>
                  </a:solidFill>
                </a:rPr>
                <a:t>De ser así, </a:t>
              </a:r>
              <a:r>
                <a:rPr lang="en-US" sz="1300">
                  <a:solidFill>
                    <a:schemeClr val="dk1"/>
                  </a:solidFill>
                </a:rPr>
                <a:t>imprime en pantalla un mensaje de advertencia crítica: </a:t>
              </a:r>
              <a:r>
                <a:rPr i="1" lang="en-US" sz="1300">
                  <a:solidFill>
                    <a:schemeClr val="dk1"/>
                  </a:solidFill>
                </a:rPr>
                <a:t>"ALERTA DE SEGURIDAD: Bodega vacía, detener operaciones de despacho"</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Simulación de Carga:</a:t>
              </a:r>
              <a:r>
                <a:rPr lang="en-US" sz="1300">
                  <a:solidFill>
                    <a:schemeClr val="dk1"/>
                  </a:solidFill>
                </a:rPr>
                <a:t> El operador del montacargas intenta registrar consecutivamente la entrada de 6 contenedores (nómbralos como "Contenedor 1", "Contenedor 2", etc.).</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b="1" lang="en-US" sz="1300">
                  <a:solidFill>
                    <a:schemeClr val="dk1"/>
                  </a:solidFill>
                </a:rPr>
                <a:t>Regla de Negocio Automatizada:</a:t>
              </a:r>
              <a:r>
                <a:rPr lang="en-US" sz="1300">
                  <a:solidFill>
                    <a:schemeClr val="dk1"/>
                  </a:solidFill>
                </a:rPr>
                <a:t> Modifica el proceso de inserción. Cada vez que el operador intente registrar un contenedor, el software debe evaluar el tamaño actual de la bodega. Si el tamaño alcanza el límite estricto de 5 elementos, el programa debe impedir la inserción, abortar el proceso y desplegar el mensaje: </a:t>
              </a:r>
              <a:r>
                <a:rPr i="1" lang="en-US" sz="1300">
                  <a:solidFill>
                    <a:schemeClr val="dk1"/>
                  </a:solidFill>
                </a:rPr>
                <a:t>"ERROR: Capacidad máxima alcanzada. Compuertas bloqueadas"</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AutoNum type="arabicPeriod"/>
              </a:pPr>
              <a:r>
                <a:rPr lang="en-US" sz="1300">
                  <a:solidFill>
                    <a:schemeClr val="dk1"/>
                  </a:solidFill>
                </a:rPr>
                <a:t>Si la compuerta se bloquea, limpia toda la bodega de golpe simulando un despacho masivo de emergencia al muelle principal de carga.</a:t>
              </a:r>
              <a:endParaRPr sz="16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71" name="Google Shape;371;p27"/>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7"/>
            <p:cNvSpPr txBox="1"/>
            <p:nvPr/>
          </p:nvSpPr>
          <p:spPr>
            <a:xfrm>
              <a:off x="4572000" y="5381625"/>
              <a:ext cx="6858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005088"/>
                  </a:solidFill>
                  <a:latin typeface="Arial"/>
                  <a:ea typeface="Arial"/>
                  <a:cs typeface="Arial"/>
                  <a:sym typeface="Arial"/>
                </a:rPr>
                <a:t>Métodos de Vector a utilizar:</a:t>
              </a:r>
              <a:endParaRPr b="1" sz="1100">
                <a:solidFill>
                  <a:srgbClr val="005088"/>
                </a:solidFill>
                <a:latin typeface="Arial"/>
                <a:ea typeface="Arial"/>
                <a:cs typeface="Arial"/>
                <a:sym typeface="Arial"/>
              </a:endParaRPr>
            </a:p>
            <a:p>
              <a:pPr indent="0" lvl="0" marL="0" rtl="0" algn="l">
                <a:spcBef>
                  <a:spcPts val="375"/>
                </a:spcBef>
                <a:spcAft>
                  <a:spcPts val="0"/>
                </a:spcAft>
                <a:buNone/>
              </a:pPr>
              <a:r>
                <a:rPr lang="en-US" sz="1100">
                  <a:solidFill>
                    <a:srgbClr val="188038"/>
                  </a:solidFill>
                  <a:latin typeface="Roboto Mono"/>
                  <a:ea typeface="Roboto Mono"/>
                  <a:cs typeface="Roboto Mono"/>
                  <a:sym typeface="Roboto Mono"/>
                </a:rPr>
                <a:t>add(E e), set(int index, E element), remove(int index), remove(Object o), size(), get(int index).</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pic>
        <p:nvPicPr>
          <p:cNvPr id="377" name="Google Shape;377;p28"/>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378" name="Google Shape;378;p28"/>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9" name="Google Shape;379;p28"/>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5: </a:t>
            </a:r>
            <a:r>
              <a:rPr b="1" lang="en-US" sz="3200">
                <a:solidFill>
                  <a:srgbClr val="005088"/>
                </a:solidFill>
                <a:latin typeface="Merriweather"/>
                <a:ea typeface="Merriweather"/>
                <a:cs typeface="Merriweather"/>
                <a:sym typeface="Merriweather"/>
              </a:rPr>
              <a:t>Central de Despacho de Viajes (Estilo Uber/Didi)</a:t>
            </a:r>
            <a:endParaRPr b="1" sz="3200">
              <a:solidFill>
                <a:srgbClr val="005088"/>
              </a:solidFill>
              <a:latin typeface="Merriweather"/>
              <a:ea typeface="Merriweather"/>
              <a:cs typeface="Merriweather"/>
              <a:sym typeface="Merriweather"/>
            </a:endParaRPr>
          </a:p>
        </p:txBody>
      </p:sp>
      <p:sp>
        <p:nvSpPr>
          <p:cNvPr id="380" name="Google Shape;380;p28"/>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1" name="Google Shape;381;p28"/>
          <p:cNvGrpSpPr/>
          <p:nvPr/>
        </p:nvGrpSpPr>
        <p:grpSpPr>
          <a:xfrm>
            <a:off x="666750" y="1524000"/>
            <a:ext cx="3238500" cy="4572150"/>
            <a:chOff x="666750" y="1524000"/>
            <a:chExt cx="3238500" cy="4572150"/>
          </a:xfrm>
        </p:grpSpPr>
        <p:sp>
          <p:nvSpPr>
            <p:cNvPr id="382" name="Google Shape;382;p28"/>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383" name="Google Shape;383;p28"/>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Has sido contratado para programar el núcleo lógico del despacho de conductores y pasajeros para una aplicación de transporte privado local. El sistema debe procesar solicitudes en tiempo real, admitir peticiones de tarifas de urgencia premium, gestionar cancelaciones repentinas y liquidar la cola de solicitudes al final de la jornada de forma totalmente automatizada.</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384" name="Google Shape;384;p28"/>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5" name="Google Shape;385;p28"/>
          <p:cNvGrpSpPr/>
          <p:nvPr/>
        </p:nvGrpSpPr>
        <p:grpSpPr>
          <a:xfrm>
            <a:off x="4476750" y="1428751"/>
            <a:ext cx="7048500" cy="4762652"/>
            <a:chOff x="4476750" y="1524000"/>
            <a:chExt cx="7048500" cy="4572000"/>
          </a:xfrm>
        </p:grpSpPr>
        <p:sp>
          <p:nvSpPr>
            <p:cNvPr id="386" name="Google Shape;386;p28"/>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387" name="Google Shape;387;p28"/>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298450" lvl="0" marL="457200" rtl="0" algn="l">
                <a:lnSpc>
                  <a:spcPct val="115000"/>
                </a:lnSpc>
                <a:spcBef>
                  <a:spcPts val="1200"/>
                </a:spcBef>
                <a:spcAft>
                  <a:spcPts val="0"/>
                </a:spcAft>
                <a:buClr>
                  <a:schemeClr val="dk1"/>
                </a:buClr>
                <a:buSzPts val="1100"/>
                <a:buAutoNum type="arabicPeriod"/>
              </a:pPr>
              <a:r>
                <a:rPr b="1" lang="en-US" sz="1100">
                  <a:solidFill>
                    <a:schemeClr val="dk1"/>
                  </a:solidFill>
                </a:rPr>
                <a:t>Inicio de Operaciones:</a:t>
              </a:r>
              <a:r>
                <a:rPr lang="en-US" sz="1100">
                  <a:solidFill>
                    <a:schemeClr val="dk1"/>
                  </a:solidFill>
                </a:rPr>
                <a:t> Instancia el recolector central de solicitudes de la aplicación.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Ingreso Masivo:</a:t>
              </a:r>
              <a:r>
                <a:rPr lang="en-US" sz="1100">
                  <a:solidFill>
                    <a:schemeClr val="dk1"/>
                  </a:solidFill>
                </a:rPr>
                <a:t> El sistema recibe 4 solicitudes ordinarias consecutivas en la plataforma: </a:t>
              </a:r>
              <a:r>
                <a:rPr b="1" lang="en-US" sz="1100">
                  <a:solidFill>
                    <a:schemeClr val="dk1"/>
                  </a:solidFill>
                </a:rPr>
                <a:t>"Pasajero Juan"</a:t>
              </a:r>
              <a:r>
                <a:rPr lang="en-US" sz="1100">
                  <a:solidFill>
                    <a:schemeClr val="dk1"/>
                  </a:solidFill>
                </a:rPr>
                <a:t>, </a:t>
              </a:r>
              <a:r>
                <a:rPr b="1" lang="en-US" sz="1100">
                  <a:solidFill>
                    <a:schemeClr val="dk1"/>
                  </a:solidFill>
                </a:rPr>
                <a:t>"Pasajera Elena"</a:t>
              </a:r>
              <a:r>
                <a:rPr lang="en-US" sz="1100">
                  <a:solidFill>
                    <a:schemeClr val="dk1"/>
                  </a:solidFill>
                </a:rPr>
                <a:t>, </a:t>
              </a:r>
              <a:r>
                <a:rPr b="1" lang="en-US" sz="1100">
                  <a:solidFill>
                    <a:schemeClr val="dk1"/>
                  </a:solidFill>
                </a:rPr>
                <a:t>"Pasajero Luis"</a:t>
              </a:r>
              <a:r>
                <a:rPr lang="en-US" sz="1100">
                  <a:solidFill>
                    <a:schemeClr val="dk1"/>
                  </a:solidFill>
                </a:rPr>
                <a:t> y </a:t>
              </a:r>
              <a:r>
                <a:rPr b="1" lang="en-US" sz="1100">
                  <a:solidFill>
                    <a:schemeClr val="dk1"/>
                  </a:solidFill>
                </a:rPr>
                <a:t>"Pasajera Ana"</a:t>
              </a:r>
              <a:r>
                <a:rPr lang="en-US" sz="1100">
                  <a:solidFill>
                    <a:schemeClr val="dk1"/>
                  </a:solidFill>
                </a:rPr>
                <a:t>. Muestra el estado del tráfico en el servidor.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Solicitud Corporativa/VIP:</a:t>
              </a:r>
              <a:r>
                <a:rPr lang="en-US" sz="1100">
                  <a:solidFill>
                    <a:schemeClr val="dk1"/>
                  </a:solidFill>
                </a:rPr>
                <a:t> Un usuario corporativo solicita un viaje de categoría Premium pagando una tarifa de urgencia. El algoritmo de la app está obligado a colocarlo de inmediato en la </a:t>
              </a:r>
              <a:r>
                <a:rPr b="1" lang="en-US" sz="1100">
                  <a:solidFill>
                    <a:schemeClr val="dk1"/>
                  </a:solidFill>
                </a:rPr>
                <a:t>segunda posición de la lista de espera</a:t>
              </a:r>
              <a:r>
                <a:rPr lang="en-US" sz="1100">
                  <a:solidFill>
                    <a:schemeClr val="dk1"/>
                  </a:solidFill>
                </a:rPr>
                <a:t> (índice 1) para acelerar su recogida. Inserta a </a:t>
              </a:r>
              <a:r>
                <a:rPr b="1" lang="en-US" sz="1100">
                  <a:solidFill>
                    <a:schemeClr val="dk1"/>
                  </a:solidFill>
                </a:rPr>
                <a:t>"VIP_Sonia"</a:t>
              </a:r>
              <a:r>
                <a:rPr lang="en-US" sz="1100">
                  <a:solidFill>
                    <a:schemeClr val="dk1"/>
                  </a:solidFill>
                </a:rPr>
                <a:t> en dicha posición.</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Módulo de Rastreo de Seguridad:</a:t>
              </a:r>
              <a:r>
                <a:rPr lang="en-US" sz="1100">
                  <a:solidFill>
                    <a:schemeClr val="dk1"/>
                  </a:solidFill>
                </a:rPr>
                <a:t> La central de soporte técnico recibe una alerta y necesita verificar si el usuario </a:t>
              </a:r>
              <a:r>
                <a:rPr b="1" lang="en-US" sz="1100">
                  <a:solidFill>
                    <a:schemeClr val="dk1"/>
                  </a:solidFill>
                </a:rPr>
                <a:t>"Pasajero Luis"</a:t>
              </a:r>
              <a:r>
                <a:rPr lang="en-US" sz="1100">
                  <a:solidFill>
                    <a:schemeClr val="dk1"/>
                  </a:solidFill>
                </a:rPr>
                <a:t> sigue en espera de un conductor. Haz que el sistema compruebe su existencia y devuelva </a:t>
              </a:r>
              <a:r>
                <a:rPr b="1" lang="en-US" sz="1100">
                  <a:solidFill>
                    <a:schemeClr val="dk1"/>
                  </a:solidFill>
                </a:rPr>
                <a:t>en qué orden de prioridad</a:t>
              </a:r>
              <a:r>
                <a:rPr lang="en-US" sz="1100">
                  <a:solidFill>
                    <a:schemeClr val="dk1"/>
                  </a:solidFill>
                </a:rPr>
                <a:t> se encuentra en este momento.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Despacho Automático:</a:t>
              </a:r>
              <a:r>
                <a:rPr lang="en-US" sz="1100">
                  <a:solidFill>
                    <a:schemeClr val="dk1"/>
                  </a:solidFill>
                </a:rPr>
                <a:t> Un conductor disponible se conecta a la red de la aplicación. El sistema le asigna inmediatamente al </a:t>
              </a:r>
              <a:r>
                <a:rPr b="1" lang="en-US" sz="1100">
                  <a:solidFill>
                    <a:schemeClr val="dk1"/>
                  </a:solidFill>
                </a:rPr>
                <a:t>primer pasajero de la lista</a:t>
              </a:r>
              <a:r>
                <a:rPr lang="en-US" sz="1100">
                  <a:solidFill>
                    <a:schemeClr val="dk1"/>
                  </a:solidFill>
                </a:rPr>
                <a:t>. El programa debe mostrar en consola a quién se le asignó el viaje y removerlo del sistema para que no sea asignado a otro auto por error.</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Cancelación del Usuario:</a:t>
              </a:r>
              <a:r>
                <a:rPr lang="en-US" sz="1100">
                  <a:solidFill>
                    <a:schemeClr val="dk1"/>
                  </a:solidFill>
                </a:rPr>
                <a:t> El usuario </a:t>
              </a:r>
              <a:r>
                <a:rPr b="1" lang="en-US" sz="1100">
                  <a:solidFill>
                    <a:schemeClr val="dk1"/>
                  </a:solidFill>
                </a:rPr>
                <a:t>"Pasajero Juan"</a:t>
              </a:r>
              <a:r>
                <a:rPr lang="en-US" sz="1100">
                  <a:solidFill>
                    <a:schemeClr val="dk1"/>
                  </a:solidFill>
                </a:rPr>
                <a:t> decide cancelar su viaje debido a la demora. Ubícalo y elimínalo del sistema directamente por su nombre de usuario.</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US" sz="1100">
                  <a:solidFill>
                    <a:schemeClr val="dk1"/>
                  </a:solidFill>
                </a:rPr>
                <a:t>Cierre del Reporte Diario:</a:t>
              </a:r>
              <a:r>
                <a:rPr lang="en-US" sz="1100">
                  <a:solidFill>
                    <a:schemeClr val="dk1"/>
                  </a:solidFill>
                </a:rPr>
                <a:t> Utilizando el tipo de bucle más óptimo para tareas de solo lectura, recorre las solicitudes que quedaron huérfanas o pendientes en la plataforma al final del turno, imprimiendo sus nombres y mostrando el número total de viajes que no se pudieron concretar.</a:t>
              </a:r>
              <a:endParaRPr sz="13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388" name="Google Shape;388;p28"/>
            <p:cNvSpPr/>
            <p:nvPr/>
          </p:nvSpPr>
          <p:spPr>
            <a:xfrm>
              <a:off x="4476750" y="5334000"/>
              <a:ext cx="7048500" cy="762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8"/>
            <p:cNvSpPr txBox="1"/>
            <p:nvPr/>
          </p:nvSpPr>
          <p:spPr>
            <a:xfrm>
              <a:off x="4572000" y="5562590"/>
              <a:ext cx="6858000" cy="4860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b="1" lang="en-US" sz="1100">
                  <a:solidFill>
                    <a:schemeClr val="dk1"/>
                  </a:solidFill>
                </a:rPr>
                <a:t>Herramientas requeridas para el Éxito:</a:t>
              </a:r>
              <a:r>
                <a:rPr lang="en-US" sz="1100">
                  <a:solidFill>
                    <a:schemeClr val="dk1"/>
                  </a:solidFill>
                </a:rPr>
                <a:t> Uso integrado de la tabla de métodos de </a:t>
              </a:r>
              <a:r>
                <a:rPr lang="en-US" sz="1100">
                  <a:solidFill>
                    <a:srgbClr val="188038"/>
                  </a:solidFill>
                  <a:latin typeface="Roboto Mono"/>
                  <a:ea typeface="Roboto Mono"/>
                  <a:cs typeface="Roboto Mono"/>
                  <a:sym typeface="Roboto Mono"/>
                </a:rPr>
                <a:t>Vector</a:t>
              </a:r>
              <a:r>
                <a:rPr lang="en-US" sz="1100">
                  <a:solidFill>
                    <a:schemeClr val="dk1"/>
                  </a:solidFill>
                </a:rPr>
                <a:t>, bucles tradicionales, bucles mejorados y condicionales lógicos.</a:t>
              </a:r>
              <a:endParaRPr b="0" sz="1100">
                <a:solidFill>
                  <a:srgbClr val="188038"/>
                </a:solidFill>
                <a:latin typeface="Roboto Mono"/>
                <a:ea typeface="Roboto Mono"/>
                <a:cs typeface="Roboto Mono"/>
                <a:sym typeface="Roboto Mono"/>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393" name="Shape 393"/>
        <p:cNvGrpSpPr/>
        <p:nvPr/>
      </p:nvGrpSpPr>
      <p:grpSpPr>
        <a:xfrm>
          <a:off x="0" y="0"/>
          <a:ext cx="0" cy="0"/>
          <a:chOff x="0" y="0"/>
          <a:chExt cx="0" cy="0"/>
        </a:xfrm>
      </p:grpSpPr>
      <p:pic>
        <p:nvPicPr>
          <p:cNvPr descr="image.png" id="394" name="Google Shape;394;p29"/>
          <p:cNvPicPr preferRelativeResize="0"/>
          <p:nvPr/>
        </p:nvPicPr>
        <p:blipFill rotWithShape="1">
          <a:blip r:embed="rId3">
            <a:alphaModFix/>
          </a:blip>
          <a:srcRect b="0" l="0" r="0" t="0"/>
          <a:stretch/>
        </p:blipFill>
        <p:spPr>
          <a:xfrm>
            <a:off x="7429500" y="-1905000"/>
            <a:ext cx="5715000" cy="5715000"/>
          </a:xfrm>
          <a:prstGeom prst="rect">
            <a:avLst/>
          </a:prstGeom>
          <a:noFill/>
          <a:ln>
            <a:noFill/>
          </a:ln>
        </p:spPr>
      </p:pic>
      <p:sp>
        <p:nvSpPr>
          <p:cNvPr id="395" name="Google Shape;395;p29"/>
          <p:cNvSpPr txBox="1"/>
          <p:nvPr/>
        </p:nvSpPr>
        <p:spPr>
          <a:xfrm>
            <a:off x="4600813" y="2278856"/>
            <a:ext cx="2990400" cy="8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5250"/>
              <a:buFont typeface="Arial"/>
              <a:buNone/>
            </a:pPr>
            <a:r>
              <a:rPr b="1" lang="en-US" sz="5250">
                <a:solidFill>
                  <a:srgbClr val="F3F0DF"/>
                </a:solidFill>
                <a:latin typeface="Merriweather"/>
                <a:ea typeface="Merriweather"/>
                <a:cs typeface="Merriweather"/>
                <a:sym typeface="Merriweather"/>
              </a:rPr>
              <a:t>Matrices</a:t>
            </a:r>
            <a:endParaRPr b="0" i="0" sz="1400" u="none" cap="none" strike="noStrike">
              <a:solidFill>
                <a:srgbClr val="000000"/>
              </a:solidFill>
              <a:latin typeface="Arial"/>
              <a:ea typeface="Arial"/>
              <a:cs typeface="Arial"/>
              <a:sym typeface="Arial"/>
            </a:endParaRPr>
          </a:p>
        </p:txBody>
      </p:sp>
      <p:sp>
        <p:nvSpPr>
          <p:cNvPr id="396" name="Google Shape;396;p29"/>
          <p:cNvSpPr/>
          <p:nvPr/>
        </p:nvSpPr>
        <p:spPr>
          <a:xfrm>
            <a:off x="5381625" y="3593306"/>
            <a:ext cx="1428750" cy="57150"/>
          </a:xfrm>
          <a:prstGeom prst="rect">
            <a:avLst/>
          </a:prstGeom>
          <a:solidFill>
            <a:srgbClr val="11CAA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7" name="Google Shape;397;p29"/>
          <p:cNvSpPr txBox="1"/>
          <p:nvPr/>
        </p:nvSpPr>
        <p:spPr>
          <a:xfrm>
            <a:off x="3748087" y="3936206"/>
            <a:ext cx="4695825" cy="6096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3000"/>
              <a:buFont typeface="Arial"/>
              <a:buNone/>
            </a:pPr>
            <a:r>
              <a:rPr b="1" i="0" lang="en-US" sz="3000" u="none" cap="none" strike="noStrike">
                <a:solidFill>
                  <a:srgbClr val="11CAA0"/>
                </a:solidFill>
                <a:latin typeface="DM Sans"/>
                <a:ea typeface="DM Sans"/>
                <a:cs typeface="DM Sans"/>
                <a:sym typeface="DM Sans"/>
              </a:rPr>
              <a:t>Arreglos Bidimensionales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01" name="Shape 401"/>
        <p:cNvGrpSpPr/>
        <p:nvPr/>
      </p:nvGrpSpPr>
      <p:grpSpPr>
        <a:xfrm>
          <a:off x="0" y="0"/>
          <a:ext cx="0" cy="0"/>
          <a:chOff x="0" y="0"/>
          <a:chExt cx="0" cy="0"/>
        </a:xfrm>
      </p:grpSpPr>
      <p:pic>
        <p:nvPicPr>
          <p:cNvPr descr="image.png" id="402" name="Google Shape;402;p30"/>
          <p:cNvPicPr preferRelativeResize="0"/>
          <p:nvPr/>
        </p:nvPicPr>
        <p:blipFill rotWithShape="1">
          <a:blip r:embed="rId3">
            <a:alphaModFix/>
          </a:blip>
          <a:srcRect b="0" l="0" r="0" t="0"/>
          <a:stretch/>
        </p:blipFill>
        <p:spPr>
          <a:xfrm>
            <a:off x="6334125" y="1390650"/>
            <a:ext cx="5381625" cy="3810000"/>
          </a:xfrm>
          <a:prstGeom prst="rect">
            <a:avLst/>
          </a:prstGeom>
          <a:noFill/>
          <a:ln>
            <a:noFill/>
          </a:ln>
        </p:spPr>
      </p:pic>
      <p:sp>
        <p:nvSpPr>
          <p:cNvPr id="403" name="Google Shape;403;p30"/>
          <p:cNvSpPr txBox="1"/>
          <p:nvPr/>
        </p:nvSpPr>
        <p:spPr>
          <a:xfrm>
            <a:off x="476250" y="1390650"/>
            <a:ext cx="538162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El Concepto:</a:t>
            </a:r>
            <a:r>
              <a:rPr b="0" i="0" lang="en-US" sz="1500" u="none" cap="none" strike="noStrike">
                <a:solidFill>
                  <a:srgbClr val="121212"/>
                </a:solidFill>
                <a:latin typeface="DM Sans"/>
                <a:ea typeface="DM Sans"/>
                <a:cs typeface="DM Sans"/>
                <a:sym typeface="DM Sans"/>
              </a:rPr>
              <a:t> Muchos datos son inherentemente tabulares (ej. calificaciones por materia, tablero de ajedrez). Una matriz resuelve esto estructurando datos en </a:t>
            </a:r>
            <a:r>
              <a:rPr b="1" i="0" lang="en-US" sz="1500" u="none" cap="none" strike="noStrike">
                <a:solidFill>
                  <a:srgbClr val="121212"/>
                </a:solidFill>
                <a:latin typeface="DM Sans"/>
                <a:ea typeface="DM Sans"/>
                <a:cs typeface="DM Sans"/>
                <a:sym typeface="DM Sans"/>
              </a:rPr>
              <a:t>filas y columnas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04" name="Google Shape;404;p30"/>
          <p:cNvSpPr txBox="1"/>
          <p:nvPr/>
        </p:nvSpPr>
        <p:spPr>
          <a:xfrm>
            <a:off x="476250" y="2447925"/>
            <a:ext cx="538162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La Visión de Java:</a:t>
            </a:r>
            <a:endParaRPr b="0" i="0" sz="1400" u="none" cap="none" strike="noStrike">
              <a:solidFill>
                <a:srgbClr val="000000"/>
              </a:solidFill>
              <a:latin typeface="Arial"/>
              <a:ea typeface="Arial"/>
              <a:cs typeface="Arial"/>
              <a:sym typeface="Arial"/>
            </a:endParaRPr>
          </a:p>
        </p:txBody>
      </p:sp>
      <p:sp>
        <p:nvSpPr>
          <p:cNvPr id="405" name="Google Shape;405;p30"/>
          <p:cNvSpPr txBox="1"/>
          <p:nvPr/>
        </p:nvSpPr>
        <p:spPr>
          <a:xfrm>
            <a:off x="714375" y="28956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En Java, una matriz es conceptualmente un </a:t>
            </a:r>
            <a:r>
              <a:rPr b="1" i="0" lang="en-US" sz="1500" u="none" cap="none" strike="noStrike">
                <a:solidFill>
                  <a:srgbClr val="121212"/>
                </a:solidFill>
                <a:latin typeface="DM Sans"/>
                <a:ea typeface="DM Sans"/>
                <a:cs typeface="DM Sans"/>
                <a:sym typeface="DM Sans"/>
              </a:rPr>
              <a:t>"arreglo de arreglos"</a:t>
            </a:r>
            <a:r>
              <a:rPr b="0" i="0" lang="en-US" sz="1500" u="none" cap="none" strike="noStrike">
                <a:solidFill>
                  <a:srgbClr val="121212"/>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06" name="Google Shape;406;p30"/>
          <p:cNvSpPr txBox="1"/>
          <p:nvPr/>
        </p:nvSpPr>
        <p:spPr>
          <a:xfrm>
            <a:off x="714375" y="36957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Requiere </a:t>
            </a:r>
            <a:r>
              <a:rPr b="1" i="0" lang="en-US" sz="1500" u="none" cap="none" strike="noStrike">
                <a:solidFill>
                  <a:srgbClr val="121212"/>
                </a:solidFill>
                <a:latin typeface="DM Sans"/>
                <a:ea typeface="DM Sans"/>
                <a:cs typeface="DM Sans"/>
                <a:sym typeface="DM Sans"/>
              </a:rPr>
              <a:t>dos índices</a:t>
            </a:r>
            <a:r>
              <a:rPr b="0" i="0" lang="en-US" sz="1500" u="none" cap="none" strike="noStrike">
                <a:solidFill>
                  <a:srgbClr val="121212"/>
                </a:solidFill>
                <a:latin typeface="DM Sans"/>
                <a:ea typeface="DM Sans"/>
                <a:cs typeface="DM Sans"/>
                <a:sym typeface="DM Sans"/>
              </a:rPr>
              <a:t> para acceder a un dato: matriz[fila][columna].</a:t>
            </a:r>
            <a:endParaRPr b="0" i="0" sz="1400" u="none" cap="none" strike="noStrike">
              <a:solidFill>
                <a:srgbClr val="000000"/>
              </a:solidFill>
              <a:latin typeface="Arial"/>
              <a:ea typeface="Arial"/>
              <a:cs typeface="Arial"/>
              <a:sym typeface="Arial"/>
            </a:endParaRPr>
          </a:p>
        </p:txBody>
      </p:sp>
      <p:sp>
        <p:nvSpPr>
          <p:cNvPr id="407" name="Google Shape;407;p30"/>
          <p:cNvSpPr txBox="1"/>
          <p:nvPr/>
        </p:nvSpPr>
        <p:spPr>
          <a:xfrm>
            <a:off x="714375" y="4495800"/>
            <a:ext cx="51435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121212"/>
                </a:solidFill>
                <a:latin typeface="DM Sans"/>
                <a:ea typeface="DM Sans"/>
                <a:cs typeface="DM Sans"/>
                <a:sym typeface="DM Sans"/>
              </a:rPr>
              <a:t>La coordenada de origen (esquina superior izquierda) siempre es [0][0].</a:t>
            </a:r>
            <a:endParaRPr b="0" i="0" sz="1400" u="none" cap="none" strike="noStrike">
              <a:solidFill>
                <a:srgbClr val="000000"/>
              </a:solidFill>
              <a:latin typeface="Arial"/>
              <a:ea typeface="Arial"/>
              <a:cs typeface="Arial"/>
              <a:sym typeface="Arial"/>
            </a:endParaRPr>
          </a:p>
        </p:txBody>
      </p:sp>
      <p:pic>
        <p:nvPicPr>
          <p:cNvPr descr="image.png" id="408" name="Google Shape;408;p30"/>
          <p:cNvPicPr preferRelativeResize="0"/>
          <p:nvPr/>
        </p:nvPicPr>
        <p:blipFill rotWithShape="1">
          <a:blip r:embed="rId4">
            <a:alphaModFix/>
          </a:blip>
          <a:srcRect b="0" l="0" r="0" t="0"/>
          <a:stretch/>
        </p:blipFill>
        <p:spPr>
          <a:xfrm>
            <a:off x="6353175" y="1409700"/>
            <a:ext cx="5343525" cy="3771900"/>
          </a:xfrm>
          <a:prstGeom prst="rect">
            <a:avLst/>
          </a:prstGeom>
          <a:noFill/>
          <a:ln>
            <a:noFill/>
          </a:ln>
        </p:spPr>
      </p:pic>
      <p:sp>
        <p:nvSpPr>
          <p:cNvPr id="409" name="Google Shape;409;p30"/>
          <p:cNvSpPr txBox="1"/>
          <p:nvPr/>
        </p:nvSpPr>
        <p:spPr>
          <a:xfrm>
            <a:off x="476250" y="28956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0" name="Google Shape;410;p30"/>
          <p:cNvSpPr txBox="1"/>
          <p:nvPr/>
        </p:nvSpPr>
        <p:spPr>
          <a:xfrm>
            <a:off x="476250" y="36957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1" name="Google Shape;411;p30"/>
          <p:cNvSpPr txBox="1"/>
          <p:nvPr/>
        </p:nvSpPr>
        <p:spPr>
          <a:xfrm>
            <a:off x="476250" y="4495800"/>
            <a:ext cx="1905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12" name="Google Shape;412;p30"/>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Estructura de una Matriz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16" name="Shape 416"/>
        <p:cNvGrpSpPr/>
        <p:nvPr/>
      </p:nvGrpSpPr>
      <p:grpSpPr>
        <a:xfrm>
          <a:off x="0" y="0"/>
          <a:ext cx="0" cy="0"/>
          <a:chOff x="0" y="0"/>
          <a:chExt cx="0" cy="0"/>
        </a:xfrm>
      </p:grpSpPr>
      <p:pic>
        <p:nvPicPr>
          <p:cNvPr descr="image.png" id="417" name="Google Shape;417;p31"/>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418" name="Google Shape;418;p31"/>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419" name="Google Shape;419;p31"/>
          <p:cNvSpPr txBox="1"/>
          <p:nvPr/>
        </p:nvSpPr>
        <p:spPr>
          <a:xfrm>
            <a:off x="866775"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Clase Vector en 2D</a:t>
            </a:r>
            <a:endParaRPr b="1" sz="2400">
              <a:solidFill>
                <a:srgbClr val="005088"/>
              </a:solidFill>
              <a:latin typeface="Merriweather"/>
              <a:ea typeface="Merriweather"/>
              <a:cs typeface="Merriweather"/>
              <a:sym typeface="Merriweather"/>
            </a:endParaRPr>
          </a:p>
        </p:txBody>
      </p:sp>
      <p:sp>
        <p:nvSpPr>
          <p:cNvPr id="420" name="Google Shape;420;p31"/>
          <p:cNvSpPr txBox="1"/>
          <p:nvPr/>
        </p:nvSpPr>
        <p:spPr>
          <a:xfrm>
            <a:off x="866775" y="230505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Declaración de Matriz dinámica:</a:t>
            </a:r>
            <a:endParaRPr b="1" sz="1500">
              <a:solidFill>
                <a:srgbClr val="121212"/>
              </a:solidFill>
              <a:latin typeface="DM Sans"/>
              <a:ea typeface="DM Sans"/>
              <a:cs typeface="DM Sans"/>
              <a:sym typeface="DM Sans"/>
            </a:endParaRPr>
          </a:p>
        </p:txBody>
      </p:sp>
      <p:sp>
        <p:nvSpPr>
          <p:cNvPr id="421" name="Google Shape;421;p31"/>
          <p:cNvSpPr txBox="1"/>
          <p:nvPr/>
        </p:nvSpPr>
        <p:spPr>
          <a:xfrm>
            <a:off x="866775" y="275272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Vector&lt;Vector&lt;String&gt;&gt; matriz = new Vector&lt;&gt;();</a:t>
            </a:r>
            <a:endParaRPr b="0" sz="1500">
              <a:solidFill>
                <a:srgbClr val="121212"/>
              </a:solidFill>
              <a:latin typeface="DM Sans"/>
              <a:ea typeface="DM Sans"/>
              <a:cs typeface="DM Sans"/>
              <a:sym typeface="DM Sans"/>
            </a:endParaRPr>
          </a:p>
        </p:txBody>
      </p:sp>
      <p:sp>
        <p:nvSpPr>
          <p:cNvPr id="422" name="Google Shape;422;p31"/>
          <p:cNvSpPr txBox="1"/>
          <p:nvPr/>
        </p:nvSpPr>
        <p:spPr>
          <a:xfrm>
            <a:off x="866775" y="3200400"/>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500">
                <a:solidFill>
                  <a:srgbClr val="121212"/>
                </a:solidFill>
                <a:latin typeface="DM Sans"/>
                <a:ea typeface="DM Sans"/>
                <a:cs typeface="DM Sans"/>
                <a:sym typeface="DM Sans"/>
              </a:rPr>
              <a:t>(Un Vector que contiene otros objetos Vector).</a:t>
            </a:r>
            <a:endParaRPr b="0" i="1" sz="1500">
              <a:solidFill>
                <a:srgbClr val="121212"/>
              </a:solidFill>
              <a:latin typeface="DM Sans"/>
              <a:ea typeface="DM Sans"/>
              <a:cs typeface="DM Sans"/>
              <a:sym typeface="DM Sans"/>
            </a:endParaRPr>
          </a:p>
        </p:txBody>
      </p:sp>
      <p:sp>
        <p:nvSpPr>
          <p:cNvPr id="423" name="Google Shape;423;p31"/>
          <p:cNvSpPr txBox="1"/>
          <p:nvPr/>
        </p:nvSpPr>
        <p:spPr>
          <a:xfrm>
            <a:off x="866775" y="3838575"/>
            <a:ext cx="4600500" cy="2310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1500">
                <a:solidFill>
                  <a:srgbClr val="121212"/>
                </a:solidFill>
                <a:latin typeface="DM Sans"/>
                <a:ea typeface="DM Sans"/>
                <a:cs typeface="DM Sans"/>
                <a:sym typeface="DM Sans"/>
              </a:rPr>
              <a:t>Inicialización de Filas:</a:t>
            </a:r>
            <a:endParaRPr b="1" sz="1500">
              <a:solidFill>
                <a:srgbClr val="121212"/>
              </a:solidFill>
              <a:latin typeface="DM Sans"/>
              <a:ea typeface="DM Sans"/>
              <a:cs typeface="DM Sans"/>
              <a:sym typeface="DM Sans"/>
            </a:endParaRPr>
          </a:p>
        </p:txBody>
      </p:sp>
      <p:sp>
        <p:nvSpPr>
          <p:cNvPr id="424" name="Google Shape;424;p31"/>
          <p:cNvSpPr txBox="1"/>
          <p:nvPr/>
        </p:nvSpPr>
        <p:spPr>
          <a:xfrm>
            <a:off x="866775" y="4286250"/>
            <a:ext cx="4600500" cy="1077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en-US">
                <a:solidFill>
                  <a:srgbClr val="121212"/>
                </a:solidFill>
                <a:latin typeface="DM Sans"/>
                <a:ea typeface="DM Sans"/>
                <a:cs typeface="DM Sans"/>
                <a:sym typeface="DM Sans"/>
              </a:rPr>
              <a:t> Vector&lt;Vector&lt;Integer&gt;&gt; matriz = new Vector&lt;&gt;(List.of(</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new Vector&lt;&gt;(List.of(1,2)),</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new Vector&lt;&gt;(List.of(3,4))</a:t>
            </a:r>
            <a:endParaRPr>
              <a:solidFill>
                <a:srgbClr val="121212"/>
              </a:solidFill>
              <a:latin typeface="DM Sans"/>
              <a:ea typeface="DM Sans"/>
              <a:cs typeface="DM Sans"/>
              <a:sym typeface="DM Sans"/>
            </a:endParaRPr>
          </a:p>
          <a:p>
            <a:pPr indent="0" lvl="0" marL="0" rtl="0" algn="l">
              <a:spcBef>
                <a:spcPts val="0"/>
              </a:spcBef>
              <a:spcAft>
                <a:spcPts val="0"/>
              </a:spcAft>
              <a:buNone/>
            </a:pPr>
            <a:r>
              <a:rPr lang="en-US">
                <a:solidFill>
                  <a:srgbClr val="121212"/>
                </a:solidFill>
                <a:latin typeface="DM Sans"/>
                <a:ea typeface="DM Sans"/>
                <a:cs typeface="DM Sans"/>
                <a:sym typeface="DM Sans"/>
              </a:rPr>
              <a:t>    ));</a:t>
            </a:r>
            <a:endParaRPr>
              <a:solidFill>
                <a:srgbClr val="121212"/>
              </a:solidFill>
              <a:latin typeface="DM Sans"/>
              <a:ea typeface="DM Sans"/>
              <a:cs typeface="DM Sans"/>
              <a:sym typeface="DM Sans"/>
            </a:endParaRPr>
          </a:p>
        </p:txBody>
      </p:sp>
      <p:sp>
        <p:nvSpPr>
          <p:cNvPr id="425" name="Google Shape;425;p31"/>
          <p:cNvSpPr txBox="1"/>
          <p:nvPr/>
        </p:nvSpPr>
        <p:spPr>
          <a:xfrm>
            <a:off x="6724650" y="1781175"/>
            <a:ext cx="4830600" cy="369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2400">
                <a:solidFill>
                  <a:srgbClr val="005088"/>
                </a:solidFill>
                <a:latin typeface="Merriweather"/>
                <a:ea typeface="Merriweather"/>
                <a:cs typeface="Merriweather"/>
                <a:sym typeface="Merriweather"/>
              </a:rPr>
              <a:t>Métodos de Acceso</a:t>
            </a:r>
            <a:endParaRPr b="1" sz="2400">
              <a:solidFill>
                <a:srgbClr val="005088"/>
              </a:solidFill>
              <a:latin typeface="Merriweather"/>
              <a:ea typeface="Merriweather"/>
              <a:cs typeface="Merriweather"/>
              <a:sym typeface="Merriweather"/>
            </a:endParaRPr>
          </a:p>
        </p:txBody>
      </p:sp>
      <p:sp>
        <p:nvSpPr>
          <p:cNvPr id="426" name="Google Shape;426;p31"/>
          <p:cNvSpPr txBox="1"/>
          <p:nvPr/>
        </p:nvSpPr>
        <p:spPr>
          <a:xfrm>
            <a:off x="6724650" y="2305050"/>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Al usar la clase Vector, no usamos corchetes [] sino métodos de la API:</a:t>
            </a:r>
            <a:endParaRPr b="0" sz="1500">
              <a:solidFill>
                <a:srgbClr val="121212"/>
              </a:solidFill>
              <a:latin typeface="DM Sans"/>
              <a:ea typeface="DM Sans"/>
              <a:cs typeface="DM Sans"/>
              <a:sym typeface="DM Sans"/>
            </a:endParaRPr>
          </a:p>
        </p:txBody>
      </p:sp>
      <p:sp>
        <p:nvSpPr>
          <p:cNvPr id="427" name="Google Shape;427;p31"/>
          <p:cNvSpPr txBox="1"/>
          <p:nvPr/>
        </p:nvSpPr>
        <p:spPr>
          <a:xfrm>
            <a:off x="6724650" y="4962525"/>
            <a:ext cx="46005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i="1" lang="en-US" sz="1500">
                <a:solidFill>
                  <a:srgbClr val="121212"/>
                </a:solidFill>
                <a:latin typeface="DM Sans"/>
                <a:ea typeface="DM Sans"/>
                <a:cs typeface="DM Sans"/>
                <a:sym typeface="DM Sans"/>
              </a:rPr>
              <a:t>Ideal cuando la matriz necesita crecer dinámicamente en tiempo de ejecución.</a:t>
            </a:r>
            <a:endParaRPr b="0" i="1" sz="1500">
              <a:solidFill>
                <a:srgbClr val="121212"/>
              </a:solidFill>
              <a:latin typeface="DM Sans"/>
              <a:ea typeface="DM Sans"/>
              <a:cs typeface="DM Sans"/>
              <a:sym typeface="DM Sans"/>
            </a:endParaRPr>
          </a:p>
        </p:txBody>
      </p:sp>
      <p:sp>
        <p:nvSpPr>
          <p:cNvPr id="428" name="Google Shape;428;p31"/>
          <p:cNvSpPr txBox="1"/>
          <p:nvPr/>
        </p:nvSpPr>
        <p:spPr>
          <a:xfrm>
            <a:off x="6962775" y="3057525"/>
            <a:ext cx="43626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matriz.get(f).get(c);</a:t>
            </a:r>
            <a:endParaRPr b="0" sz="1500">
              <a:solidFill>
                <a:srgbClr val="121212"/>
              </a:solidFill>
              <a:latin typeface="DM Sans"/>
              <a:ea typeface="DM Sans"/>
              <a:cs typeface="DM Sans"/>
              <a:sym typeface="DM Sans"/>
            </a:endParaRPr>
          </a:p>
          <a:p>
            <a:pPr indent="0" lvl="0" marL="0" rtl="0" algn="l">
              <a:spcBef>
                <a:spcPts val="0"/>
              </a:spcBef>
              <a:spcAft>
                <a:spcPts val="0"/>
              </a:spcAft>
              <a:buNone/>
            </a:pPr>
            <a:r>
              <a:rPr b="0" lang="en-US" sz="1500">
                <a:solidFill>
                  <a:srgbClr val="121212"/>
                </a:solidFill>
                <a:latin typeface="DM Sans"/>
                <a:ea typeface="DM Sans"/>
                <a:cs typeface="DM Sans"/>
                <a:sym typeface="DM Sans"/>
              </a:rPr>
              <a:t>Obtiene el </a:t>
            </a:r>
            <a:r>
              <a:rPr b="1" lang="en-US" sz="1500">
                <a:solidFill>
                  <a:srgbClr val="121212"/>
                </a:solidFill>
                <a:latin typeface="DM Sans"/>
                <a:ea typeface="DM Sans"/>
                <a:cs typeface="DM Sans"/>
                <a:sym typeface="DM Sans"/>
              </a:rPr>
              <a:t>elemento</a:t>
            </a:r>
            <a:r>
              <a:rPr b="0" lang="en-US" sz="1500">
                <a:solidFill>
                  <a:srgbClr val="121212"/>
                </a:solidFill>
                <a:latin typeface="DM Sans"/>
                <a:ea typeface="DM Sans"/>
                <a:cs typeface="DM Sans"/>
                <a:sym typeface="DM Sans"/>
              </a:rPr>
              <a:t> en fila f, columna c.</a:t>
            </a:r>
            <a:endParaRPr b="0" sz="1500">
              <a:solidFill>
                <a:srgbClr val="121212"/>
              </a:solidFill>
              <a:latin typeface="DM Sans"/>
              <a:ea typeface="DM Sans"/>
              <a:cs typeface="DM Sans"/>
              <a:sym typeface="DM Sans"/>
            </a:endParaRPr>
          </a:p>
        </p:txBody>
      </p:sp>
      <p:sp>
        <p:nvSpPr>
          <p:cNvPr id="429" name="Google Shape;429;p31"/>
          <p:cNvSpPr txBox="1"/>
          <p:nvPr/>
        </p:nvSpPr>
        <p:spPr>
          <a:xfrm>
            <a:off x="6962775" y="3857625"/>
            <a:ext cx="4362600" cy="4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121212"/>
                </a:solidFill>
                <a:latin typeface="DM Sans"/>
                <a:ea typeface="DM Sans"/>
                <a:cs typeface="DM Sans"/>
                <a:sym typeface="DM Sans"/>
              </a:rPr>
              <a:t>matriz.size();</a:t>
            </a:r>
            <a:endParaRPr b="0" sz="1500">
              <a:solidFill>
                <a:srgbClr val="121212"/>
              </a:solidFill>
              <a:latin typeface="DM Sans"/>
              <a:ea typeface="DM Sans"/>
              <a:cs typeface="DM Sans"/>
              <a:sym typeface="DM Sans"/>
            </a:endParaRPr>
          </a:p>
          <a:p>
            <a:pPr indent="0" lvl="0" marL="0" rtl="0" algn="l">
              <a:spcBef>
                <a:spcPts val="0"/>
              </a:spcBef>
              <a:spcAft>
                <a:spcPts val="0"/>
              </a:spcAft>
              <a:buNone/>
            </a:pPr>
            <a:r>
              <a:rPr b="0" lang="en-US" sz="1500">
                <a:solidFill>
                  <a:srgbClr val="121212"/>
                </a:solidFill>
                <a:latin typeface="DM Sans"/>
                <a:ea typeface="DM Sans"/>
                <a:cs typeface="DM Sans"/>
                <a:sym typeface="DM Sans"/>
              </a:rPr>
              <a:t>Retorna la cantidad de </a:t>
            </a:r>
            <a:r>
              <a:rPr b="1" lang="en-US" sz="1500">
                <a:solidFill>
                  <a:srgbClr val="121212"/>
                </a:solidFill>
                <a:latin typeface="DM Sans"/>
                <a:ea typeface="DM Sans"/>
                <a:cs typeface="DM Sans"/>
                <a:sym typeface="DM Sans"/>
              </a:rPr>
              <a:t>filas</a:t>
            </a:r>
            <a:r>
              <a:rPr b="0" lang="en-US" sz="1500">
                <a:solidFill>
                  <a:srgbClr val="121212"/>
                </a:solidFill>
                <a:latin typeface="DM Sans"/>
                <a:ea typeface="DM Sans"/>
                <a:cs typeface="DM Sans"/>
                <a:sym typeface="DM Sans"/>
              </a:rPr>
              <a:t> (vectores internos).</a:t>
            </a:r>
            <a:endParaRPr b="0" sz="1500">
              <a:solidFill>
                <a:srgbClr val="121212"/>
              </a:solidFill>
              <a:latin typeface="DM Sans"/>
              <a:ea typeface="DM Sans"/>
              <a:cs typeface="DM Sans"/>
              <a:sym typeface="DM Sans"/>
            </a:endParaRPr>
          </a:p>
        </p:txBody>
      </p:sp>
      <p:sp>
        <p:nvSpPr>
          <p:cNvPr id="430" name="Google Shape;430;p31"/>
          <p:cNvSpPr txBox="1"/>
          <p:nvPr/>
        </p:nvSpPr>
        <p:spPr>
          <a:xfrm>
            <a:off x="6724650" y="3057525"/>
            <a:ext cx="19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31" name="Google Shape;431;p31"/>
          <p:cNvSpPr txBox="1"/>
          <p:nvPr/>
        </p:nvSpPr>
        <p:spPr>
          <a:xfrm>
            <a:off x="6724650" y="3857625"/>
            <a:ext cx="1905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1CAA0"/>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sp>
        <p:nvSpPr>
          <p:cNvPr id="432" name="Google Shape;432;p31"/>
          <p:cNvSpPr txBox="1"/>
          <p:nvPr/>
        </p:nvSpPr>
        <p:spPr>
          <a:xfrm>
            <a:off x="476250" y="476250"/>
            <a:ext cx="11715900" cy="5196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3375">
                <a:solidFill>
                  <a:srgbClr val="005088"/>
                </a:solidFill>
                <a:latin typeface="Merriweather"/>
                <a:ea typeface="Merriweather"/>
                <a:cs typeface="Merriweather"/>
                <a:sym typeface="Merriweather"/>
              </a:rPr>
              <a:t>Matrices con Clase Vector</a:t>
            </a:r>
            <a:endParaRPr b="1" sz="3375">
              <a:solidFill>
                <a:srgbClr val="005088"/>
              </a:solidFill>
              <a:latin typeface="Merriweather"/>
              <a:ea typeface="Merriweather"/>
              <a:cs typeface="Merriweather"/>
              <a:sym typeface="Merriweath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088"/>
        </a:solidFill>
      </p:bgPr>
    </p:bg>
    <p:spTree>
      <p:nvGrpSpPr>
        <p:cNvPr id="436" name="Shape 436"/>
        <p:cNvGrpSpPr/>
        <p:nvPr/>
      </p:nvGrpSpPr>
      <p:grpSpPr>
        <a:xfrm>
          <a:off x="0" y="0"/>
          <a:ext cx="0" cy="0"/>
          <a:chOff x="0" y="0"/>
          <a:chExt cx="0" cy="0"/>
        </a:xfrm>
      </p:grpSpPr>
      <p:pic>
        <p:nvPicPr>
          <p:cNvPr descr="image.png" id="437" name="Google Shape;437;p32"/>
          <p:cNvPicPr preferRelativeResize="0"/>
          <p:nvPr/>
        </p:nvPicPr>
        <p:blipFill rotWithShape="1">
          <a:blip r:embed="rId3">
            <a:alphaModFix/>
          </a:blip>
          <a:srcRect b="0" l="0" r="0" t="0"/>
          <a:stretch/>
        </p:blipFill>
        <p:spPr>
          <a:xfrm>
            <a:off x="-1905000" y="2095500"/>
            <a:ext cx="7620000" cy="7620000"/>
          </a:xfrm>
          <a:prstGeom prst="rect">
            <a:avLst/>
          </a:prstGeom>
          <a:noFill/>
          <a:ln>
            <a:noFill/>
          </a:ln>
        </p:spPr>
      </p:pic>
      <p:pic>
        <p:nvPicPr>
          <p:cNvPr descr="image.png" id="438" name="Google Shape;438;p32"/>
          <p:cNvPicPr preferRelativeResize="0"/>
          <p:nvPr/>
        </p:nvPicPr>
        <p:blipFill rotWithShape="1">
          <a:blip r:embed="rId4">
            <a:alphaModFix/>
          </a:blip>
          <a:srcRect b="0" l="0" r="0" t="0"/>
          <a:stretch/>
        </p:blipFill>
        <p:spPr>
          <a:xfrm>
            <a:off x="476250" y="1390650"/>
            <a:ext cx="5476875" cy="4505325"/>
          </a:xfrm>
          <a:prstGeom prst="rect">
            <a:avLst/>
          </a:prstGeom>
          <a:noFill/>
          <a:ln>
            <a:noFill/>
          </a:ln>
        </p:spPr>
      </p:pic>
      <p:pic>
        <p:nvPicPr>
          <p:cNvPr descr="image.png" id="439" name="Google Shape;439;p32"/>
          <p:cNvPicPr preferRelativeResize="0"/>
          <p:nvPr/>
        </p:nvPicPr>
        <p:blipFill rotWithShape="1">
          <a:blip r:embed="rId5">
            <a:alphaModFix/>
          </a:blip>
          <a:srcRect b="0" l="0" r="0" t="0"/>
          <a:stretch/>
        </p:blipFill>
        <p:spPr>
          <a:xfrm>
            <a:off x="6238875" y="1390650"/>
            <a:ext cx="5476875" cy="4505325"/>
          </a:xfrm>
          <a:prstGeom prst="rect">
            <a:avLst/>
          </a:prstGeom>
          <a:noFill/>
          <a:ln>
            <a:noFill/>
          </a:ln>
        </p:spPr>
      </p:pic>
      <p:pic>
        <p:nvPicPr>
          <p:cNvPr descr="image.png" id="440" name="Google Shape;440;p32"/>
          <p:cNvPicPr preferRelativeResize="0"/>
          <p:nvPr/>
        </p:nvPicPr>
        <p:blipFill rotWithShape="1">
          <a:blip r:embed="rId6">
            <a:alphaModFix/>
          </a:blip>
          <a:srcRect b="0" l="0" r="0" t="0"/>
          <a:stretch/>
        </p:blipFill>
        <p:spPr>
          <a:xfrm>
            <a:off x="781050" y="1695450"/>
            <a:ext cx="762000" cy="762000"/>
          </a:xfrm>
          <a:prstGeom prst="rect">
            <a:avLst/>
          </a:prstGeom>
          <a:noFill/>
          <a:ln>
            <a:noFill/>
          </a:ln>
        </p:spPr>
      </p:pic>
      <p:sp>
        <p:nvSpPr>
          <p:cNvPr id="441" name="Google Shape;441;p32"/>
          <p:cNvSpPr txBox="1"/>
          <p:nvPr/>
        </p:nvSpPr>
        <p:spPr>
          <a:xfrm>
            <a:off x="781050" y="2647950"/>
            <a:ext cx="30504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1CAA0"/>
                </a:solidFill>
                <a:latin typeface="Merriweather"/>
                <a:ea typeface="Merriweather"/>
                <a:cs typeface="Merriweather"/>
                <a:sym typeface="Merriweather"/>
              </a:rPr>
              <a:t>Ciclos for Anidados</a:t>
            </a:r>
            <a:endParaRPr b="0" i="0" sz="1400" u="none" cap="none" strike="noStrike">
              <a:solidFill>
                <a:srgbClr val="000000"/>
              </a:solidFill>
              <a:latin typeface="Arial"/>
              <a:ea typeface="Arial"/>
              <a:cs typeface="Arial"/>
              <a:sym typeface="Arial"/>
            </a:endParaRPr>
          </a:p>
        </p:txBody>
      </p:sp>
      <p:sp>
        <p:nvSpPr>
          <p:cNvPr id="442" name="Google Shape;442;p32"/>
          <p:cNvSpPr txBox="1"/>
          <p:nvPr/>
        </p:nvSpPr>
        <p:spPr>
          <a:xfrm>
            <a:off x="781050" y="3171825"/>
            <a:ext cx="48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El ciclo externo controla las filas y el ciclo interno recorre las columnas de esa fila específica.</a:t>
            </a:r>
            <a:endParaRPr b="0" i="0" sz="1400" u="none" cap="none" strike="noStrike">
              <a:solidFill>
                <a:srgbClr val="000000"/>
              </a:solidFill>
              <a:latin typeface="Arial"/>
              <a:ea typeface="Arial"/>
              <a:cs typeface="Arial"/>
              <a:sym typeface="Arial"/>
            </a:endParaRPr>
          </a:p>
        </p:txBody>
      </p:sp>
      <p:sp>
        <p:nvSpPr>
          <p:cNvPr id="443" name="Google Shape;443;p32"/>
          <p:cNvSpPr txBox="1"/>
          <p:nvPr/>
        </p:nvSpPr>
        <p:spPr>
          <a:xfrm>
            <a:off x="781050" y="3924300"/>
            <a:ext cx="3981600" cy="1154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500">
                <a:solidFill>
                  <a:srgbClr val="F3F0DF"/>
                </a:solidFill>
                <a:latin typeface="DM Sans"/>
                <a:ea typeface="DM Sans"/>
                <a:cs typeface="DM Sans"/>
                <a:sym typeface="DM Sans"/>
              </a:rPr>
              <a:t>for(int f=0; f &lt; matriz.size(); f++) {</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for(int c=0; c &lt; matriz.get(f).size(); c++) {</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print(matriz.get(f).get(c));</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a:p>
            <a:pPr indent="0" lvl="0" marL="0" rtl="0" algn="l">
              <a:spcBef>
                <a:spcPts val="0"/>
              </a:spcBef>
              <a:spcAft>
                <a:spcPts val="0"/>
              </a:spcAft>
              <a:buNone/>
            </a:pPr>
            <a:r>
              <a:rPr b="0" lang="en-US" sz="1500">
                <a:solidFill>
                  <a:srgbClr val="F3F0DF"/>
                </a:solidFill>
                <a:latin typeface="DM Sans"/>
                <a:ea typeface="DM Sans"/>
                <a:cs typeface="DM Sans"/>
                <a:sym typeface="DM Sans"/>
              </a:rPr>
              <a:t>}</a:t>
            </a:r>
            <a:endParaRPr b="0" sz="1500">
              <a:solidFill>
                <a:srgbClr val="F3F0DF"/>
              </a:solidFill>
              <a:latin typeface="DM Sans"/>
              <a:ea typeface="DM Sans"/>
              <a:cs typeface="DM Sans"/>
              <a:sym typeface="DM Sans"/>
            </a:endParaRPr>
          </a:p>
        </p:txBody>
      </p:sp>
      <p:pic>
        <p:nvPicPr>
          <p:cNvPr descr="image.png" id="444" name="Google Shape;444;p32"/>
          <p:cNvPicPr preferRelativeResize="0"/>
          <p:nvPr/>
        </p:nvPicPr>
        <p:blipFill rotWithShape="1">
          <a:blip r:embed="rId7">
            <a:alphaModFix/>
          </a:blip>
          <a:srcRect b="0" l="0" r="0" t="0"/>
          <a:stretch/>
        </p:blipFill>
        <p:spPr>
          <a:xfrm>
            <a:off x="6543675" y="1695450"/>
            <a:ext cx="762000" cy="762000"/>
          </a:xfrm>
          <a:prstGeom prst="rect">
            <a:avLst/>
          </a:prstGeom>
          <a:noFill/>
          <a:ln>
            <a:noFill/>
          </a:ln>
        </p:spPr>
      </p:pic>
      <p:sp>
        <p:nvSpPr>
          <p:cNvPr id="445" name="Google Shape;445;p32"/>
          <p:cNvSpPr txBox="1"/>
          <p:nvPr/>
        </p:nvSpPr>
        <p:spPr>
          <a:xfrm>
            <a:off x="6543675" y="2647950"/>
            <a:ext cx="24102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11CAA0"/>
                </a:solidFill>
                <a:latin typeface="Merriweather"/>
                <a:ea typeface="Merriweather"/>
                <a:cs typeface="Merriweather"/>
                <a:sym typeface="Merriweather"/>
              </a:rPr>
              <a:t>For-Each Anidado</a:t>
            </a:r>
            <a:endParaRPr b="0" i="0" sz="1400" u="none" cap="none" strike="noStrike">
              <a:solidFill>
                <a:srgbClr val="000000"/>
              </a:solidFill>
              <a:latin typeface="Arial"/>
              <a:ea typeface="Arial"/>
              <a:cs typeface="Arial"/>
              <a:sym typeface="Arial"/>
            </a:endParaRPr>
          </a:p>
        </p:txBody>
      </p:sp>
      <p:sp>
        <p:nvSpPr>
          <p:cNvPr id="446" name="Google Shape;446;p32"/>
          <p:cNvSpPr txBox="1"/>
          <p:nvPr/>
        </p:nvSpPr>
        <p:spPr>
          <a:xfrm>
            <a:off x="6543675" y="3548063"/>
            <a:ext cx="4867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El primer ciclo extrae un vector (una fila completa). El segundo extrae el elemento de ese vector.</a:t>
            </a:r>
            <a:endParaRPr b="0" i="0" sz="1400" u="none" cap="none" strike="noStrike">
              <a:solidFill>
                <a:srgbClr val="000000"/>
              </a:solidFill>
              <a:latin typeface="Arial"/>
              <a:ea typeface="Arial"/>
              <a:cs typeface="Arial"/>
              <a:sym typeface="Arial"/>
            </a:endParaRPr>
          </a:p>
        </p:txBody>
      </p:sp>
      <p:sp>
        <p:nvSpPr>
          <p:cNvPr id="447" name="Google Shape;447;p32"/>
          <p:cNvSpPr txBox="1"/>
          <p:nvPr/>
        </p:nvSpPr>
        <p:spPr>
          <a:xfrm>
            <a:off x="6543675" y="4300538"/>
            <a:ext cx="2933700" cy="1462200"/>
          </a:xfrm>
          <a:prstGeom prst="rect">
            <a:avLst/>
          </a:prstGeom>
          <a:noFill/>
          <a:ln>
            <a:noFill/>
          </a:ln>
        </p:spPr>
        <p:txBody>
          <a:bodyPr anchorCtr="0" anchor="t" bIns="0" lIns="0" spcFirstLastPara="1" rIns="0" wrap="square" tIns="0">
            <a:spAutoFit/>
          </a:bodyPr>
          <a:lstStyle/>
          <a:p>
            <a:pPr indent="0" lvl="0" marL="0" marR="0" rtl="0" algn="l">
              <a:lnSpc>
                <a:spcPct val="133333"/>
              </a:lnSpc>
              <a:spcBef>
                <a:spcPts val="0"/>
              </a:spcBef>
              <a:spcAft>
                <a:spcPts val="0"/>
              </a:spcAft>
              <a:buClr>
                <a:srgbClr val="000000"/>
              </a:buClr>
              <a:buSzPts val="1500"/>
              <a:buFont typeface="Arial"/>
              <a:buNone/>
            </a:pPr>
            <a:r>
              <a:rPr b="0" i="0" lang="en-US" sz="1500" u="none" cap="none" strike="noStrike">
                <a:solidFill>
                  <a:srgbClr val="F3F0DF"/>
                </a:solidFill>
                <a:latin typeface="DM Sans"/>
                <a:ea typeface="DM Sans"/>
                <a:cs typeface="DM Sans"/>
                <a:sym typeface="DM Sans"/>
              </a:rPr>
              <a:t>for(int[] fila : matriz)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for(int elemento : fila)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print(elemento);</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   }</a:t>
            </a:r>
            <a:br>
              <a:rPr b="0" i="0" lang="en-US" sz="1800" u="none" cap="none" strike="noStrike">
                <a:solidFill>
                  <a:schemeClr val="dk1"/>
                </a:solidFill>
                <a:latin typeface="Calibri"/>
                <a:ea typeface="Calibri"/>
                <a:cs typeface="Calibri"/>
                <a:sym typeface="Calibri"/>
              </a:rPr>
            </a:br>
            <a:r>
              <a:rPr b="0" i="0" lang="en-US" sz="1500" u="none" cap="none" strike="noStrike">
                <a:solidFill>
                  <a:srgbClr val="F3F0DF"/>
                </a:solidFill>
                <a:latin typeface="DM Sans"/>
                <a:ea typeface="DM Sans"/>
                <a:cs typeface="DM Sans"/>
                <a:sym typeface="DM Sans"/>
              </a:rPr>
              <a:t>}</a:t>
            </a:r>
            <a:endParaRPr b="0" i="0" sz="1400" u="none" cap="none" strike="noStrike">
              <a:solidFill>
                <a:srgbClr val="000000"/>
              </a:solidFill>
              <a:latin typeface="Arial"/>
              <a:ea typeface="Arial"/>
              <a:cs typeface="Arial"/>
              <a:sym typeface="Arial"/>
            </a:endParaRPr>
          </a:p>
        </p:txBody>
      </p:sp>
      <p:pic>
        <p:nvPicPr>
          <p:cNvPr descr="image.png" id="448" name="Google Shape;448;p32"/>
          <p:cNvPicPr preferRelativeResize="0"/>
          <p:nvPr/>
        </p:nvPicPr>
        <p:blipFill rotWithShape="1">
          <a:blip r:embed="rId8">
            <a:alphaModFix/>
          </a:blip>
          <a:srcRect b="0" l="0" r="0" t="0"/>
          <a:stretch/>
        </p:blipFill>
        <p:spPr>
          <a:xfrm>
            <a:off x="971550" y="1885950"/>
            <a:ext cx="381000" cy="381000"/>
          </a:xfrm>
          <a:prstGeom prst="rect">
            <a:avLst/>
          </a:prstGeom>
          <a:noFill/>
          <a:ln>
            <a:noFill/>
          </a:ln>
        </p:spPr>
      </p:pic>
      <p:pic>
        <p:nvPicPr>
          <p:cNvPr descr="image.png" id="449" name="Google Shape;449;p32"/>
          <p:cNvPicPr preferRelativeResize="0"/>
          <p:nvPr/>
        </p:nvPicPr>
        <p:blipFill rotWithShape="1">
          <a:blip r:embed="rId9">
            <a:alphaModFix/>
          </a:blip>
          <a:srcRect b="0" l="0" r="0" t="0"/>
          <a:stretch/>
        </p:blipFill>
        <p:spPr>
          <a:xfrm>
            <a:off x="6710362" y="1885950"/>
            <a:ext cx="428625" cy="381000"/>
          </a:xfrm>
          <a:prstGeom prst="rect">
            <a:avLst/>
          </a:prstGeom>
          <a:noFill/>
          <a:ln>
            <a:noFill/>
          </a:ln>
        </p:spPr>
      </p:pic>
      <p:sp>
        <p:nvSpPr>
          <p:cNvPr id="450" name="Google Shape;450;p32"/>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F3F0DF"/>
                </a:solidFill>
                <a:latin typeface="Merriweather"/>
                <a:ea typeface="Merriweather"/>
                <a:cs typeface="Merriweather"/>
                <a:sym typeface="Merriweather"/>
              </a:rPr>
              <a:t>Mapeando la Matriz</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0DF"/>
        </a:solidFill>
      </p:bgPr>
    </p:bg>
    <p:spTree>
      <p:nvGrpSpPr>
        <p:cNvPr id="454" name="Shape 454"/>
        <p:cNvGrpSpPr/>
        <p:nvPr/>
      </p:nvGrpSpPr>
      <p:grpSpPr>
        <a:xfrm>
          <a:off x="0" y="0"/>
          <a:ext cx="0" cy="0"/>
          <a:chOff x="0" y="0"/>
          <a:chExt cx="0" cy="0"/>
        </a:xfrm>
      </p:grpSpPr>
      <p:pic>
        <p:nvPicPr>
          <p:cNvPr descr="image.png" id="455" name="Google Shape;455;p33"/>
          <p:cNvPicPr preferRelativeResize="0"/>
          <p:nvPr/>
        </p:nvPicPr>
        <p:blipFill rotWithShape="1">
          <a:blip r:embed="rId3">
            <a:alphaModFix/>
          </a:blip>
          <a:srcRect b="0" l="0" r="0" t="0"/>
          <a:stretch/>
        </p:blipFill>
        <p:spPr>
          <a:xfrm>
            <a:off x="476250" y="1390650"/>
            <a:ext cx="5381625" cy="4991100"/>
          </a:xfrm>
          <a:prstGeom prst="rect">
            <a:avLst/>
          </a:prstGeom>
          <a:noFill/>
          <a:ln>
            <a:noFill/>
          </a:ln>
        </p:spPr>
      </p:pic>
      <p:pic>
        <p:nvPicPr>
          <p:cNvPr descr="image.png" id="456" name="Google Shape;456;p33"/>
          <p:cNvPicPr preferRelativeResize="0"/>
          <p:nvPr/>
        </p:nvPicPr>
        <p:blipFill rotWithShape="1">
          <a:blip r:embed="rId3">
            <a:alphaModFix/>
          </a:blip>
          <a:srcRect b="0" l="0" r="0" t="0"/>
          <a:stretch/>
        </p:blipFill>
        <p:spPr>
          <a:xfrm>
            <a:off x="6334125" y="1390650"/>
            <a:ext cx="5381625" cy="4991100"/>
          </a:xfrm>
          <a:prstGeom prst="rect">
            <a:avLst/>
          </a:prstGeom>
          <a:noFill/>
          <a:ln>
            <a:noFill/>
          </a:ln>
        </p:spPr>
      </p:pic>
      <p:sp>
        <p:nvSpPr>
          <p:cNvPr id="457" name="Google Shape;457;p33"/>
          <p:cNvSpPr txBox="1"/>
          <p:nvPr/>
        </p:nvSpPr>
        <p:spPr>
          <a:xfrm>
            <a:off x="866775" y="1781175"/>
            <a:ext cx="4830603" cy="38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5088"/>
                </a:solidFill>
                <a:latin typeface="Merriweather"/>
                <a:ea typeface="Merriweather"/>
                <a:cs typeface="Merriweather"/>
                <a:sym typeface="Merriweather"/>
              </a:rPr>
              <a:t>Sumas Independientes</a:t>
            </a:r>
            <a:endParaRPr b="0" i="0" sz="1400" u="none" cap="none" strike="noStrike">
              <a:solidFill>
                <a:srgbClr val="000000"/>
              </a:solidFill>
              <a:latin typeface="Arial"/>
              <a:ea typeface="Arial"/>
              <a:cs typeface="Arial"/>
              <a:sym typeface="Arial"/>
            </a:endParaRPr>
          </a:p>
        </p:txBody>
      </p:sp>
      <p:sp>
        <p:nvSpPr>
          <p:cNvPr id="458" name="Google Shape;458;p33"/>
          <p:cNvSpPr txBox="1"/>
          <p:nvPr/>
        </p:nvSpPr>
        <p:spPr>
          <a:xfrm>
            <a:off x="866775" y="2305050"/>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Suma por Filas:</a:t>
            </a:r>
            <a:r>
              <a:rPr b="0" i="0" lang="en-US" sz="1500" u="none" cap="none" strike="noStrike">
                <a:solidFill>
                  <a:srgbClr val="121212"/>
                </a:solidFill>
                <a:latin typeface="DM Sans"/>
                <a:ea typeface="DM Sans"/>
                <a:cs typeface="DM Sans"/>
                <a:sym typeface="DM Sans"/>
              </a:rPr>
              <a:t> Acumular los datos horizontalmente (ej. total de ventas de un solo vendedor en todos los meses).</a:t>
            </a:r>
            <a:endParaRPr b="0" i="0" sz="1400" u="none" cap="none" strike="noStrike">
              <a:solidFill>
                <a:srgbClr val="000000"/>
              </a:solidFill>
              <a:latin typeface="Arial"/>
              <a:ea typeface="Arial"/>
              <a:cs typeface="Arial"/>
              <a:sym typeface="Arial"/>
            </a:endParaRPr>
          </a:p>
        </p:txBody>
      </p:sp>
      <p:sp>
        <p:nvSpPr>
          <p:cNvPr id="459" name="Google Shape;459;p33"/>
          <p:cNvSpPr txBox="1"/>
          <p:nvPr/>
        </p:nvSpPr>
        <p:spPr>
          <a:xfrm>
            <a:off x="866775" y="3362325"/>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Suma por Columnas:</a:t>
            </a:r>
            <a:r>
              <a:rPr b="0" i="0" lang="en-US" sz="1500" u="none" cap="none" strike="noStrike">
                <a:solidFill>
                  <a:srgbClr val="121212"/>
                </a:solidFill>
                <a:latin typeface="DM Sans"/>
                <a:ea typeface="DM Sans"/>
                <a:cs typeface="DM Sans"/>
                <a:sym typeface="DM Sans"/>
              </a:rPr>
              <a:t> Acumular los datos verticalmente (ej. total vendido por todos los vendedores en un mes específico).</a:t>
            </a:r>
            <a:endParaRPr b="0" i="0" sz="1400" u="none" cap="none" strike="noStrike">
              <a:solidFill>
                <a:srgbClr val="000000"/>
              </a:solidFill>
              <a:latin typeface="Arial"/>
              <a:ea typeface="Arial"/>
              <a:cs typeface="Arial"/>
              <a:sym typeface="Arial"/>
            </a:endParaRPr>
          </a:p>
        </p:txBody>
      </p:sp>
      <p:sp>
        <p:nvSpPr>
          <p:cNvPr id="460" name="Google Shape;460;p33"/>
          <p:cNvSpPr txBox="1"/>
          <p:nvPr/>
        </p:nvSpPr>
        <p:spPr>
          <a:xfrm>
            <a:off x="866775" y="4419600"/>
            <a:ext cx="46005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Requiere manipular qué variable de control del ciclo se mantiene estática mientras la otra avanza.</a:t>
            </a:r>
            <a:endParaRPr b="0" i="0" sz="1400" u="none" cap="none" strike="noStrike">
              <a:solidFill>
                <a:srgbClr val="000000"/>
              </a:solidFill>
              <a:latin typeface="Arial"/>
              <a:ea typeface="Arial"/>
              <a:cs typeface="Arial"/>
              <a:sym typeface="Arial"/>
            </a:endParaRPr>
          </a:p>
        </p:txBody>
      </p:sp>
      <p:sp>
        <p:nvSpPr>
          <p:cNvPr id="461" name="Google Shape;461;p33"/>
          <p:cNvSpPr txBox="1"/>
          <p:nvPr/>
        </p:nvSpPr>
        <p:spPr>
          <a:xfrm>
            <a:off x="6724650" y="1781175"/>
            <a:ext cx="4830603" cy="762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5088"/>
                </a:solidFill>
                <a:latin typeface="Merriweather"/>
                <a:ea typeface="Merriweather"/>
                <a:cs typeface="Merriweather"/>
                <a:sym typeface="Merriweather"/>
              </a:rPr>
              <a:t>Matrices Cuadradas y Diagonales</a:t>
            </a:r>
            <a:endParaRPr b="0" i="0" sz="1400" u="none" cap="none" strike="noStrike">
              <a:solidFill>
                <a:srgbClr val="000000"/>
              </a:solidFill>
              <a:latin typeface="Arial"/>
              <a:ea typeface="Arial"/>
              <a:cs typeface="Arial"/>
              <a:sym typeface="Arial"/>
            </a:endParaRPr>
          </a:p>
        </p:txBody>
      </p:sp>
      <p:sp>
        <p:nvSpPr>
          <p:cNvPr id="462" name="Google Shape;462;p33"/>
          <p:cNvSpPr txBox="1"/>
          <p:nvPr/>
        </p:nvSpPr>
        <p:spPr>
          <a:xfrm>
            <a:off x="6724650" y="2686050"/>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Matriz Cuadrada:</a:t>
            </a:r>
            <a:r>
              <a:rPr b="0" i="0" lang="en-US" sz="1500" u="none" cap="none" strike="noStrike">
                <a:solidFill>
                  <a:srgbClr val="121212"/>
                </a:solidFill>
                <a:latin typeface="DM Sans"/>
                <a:ea typeface="DM Sans"/>
                <a:cs typeface="DM Sans"/>
                <a:sym typeface="DM Sans"/>
              </a:rPr>
              <a:t> Aquella donde el número de filas es exactamente igual al número de columnas (ej. 3x3).</a:t>
            </a:r>
            <a:endParaRPr b="0" i="0" sz="1400" u="none" cap="none" strike="noStrike">
              <a:solidFill>
                <a:srgbClr val="000000"/>
              </a:solidFill>
              <a:latin typeface="Arial"/>
              <a:ea typeface="Arial"/>
              <a:cs typeface="Arial"/>
              <a:sym typeface="Arial"/>
            </a:endParaRPr>
          </a:p>
        </p:txBody>
      </p:sp>
      <p:sp>
        <p:nvSpPr>
          <p:cNvPr id="463" name="Google Shape;463;p33"/>
          <p:cNvSpPr txBox="1"/>
          <p:nvPr/>
        </p:nvSpPr>
        <p:spPr>
          <a:xfrm>
            <a:off x="6724650" y="3743325"/>
            <a:ext cx="46005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1" i="0" lang="en-US" sz="1500" u="none" cap="none" strike="noStrike">
                <a:solidFill>
                  <a:srgbClr val="121212"/>
                </a:solidFill>
                <a:latin typeface="DM Sans"/>
                <a:ea typeface="DM Sans"/>
                <a:cs typeface="DM Sans"/>
                <a:sym typeface="DM Sans"/>
              </a:rPr>
              <a:t>Diagonal Principal:</a:t>
            </a:r>
            <a:r>
              <a:rPr b="0" i="0" lang="en-US" sz="1500" u="none" cap="none" strike="noStrike">
                <a:solidFill>
                  <a:srgbClr val="121212"/>
                </a:solidFill>
                <a:latin typeface="DM Sans"/>
                <a:ea typeface="DM Sans"/>
                <a:cs typeface="DM Sans"/>
                <a:sym typeface="DM Sans"/>
              </a:rPr>
              <a:t> Es la línea de elementos que cruza desde [0][0] hasta la esquina inferior derecha.</a:t>
            </a:r>
            <a:endParaRPr b="0" i="0" sz="1400" u="none" cap="none" strike="noStrike">
              <a:solidFill>
                <a:srgbClr val="000000"/>
              </a:solidFill>
              <a:latin typeface="Arial"/>
              <a:ea typeface="Arial"/>
              <a:cs typeface="Arial"/>
              <a:sym typeface="Arial"/>
            </a:endParaRPr>
          </a:p>
        </p:txBody>
      </p:sp>
      <p:sp>
        <p:nvSpPr>
          <p:cNvPr id="464" name="Google Shape;464;p33"/>
          <p:cNvSpPr txBox="1"/>
          <p:nvPr/>
        </p:nvSpPr>
        <p:spPr>
          <a:xfrm>
            <a:off x="6724650" y="4800600"/>
            <a:ext cx="4600575"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00"/>
              <a:buFont typeface="Arial"/>
              <a:buNone/>
            </a:pPr>
            <a:r>
              <a:rPr b="0" i="1" lang="en-US" sz="1500" u="none" cap="none" strike="noStrike">
                <a:solidFill>
                  <a:srgbClr val="121212"/>
                </a:solidFill>
                <a:latin typeface="DM Sans"/>
                <a:ea typeface="DM Sans"/>
                <a:cs typeface="DM Sans"/>
                <a:sym typeface="DM Sans"/>
              </a:rPr>
              <a:t>Condición lógica clave: fila == columna.</a:t>
            </a:r>
            <a:endParaRPr b="0" i="0" sz="1400" u="none" cap="none" strike="noStrike">
              <a:solidFill>
                <a:srgbClr val="000000"/>
              </a:solidFill>
              <a:latin typeface="Arial"/>
              <a:ea typeface="Arial"/>
              <a:cs typeface="Arial"/>
              <a:sym typeface="Arial"/>
            </a:endParaRPr>
          </a:p>
        </p:txBody>
      </p:sp>
      <p:sp>
        <p:nvSpPr>
          <p:cNvPr id="465" name="Google Shape;465;p33"/>
          <p:cNvSpPr txBox="1"/>
          <p:nvPr/>
        </p:nvSpPr>
        <p:spPr>
          <a:xfrm>
            <a:off x="476250" y="476250"/>
            <a:ext cx="11715900" cy="519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375"/>
              <a:buFont typeface="Arial"/>
              <a:buNone/>
            </a:pPr>
            <a:r>
              <a:rPr b="1" i="0" lang="en-US" sz="3375" u="none" cap="none" strike="noStrike">
                <a:solidFill>
                  <a:srgbClr val="005088"/>
                </a:solidFill>
                <a:latin typeface="Merriweather"/>
                <a:ea typeface="Merriweather"/>
                <a:cs typeface="Merriweather"/>
                <a:sym typeface="Merriweather"/>
              </a:rPr>
              <a:t>Lógica Espacial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9" name="Shape 469"/>
        <p:cNvGrpSpPr/>
        <p:nvPr/>
      </p:nvGrpSpPr>
      <p:grpSpPr>
        <a:xfrm>
          <a:off x="0" y="0"/>
          <a:ext cx="0" cy="0"/>
          <a:chOff x="0" y="0"/>
          <a:chExt cx="0" cy="0"/>
        </a:xfrm>
      </p:grpSpPr>
      <p:pic>
        <p:nvPicPr>
          <p:cNvPr id="470" name="Google Shape;470;p34"/>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471" name="Google Shape;471;p34"/>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34"/>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1: </a:t>
            </a:r>
            <a:r>
              <a:rPr b="1" lang="en-US" sz="3200">
                <a:solidFill>
                  <a:srgbClr val="005088"/>
                </a:solidFill>
                <a:latin typeface="Merriweather"/>
                <a:ea typeface="Merriweather"/>
                <a:cs typeface="Merriweather"/>
                <a:sym typeface="Merriweather"/>
              </a:rPr>
              <a:t>Control de Platillos</a:t>
            </a:r>
            <a:endParaRPr b="1" sz="3200">
              <a:solidFill>
                <a:srgbClr val="005088"/>
              </a:solidFill>
              <a:latin typeface="Merriweather"/>
              <a:ea typeface="Merriweather"/>
              <a:cs typeface="Merriweather"/>
              <a:sym typeface="Merriweather"/>
            </a:endParaRPr>
          </a:p>
        </p:txBody>
      </p:sp>
      <p:sp>
        <p:nvSpPr>
          <p:cNvPr id="473" name="Google Shape;473;p34"/>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4" name="Google Shape;474;p34"/>
          <p:cNvGrpSpPr/>
          <p:nvPr/>
        </p:nvGrpSpPr>
        <p:grpSpPr>
          <a:xfrm>
            <a:off x="666750" y="1524000"/>
            <a:ext cx="3238500" cy="4572150"/>
            <a:chOff x="666750" y="1524000"/>
            <a:chExt cx="3238500" cy="4572150"/>
          </a:xfrm>
        </p:grpSpPr>
        <p:sp>
          <p:nvSpPr>
            <p:cNvPr id="475" name="Google Shape;475;p34"/>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476" name="Google Shape;476;p34"/>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El gerente de un restaurante te pide diseñar el módulo del menú digital para el restaurante. El sistema debe permitir registrar platillos con sus precios, pero también reaccionar rápido si la inflación obliga a subir un precio o si un ingrediente se agota por completo.</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477" name="Google Shape;477;p34"/>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78" name="Google Shape;478;p34"/>
          <p:cNvGrpSpPr/>
          <p:nvPr/>
        </p:nvGrpSpPr>
        <p:grpSpPr>
          <a:xfrm>
            <a:off x="4476750" y="1428751"/>
            <a:ext cx="7048500" cy="4762641"/>
            <a:chOff x="4476750" y="1524000"/>
            <a:chExt cx="7048500" cy="4571989"/>
          </a:xfrm>
        </p:grpSpPr>
        <p:sp>
          <p:nvSpPr>
            <p:cNvPr id="479" name="Google Shape;479;p34"/>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480" name="Google Shape;480;p34"/>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Estructura Inicial:</a:t>
              </a:r>
              <a:r>
                <a:rPr lang="en-US" sz="1600">
                  <a:solidFill>
                    <a:schemeClr val="dk1"/>
                  </a:solidFill>
                </a:rPr>
                <a:t> Crea una matriz dinámica donde cada fila </a:t>
              </a:r>
              <a:r>
                <a:rPr lang="en-US" sz="1600">
                  <a:solidFill>
                    <a:schemeClr val="dk1"/>
                  </a:solidFill>
                </a:rPr>
                <a:t>representa</a:t>
              </a:r>
              <a:r>
                <a:rPr lang="en-US" sz="1600">
                  <a:solidFill>
                    <a:schemeClr val="dk1"/>
                  </a:solidFill>
                </a:rPr>
                <a:t> un platillo del menú </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Ingreso Masivo:</a:t>
              </a:r>
              <a:r>
                <a:rPr lang="en-US" sz="1600">
                  <a:solidFill>
                    <a:schemeClr val="dk1"/>
                  </a:solidFill>
                </a:rPr>
                <a:t> Inicializa el menú agregando consecutivamente tres filas (platillos) </a:t>
              </a:r>
              <a:r>
                <a:rPr lang="en-US" sz="1600">
                  <a:solidFill>
                    <a:schemeClr val="dk1"/>
                  </a:solidFill>
                </a:rPr>
                <a:t>con los siguientes datos: </a:t>
              </a:r>
              <a:r>
                <a:rPr lang="en-US" sz="1600">
                  <a:solidFill>
                    <a:srgbClr val="188038"/>
                  </a:solidFill>
                </a:rPr>
                <a:t>["Hamburguesa", 155.40]</a:t>
              </a:r>
              <a:r>
                <a:rPr lang="en-US" sz="1600">
                  <a:solidFill>
                    <a:schemeClr val="dk1"/>
                  </a:solidFill>
                </a:rPr>
                <a:t>, </a:t>
              </a:r>
              <a:r>
                <a:rPr lang="en-US" sz="1600">
                  <a:solidFill>
                    <a:srgbClr val="188038"/>
                  </a:solidFill>
                </a:rPr>
                <a:t>["Papas Fritas", 60.25]</a:t>
              </a:r>
              <a:r>
                <a:rPr lang="en-US" sz="1600">
                  <a:solidFill>
                    <a:schemeClr val="dk1"/>
                  </a:solidFill>
                </a:rPr>
                <a:t> y </a:t>
              </a:r>
              <a:r>
                <a:rPr lang="en-US" sz="1600">
                  <a:solidFill>
                    <a:srgbClr val="188038"/>
                  </a:solidFill>
                </a:rPr>
                <a:t>["Refresco", 32.50]</a:t>
              </a:r>
              <a:r>
                <a:rPr lang="en-US" sz="1600">
                  <a:solidFill>
                    <a:schemeClr val="dk1"/>
                  </a:solidFill>
                </a:rPr>
                <a:t>.</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Actualización de Precios:</a:t>
              </a:r>
              <a:r>
                <a:rPr lang="en-US" sz="1600">
                  <a:solidFill>
                    <a:schemeClr val="dk1"/>
                  </a:solidFill>
                </a:rPr>
                <a:t> Debido al incremento en el precio de las papas a nivel nacional, localiza la fila correspondiente a las "Papas Fritas" (asume que conoces su posición física en la matriz) y </a:t>
              </a:r>
              <a:r>
                <a:rPr b="1" lang="en-US" sz="1600">
                  <a:solidFill>
                    <a:schemeClr val="dk1"/>
                  </a:solidFill>
                </a:rPr>
                <a:t>actualiza su precio</a:t>
              </a:r>
              <a:r>
                <a:rPr lang="en-US" sz="1600">
                  <a:solidFill>
                    <a:schemeClr val="dk1"/>
                  </a:solidFill>
                </a:rPr>
                <a:t> a </a:t>
              </a:r>
              <a:r>
                <a:rPr lang="en-US" sz="1600">
                  <a:solidFill>
                    <a:srgbClr val="188038"/>
                  </a:solidFill>
                </a:rPr>
                <a:t>68.00</a:t>
              </a:r>
              <a:r>
                <a:rPr lang="en-US" sz="1600">
                  <a:solidFill>
                    <a:schemeClr val="dk1"/>
                  </a:solidFill>
                </a:rPr>
                <a:t> sin alterar el nombre del producto.</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Platillo Agotado:</a:t>
              </a:r>
              <a:r>
                <a:rPr lang="en-US" sz="1600">
                  <a:solidFill>
                    <a:schemeClr val="dk1"/>
                  </a:solidFill>
                </a:rPr>
                <a:t> El restaurante reporta que se terminó el pan para hamburguesas. Elimina  "Hamburguesa" del menú.</a:t>
              </a:r>
              <a:endParaRPr sz="1600">
                <a:solidFill>
                  <a:schemeClr val="dk1"/>
                </a:solidFill>
              </a:endParaRPr>
            </a:p>
            <a:p>
              <a:pPr indent="-330200" lvl="0" marL="457200" rtl="0" algn="l">
                <a:lnSpc>
                  <a:spcPct val="115000"/>
                </a:lnSpc>
                <a:spcBef>
                  <a:spcPts val="0"/>
                </a:spcBef>
                <a:spcAft>
                  <a:spcPts val="0"/>
                </a:spcAft>
                <a:buClr>
                  <a:schemeClr val="dk1"/>
                </a:buClr>
                <a:buSzPts val="1600"/>
                <a:buAutoNum type="arabicPeriod"/>
              </a:pPr>
              <a:r>
                <a:rPr b="1" lang="en-US" sz="1600">
                  <a:solidFill>
                    <a:schemeClr val="dk1"/>
                  </a:solidFill>
                </a:rPr>
                <a:t>Visualización:</a:t>
              </a:r>
              <a:r>
                <a:rPr lang="en-US" sz="1600">
                  <a:solidFill>
                    <a:schemeClr val="dk1"/>
                  </a:solidFill>
                </a:rPr>
                <a:t> Imprime ell menú final disponible.</a:t>
              </a:r>
              <a:endParaRPr sz="1600">
                <a:solidFill>
                  <a:schemeClr val="dk1"/>
                </a:solidFill>
              </a:endParaRPr>
            </a:p>
            <a:p>
              <a:pPr indent="0" lvl="0" marL="457200" rtl="0" algn="l">
                <a:lnSpc>
                  <a:spcPct val="115000"/>
                </a:lnSpc>
                <a:spcBef>
                  <a:spcPts val="1200"/>
                </a:spcBef>
                <a:spcAft>
                  <a:spcPts val="0"/>
                </a:spcAft>
                <a:buNone/>
              </a:pPr>
              <a:r>
                <a:t/>
              </a:r>
              <a:endParaRPr b="1" sz="11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481" name="Google Shape;481;p34"/>
            <p:cNvSpPr/>
            <p:nvPr/>
          </p:nvSpPr>
          <p:spPr>
            <a:xfrm>
              <a:off x="4476750" y="5609989"/>
              <a:ext cx="7048500" cy="486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34"/>
            <p:cNvSpPr txBox="1"/>
            <p:nvPr/>
          </p:nvSpPr>
          <p:spPr>
            <a:xfrm>
              <a:off x="4572000" y="5577877"/>
              <a:ext cx="6858000" cy="4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005088"/>
                  </a:solidFill>
                  <a:latin typeface="Arial"/>
                  <a:ea typeface="Arial"/>
                  <a:cs typeface="Arial"/>
                  <a:sym typeface="Arial"/>
                </a:rPr>
                <a:t>Métodos de Vector a utilizar: </a:t>
              </a:r>
              <a:r>
                <a:rPr lang="en-US" sz="1100">
                  <a:solidFill>
                    <a:srgbClr val="188038"/>
                  </a:solidFill>
                  <a:latin typeface="Roboto Mono"/>
                  <a:ea typeface="Roboto Mono"/>
                  <a:cs typeface="Roboto Mono"/>
                  <a:sym typeface="Roboto Mono"/>
                </a:rPr>
                <a:t>add(E e)</a:t>
              </a:r>
              <a:r>
                <a:rPr lang="en-US" sz="1100">
                  <a:solidFill>
                    <a:schemeClr val="dk1"/>
                  </a:solidFill>
                </a:rPr>
                <a:t>, </a:t>
              </a:r>
              <a:r>
                <a:rPr lang="en-US" sz="1100">
                  <a:solidFill>
                    <a:srgbClr val="188038"/>
                  </a:solidFill>
                  <a:latin typeface="Roboto Mono"/>
                  <a:ea typeface="Roboto Mono"/>
                  <a:cs typeface="Roboto Mono"/>
                  <a:sym typeface="Roboto Mono"/>
                </a:rPr>
                <a:t>get(int index)</a:t>
              </a:r>
              <a:r>
                <a:rPr lang="en-US" sz="1100">
                  <a:solidFill>
                    <a:schemeClr val="dk1"/>
                  </a:solidFill>
                </a:rPr>
                <a:t>, </a:t>
              </a:r>
              <a:r>
                <a:rPr lang="en-US" sz="1100">
                  <a:solidFill>
                    <a:srgbClr val="188038"/>
                  </a:solidFill>
                  <a:latin typeface="Roboto Mono"/>
                  <a:ea typeface="Roboto Mono"/>
                  <a:cs typeface="Roboto Mono"/>
                  <a:sym typeface="Roboto Mono"/>
                </a:rPr>
                <a:t>set(int index, E element)</a:t>
              </a:r>
              <a:r>
                <a:rPr lang="en-US" sz="1100">
                  <a:solidFill>
                    <a:schemeClr val="dk1"/>
                  </a:solidFill>
                </a:rPr>
                <a:t>, </a:t>
              </a:r>
              <a:r>
                <a:rPr lang="en-US" sz="1100">
                  <a:solidFill>
                    <a:srgbClr val="188038"/>
                  </a:solidFill>
                  <a:latin typeface="Roboto Mono"/>
                  <a:ea typeface="Roboto Mono"/>
                  <a:cs typeface="Roboto Mono"/>
                  <a:sym typeface="Roboto Mono"/>
                </a:rPr>
                <a:t>remove(int index)</a:t>
              </a:r>
              <a:r>
                <a:rPr lang="en-US" sz="1100">
                  <a:solidFill>
                    <a:schemeClr val="dk1"/>
                  </a:solidFill>
                </a:rPr>
                <a:t> </a:t>
              </a:r>
              <a:endParaRPr b="1" sz="1100">
                <a:solidFill>
                  <a:schemeClr val="dk1"/>
                </a:solidFil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6" name="Shape 486"/>
        <p:cNvGrpSpPr/>
        <p:nvPr/>
      </p:nvGrpSpPr>
      <p:grpSpPr>
        <a:xfrm>
          <a:off x="0" y="0"/>
          <a:ext cx="0" cy="0"/>
          <a:chOff x="0" y="0"/>
          <a:chExt cx="0" cy="0"/>
        </a:xfrm>
      </p:grpSpPr>
      <p:pic>
        <p:nvPicPr>
          <p:cNvPr id="487" name="Google Shape;487;p35"/>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488" name="Google Shape;488;p35"/>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35"/>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2: </a:t>
            </a:r>
            <a:r>
              <a:rPr b="1" lang="en-US" sz="3200">
                <a:solidFill>
                  <a:srgbClr val="005088"/>
                </a:solidFill>
                <a:latin typeface="Merriweather"/>
                <a:ea typeface="Merriweather"/>
                <a:cs typeface="Merriweather"/>
                <a:sym typeface="Merriweather"/>
              </a:rPr>
              <a:t>Equipaje del Aeropuerto</a:t>
            </a:r>
            <a:endParaRPr b="1" sz="3200">
              <a:solidFill>
                <a:srgbClr val="005088"/>
              </a:solidFill>
              <a:latin typeface="Merriweather"/>
              <a:ea typeface="Merriweather"/>
              <a:cs typeface="Merriweather"/>
              <a:sym typeface="Merriweather"/>
            </a:endParaRPr>
          </a:p>
        </p:txBody>
      </p:sp>
      <p:sp>
        <p:nvSpPr>
          <p:cNvPr id="490" name="Google Shape;490;p35"/>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1" name="Google Shape;491;p35"/>
          <p:cNvGrpSpPr/>
          <p:nvPr/>
        </p:nvGrpSpPr>
        <p:grpSpPr>
          <a:xfrm>
            <a:off x="666750" y="1524000"/>
            <a:ext cx="3238500" cy="4572150"/>
            <a:chOff x="666750" y="1524000"/>
            <a:chExt cx="3238500" cy="4572150"/>
          </a:xfrm>
        </p:grpSpPr>
        <p:sp>
          <p:nvSpPr>
            <p:cNvPr id="492" name="Google Shape;492;p35"/>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493" name="Google Shape;493;p35"/>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Cada maleta que pasa por el escáner genera una fila en una matriz con los datos del pasajero, el peso y si contiene algún artículo prohibido. Tu trabajo es programar el sistema de alertas que detecte equipaje sospechoso o pasajeros específicos</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494" name="Google Shape;494;p35"/>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95" name="Google Shape;495;p35"/>
          <p:cNvGrpSpPr/>
          <p:nvPr/>
        </p:nvGrpSpPr>
        <p:grpSpPr>
          <a:xfrm>
            <a:off x="4476750" y="1428751"/>
            <a:ext cx="7048500" cy="4762641"/>
            <a:chOff x="4476750" y="1524000"/>
            <a:chExt cx="7048500" cy="4571989"/>
          </a:xfrm>
        </p:grpSpPr>
        <p:sp>
          <p:nvSpPr>
            <p:cNvPr id="496" name="Google Shape;496;p35"/>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497" name="Google Shape;497;p35"/>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323850" lvl="0" marL="457200" rtl="0" algn="l">
                <a:lnSpc>
                  <a:spcPct val="115000"/>
                </a:lnSpc>
                <a:spcBef>
                  <a:spcPts val="0"/>
                </a:spcBef>
                <a:spcAft>
                  <a:spcPts val="0"/>
                </a:spcAft>
                <a:buClr>
                  <a:schemeClr val="dk1"/>
                </a:buClr>
                <a:buSzPts val="1500"/>
                <a:buAutoNum type="arabicPeriod"/>
              </a:pPr>
              <a:r>
                <a:rPr lang="en-US" sz="1500">
                  <a:solidFill>
                    <a:schemeClr val="dk1"/>
                  </a:solidFill>
                </a:rPr>
                <a:t>Estructura Dinámica: Instancia una matriz donde se registren las maletas aprobadas en la banda bajo el formato: [Código de Boleto, Nombre del Pasajero, Estado del Filtro].</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US" sz="1500">
                  <a:solidFill>
                    <a:schemeClr val="dk1"/>
                  </a:solidFill>
                </a:rPr>
                <a:t>Inserta los datos de los primeros pasajeros en la matriz:</a:t>
              </a:r>
              <a:endParaRPr sz="1500">
                <a:solidFill>
                  <a:schemeClr val="dk1"/>
                </a:solidFill>
              </a:endParaRPr>
            </a:p>
            <a:p>
              <a:pPr indent="0" lvl="0" marL="457200" rtl="0" algn="l">
                <a:lnSpc>
                  <a:spcPct val="115000"/>
                </a:lnSpc>
                <a:spcBef>
                  <a:spcPts val="0"/>
                </a:spcBef>
                <a:spcAft>
                  <a:spcPts val="0"/>
                </a:spcAft>
                <a:buNone/>
              </a:pPr>
              <a:r>
                <a:rPr lang="en-US" sz="1500">
                  <a:solidFill>
                    <a:schemeClr val="dk1"/>
                  </a:solidFill>
                </a:rPr>
                <a:t>Fila 0: ["TK-401", "Carlos Mendoza", "Aprobado"]</a:t>
              </a:r>
              <a:endParaRPr sz="1500">
                <a:solidFill>
                  <a:schemeClr val="dk1"/>
                </a:solidFill>
              </a:endParaRPr>
            </a:p>
            <a:p>
              <a:pPr indent="0" lvl="0" marL="457200" rtl="0" algn="l">
                <a:lnSpc>
                  <a:spcPct val="115000"/>
                </a:lnSpc>
                <a:spcBef>
                  <a:spcPts val="0"/>
                </a:spcBef>
                <a:spcAft>
                  <a:spcPts val="0"/>
                </a:spcAft>
                <a:buNone/>
              </a:pPr>
              <a:r>
                <a:rPr lang="en-US" sz="1500">
                  <a:solidFill>
                    <a:schemeClr val="dk1"/>
                  </a:solidFill>
                </a:rPr>
                <a:t>Fila 1: ["TK-402", "Elena Ruiz", "Bajo Revisión"]</a:t>
              </a:r>
              <a:endParaRPr sz="1500">
                <a:solidFill>
                  <a:schemeClr val="dk1"/>
                </a:solidFill>
              </a:endParaRPr>
            </a:p>
            <a:p>
              <a:pPr indent="0" lvl="0" marL="457200" rtl="0" algn="l">
                <a:lnSpc>
                  <a:spcPct val="115000"/>
                </a:lnSpc>
                <a:spcBef>
                  <a:spcPts val="0"/>
                </a:spcBef>
                <a:spcAft>
                  <a:spcPts val="0"/>
                </a:spcAft>
                <a:buNone/>
              </a:pPr>
              <a:r>
                <a:rPr lang="en-US" sz="1500">
                  <a:solidFill>
                    <a:schemeClr val="dk1"/>
                  </a:solidFill>
                </a:rPr>
                <a:t>Fila 2: ["TK-403", "Luis Duarte", "Aprobado"]</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US" sz="1500">
                  <a:solidFill>
                    <a:schemeClr val="dk1"/>
                  </a:solidFill>
                </a:rPr>
                <a:t>Búsqueda de Seguridad: La policía aeroportuaria emite una alerta buscando al pasajero "Luis Duarte". Recorra la matriz fila por fila y verifique si el nombre del pasajero existe dentro de alguna de las celdas.</a:t>
              </a:r>
              <a:endParaRPr sz="1500">
                <a:solidFill>
                  <a:schemeClr val="dk1"/>
                </a:solidFill>
              </a:endParaRPr>
            </a:p>
            <a:p>
              <a:pPr indent="-323850" lvl="0" marL="457200" rtl="0" algn="l">
                <a:lnSpc>
                  <a:spcPct val="115000"/>
                </a:lnSpc>
                <a:spcBef>
                  <a:spcPts val="0"/>
                </a:spcBef>
                <a:spcAft>
                  <a:spcPts val="0"/>
                </a:spcAft>
                <a:buClr>
                  <a:schemeClr val="dk1"/>
                </a:buClr>
                <a:buSzPts val="1500"/>
                <a:buAutoNum type="arabicPeriod"/>
              </a:pPr>
              <a:r>
                <a:rPr lang="en-US" sz="1500">
                  <a:solidFill>
                    <a:schemeClr val="dk1"/>
                  </a:solidFill>
                </a:rPr>
                <a:t>Si el sistema encuentra al pasajero, debe desplegar un mensaje en pantalla indicando en qué número de fila se localiza su equipaje y cuál es el estado actual de su filtro. Si no existe, debe mostrar un mensaje de "Pasajero limpio".</a:t>
              </a:r>
              <a:endParaRPr sz="1500">
                <a:solidFill>
                  <a:schemeClr val="dk1"/>
                </a:solidFill>
              </a:endParaRPr>
            </a:p>
            <a:p>
              <a:pPr indent="0" lvl="0" marL="457200" rtl="0" algn="l">
                <a:lnSpc>
                  <a:spcPct val="115000"/>
                </a:lnSpc>
                <a:spcBef>
                  <a:spcPts val="1200"/>
                </a:spcBef>
                <a:spcAft>
                  <a:spcPts val="0"/>
                </a:spcAft>
                <a:buNone/>
              </a:pPr>
              <a:r>
                <a:t/>
              </a:r>
              <a:endParaRPr b="1" sz="1000">
                <a:solidFill>
                  <a:schemeClr val="dk1"/>
                </a:solidFill>
              </a:endParaRPr>
            </a:p>
            <a:p>
              <a:pPr indent="0" lvl="0" marL="0" rtl="0" algn="l">
                <a:spcBef>
                  <a:spcPts val="1200"/>
                </a:spcBef>
                <a:spcAft>
                  <a:spcPts val="900"/>
                </a:spcAft>
                <a:buNone/>
              </a:pPr>
              <a:r>
                <a:t/>
              </a:r>
              <a:endParaRPr b="1" sz="1800">
                <a:solidFill>
                  <a:srgbClr val="121212"/>
                </a:solidFill>
                <a:latin typeface="Arial"/>
                <a:ea typeface="Arial"/>
                <a:cs typeface="Arial"/>
                <a:sym typeface="Arial"/>
              </a:endParaRPr>
            </a:p>
          </p:txBody>
        </p:sp>
        <p:sp>
          <p:nvSpPr>
            <p:cNvPr id="498" name="Google Shape;498;p35"/>
            <p:cNvSpPr/>
            <p:nvPr/>
          </p:nvSpPr>
          <p:spPr>
            <a:xfrm>
              <a:off x="4476750" y="5609989"/>
              <a:ext cx="7048500" cy="486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35"/>
            <p:cNvSpPr txBox="1"/>
            <p:nvPr/>
          </p:nvSpPr>
          <p:spPr>
            <a:xfrm>
              <a:off x="4572000" y="5577877"/>
              <a:ext cx="6858000" cy="4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005088"/>
                  </a:solidFill>
                  <a:latin typeface="Arial"/>
                  <a:ea typeface="Arial"/>
                  <a:cs typeface="Arial"/>
                  <a:sym typeface="Arial"/>
                </a:rPr>
                <a:t>Métodos de Vector a utilizar: </a:t>
              </a:r>
              <a:r>
                <a:rPr lang="en-US" sz="1100">
                  <a:solidFill>
                    <a:srgbClr val="188038"/>
                  </a:solidFill>
                </a:rPr>
                <a:t>add(E e)</a:t>
              </a:r>
              <a:r>
                <a:rPr lang="en-US" sz="1100">
                  <a:solidFill>
                    <a:schemeClr val="dk1"/>
                  </a:solidFill>
                </a:rPr>
                <a:t>, </a:t>
              </a:r>
              <a:r>
                <a:rPr lang="en-US" sz="1100">
                  <a:solidFill>
                    <a:srgbClr val="188038"/>
                  </a:solidFill>
                </a:rPr>
                <a:t>get(int index)</a:t>
              </a:r>
              <a:r>
                <a:rPr lang="en-US" sz="1100">
                  <a:solidFill>
                    <a:schemeClr val="dk1"/>
                  </a:solidFill>
                </a:rPr>
                <a:t>, </a:t>
              </a:r>
              <a:r>
                <a:rPr lang="en-US" sz="1100">
                  <a:solidFill>
                    <a:srgbClr val="188038"/>
                  </a:solidFill>
                </a:rPr>
                <a:t>contains(Object o)</a:t>
              </a:r>
              <a:r>
                <a:rPr lang="en-US" sz="1100">
                  <a:solidFill>
                    <a:schemeClr val="dk1"/>
                  </a:solidFill>
                </a:rPr>
                <a:t>, </a:t>
              </a:r>
              <a:r>
                <a:rPr lang="en-US" sz="1100">
                  <a:solidFill>
                    <a:srgbClr val="188038"/>
                  </a:solidFill>
                </a:rPr>
                <a:t>size()</a:t>
              </a:r>
              <a:r>
                <a:rPr lang="en-US" sz="1100">
                  <a:solidFill>
                    <a:schemeClr val="dk1"/>
                  </a:solidFill>
                </a:rPr>
                <a:t>. Bucle </a:t>
              </a:r>
              <a:r>
                <a:rPr lang="en-US" sz="1100">
                  <a:solidFill>
                    <a:srgbClr val="188038"/>
                  </a:solidFill>
                </a:rPr>
                <a:t>for</a:t>
              </a:r>
              <a:r>
                <a:rPr lang="en-US" sz="1100">
                  <a:solidFill>
                    <a:schemeClr val="dk1"/>
                  </a:solidFill>
                </a:rPr>
                <a:t> clásico combinado con condicionales </a:t>
              </a:r>
              <a:r>
                <a:rPr lang="en-US" sz="1100">
                  <a:solidFill>
                    <a:srgbClr val="188038"/>
                  </a:solidFill>
                </a:rPr>
                <a:t>if</a:t>
              </a:r>
              <a:r>
                <a:rPr lang="en-US" sz="1100">
                  <a:solidFill>
                    <a:schemeClr val="dk1"/>
                  </a:solidFill>
                </a:rPr>
                <a:t>.</a:t>
              </a:r>
              <a:endParaRPr b="1" sz="1100">
                <a:solidFill>
                  <a:schemeClr val="dk1"/>
                </a:solidFil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03" name="Shape 503"/>
        <p:cNvGrpSpPr/>
        <p:nvPr/>
      </p:nvGrpSpPr>
      <p:grpSpPr>
        <a:xfrm>
          <a:off x="0" y="0"/>
          <a:ext cx="0" cy="0"/>
          <a:chOff x="0" y="0"/>
          <a:chExt cx="0" cy="0"/>
        </a:xfrm>
      </p:grpSpPr>
      <p:pic>
        <p:nvPicPr>
          <p:cNvPr id="504" name="Google Shape;504;p36"/>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505" name="Google Shape;505;p36"/>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6" name="Google Shape;506;p36"/>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3: </a:t>
            </a:r>
            <a:r>
              <a:rPr b="1" lang="en-US" sz="3200">
                <a:solidFill>
                  <a:srgbClr val="005088"/>
                </a:solidFill>
                <a:latin typeface="Merriweather"/>
                <a:ea typeface="Merriweather"/>
                <a:cs typeface="Merriweather"/>
                <a:sym typeface="Merriweather"/>
              </a:rPr>
              <a:t>Registro de Calificaciones</a:t>
            </a:r>
            <a:endParaRPr b="1" sz="3200">
              <a:solidFill>
                <a:srgbClr val="005088"/>
              </a:solidFill>
              <a:latin typeface="Merriweather"/>
              <a:ea typeface="Merriweather"/>
              <a:cs typeface="Merriweather"/>
              <a:sym typeface="Merriweather"/>
            </a:endParaRPr>
          </a:p>
        </p:txBody>
      </p:sp>
      <p:sp>
        <p:nvSpPr>
          <p:cNvPr id="507" name="Google Shape;507;p36"/>
          <p:cNvSpPr/>
          <p:nvPr/>
        </p:nvSpPr>
        <p:spPr>
          <a:xfrm>
            <a:off x="476250" y="1333500"/>
            <a:ext cx="3619500" cy="4953000"/>
          </a:xfrm>
          <a:prstGeom prst="roundRect">
            <a:avLst>
              <a:gd fmla="val 2631" name="adj"/>
            </a:avLst>
          </a:prstGeom>
          <a:solidFill>
            <a:srgbClr val="FFFFFF"/>
          </a:solidFill>
          <a:ln cap="flat" cmpd="sng" w="19050">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08" name="Google Shape;508;p36"/>
          <p:cNvGrpSpPr/>
          <p:nvPr/>
        </p:nvGrpSpPr>
        <p:grpSpPr>
          <a:xfrm>
            <a:off x="666750" y="1524000"/>
            <a:ext cx="3238500" cy="4572150"/>
            <a:chOff x="666750" y="1524000"/>
            <a:chExt cx="3238500" cy="4572150"/>
          </a:xfrm>
        </p:grpSpPr>
        <p:sp>
          <p:nvSpPr>
            <p:cNvPr id="509" name="Google Shape;509;p36"/>
            <p:cNvSpPr txBox="1"/>
            <p:nvPr/>
          </p:nvSpPr>
          <p:spPr>
            <a:xfrm>
              <a:off x="666750" y="152400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Contexto</a:t>
              </a:r>
              <a:endParaRPr b="1" sz="1800">
                <a:solidFill>
                  <a:srgbClr val="005088"/>
                </a:solidFill>
                <a:latin typeface="Merriweather"/>
                <a:ea typeface="Merriweather"/>
                <a:cs typeface="Merriweather"/>
                <a:sym typeface="Merriweather"/>
              </a:endParaRPr>
            </a:p>
          </p:txBody>
        </p:sp>
        <p:sp>
          <p:nvSpPr>
            <p:cNvPr id="510" name="Google Shape;510;p36"/>
            <p:cNvSpPr txBox="1"/>
            <p:nvPr/>
          </p:nvSpPr>
          <p:spPr>
            <a:xfrm>
              <a:off x="666750" y="2000250"/>
              <a:ext cx="3238500" cy="4095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None/>
              </a:pPr>
              <a:r>
                <a:rPr lang="en-US" sz="1700">
                  <a:solidFill>
                    <a:schemeClr val="dk1"/>
                  </a:solidFill>
                </a:rPr>
                <a:t>Se ha solicitado un módulo para el procesamiento de </a:t>
              </a:r>
              <a:r>
                <a:rPr lang="en-US" sz="1700">
                  <a:solidFill>
                    <a:schemeClr val="dk1"/>
                  </a:solidFill>
                </a:rPr>
                <a:t>notas</a:t>
              </a:r>
              <a:r>
                <a:rPr lang="en-US" sz="1700">
                  <a:solidFill>
                    <a:schemeClr val="dk1"/>
                  </a:solidFill>
                </a:rPr>
                <a:t> finales. El dilema del sistema actual es que los profesores ingresan notas con decimales, pero el sistema central solo acepta números enteros perfectamente redondeados para evitar reclamos</a:t>
              </a:r>
              <a:endParaRPr sz="1700">
                <a:solidFill>
                  <a:schemeClr val="dk1"/>
                </a:solidFill>
              </a:endParaRPr>
            </a:p>
            <a:p>
              <a:pPr indent="0" lvl="0" marL="0" rtl="0" algn="l">
                <a:lnSpc>
                  <a:spcPct val="115000"/>
                </a:lnSpc>
                <a:spcBef>
                  <a:spcPts val="1200"/>
                </a:spcBef>
                <a:spcAft>
                  <a:spcPts val="1200"/>
                </a:spcAft>
                <a:buNone/>
              </a:pPr>
              <a:r>
                <a:t/>
              </a:r>
              <a:endParaRPr sz="1900">
                <a:solidFill>
                  <a:schemeClr val="dk1"/>
                </a:solidFill>
              </a:endParaRPr>
            </a:p>
          </p:txBody>
        </p:sp>
      </p:grpSp>
      <p:sp>
        <p:nvSpPr>
          <p:cNvPr id="511" name="Google Shape;511;p36"/>
          <p:cNvSpPr/>
          <p:nvPr/>
        </p:nvSpPr>
        <p:spPr>
          <a:xfrm>
            <a:off x="4286250" y="1333500"/>
            <a:ext cx="742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12" name="Google Shape;512;p36"/>
          <p:cNvGrpSpPr/>
          <p:nvPr/>
        </p:nvGrpSpPr>
        <p:grpSpPr>
          <a:xfrm>
            <a:off x="4476750" y="1428751"/>
            <a:ext cx="7048500" cy="4762641"/>
            <a:chOff x="4476750" y="1524000"/>
            <a:chExt cx="7048500" cy="4571989"/>
          </a:xfrm>
        </p:grpSpPr>
        <p:sp>
          <p:nvSpPr>
            <p:cNvPr id="513" name="Google Shape;513;p36"/>
            <p:cNvSpPr txBox="1"/>
            <p:nvPr/>
          </p:nvSpPr>
          <p:spPr>
            <a:xfrm>
              <a:off x="4476750" y="1524000"/>
              <a:ext cx="704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514" name="Google Shape;514;p36"/>
            <p:cNvSpPr txBox="1"/>
            <p:nvPr/>
          </p:nvSpPr>
          <p:spPr>
            <a:xfrm>
              <a:off x="4476750" y="2000240"/>
              <a:ext cx="7048500" cy="3482400"/>
            </a:xfrm>
            <a:prstGeom prst="rect">
              <a:avLst/>
            </a:prstGeom>
            <a:noFill/>
            <a:ln>
              <a:noFill/>
            </a:ln>
          </p:spPr>
          <p:txBody>
            <a:bodyPr anchorCtr="0" anchor="t" bIns="0" lIns="0" spcFirstLastPara="1" rIns="0" wrap="square" tIns="0">
              <a:noAutofit/>
            </a:bodyPr>
            <a:lstStyle/>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Estructura Académica:</a:t>
              </a:r>
              <a:r>
                <a:rPr lang="en-US">
                  <a:solidFill>
                    <a:schemeClr val="dk1"/>
                  </a:solidFill>
                </a:rPr>
                <a:t> Crea un cuadro de calificaciones utilizando una matriz dinámica donde cada fila almacene: </a:t>
              </a:r>
              <a:r>
                <a:rPr lang="en-US">
                  <a:solidFill>
                    <a:srgbClr val="188038"/>
                  </a:solidFill>
                </a:rPr>
                <a:t>[Nombre del Estudiante, Nota Acumulada (double), Nota Examen (double)]</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Carga de Datos:</a:t>
              </a:r>
              <a:r>
                <a:rPr lang="en-US">
                  <a:solidFill>
                    <a:schemeClr val="dk1"/>
                  </a:solidFill>
                </a:rPr>
                <a:t> Registra las calificaciones de dos estudiantes: </a:t>
              </a:r>
              <a:r>
                <a:rPr lang="en-US">
                  <a:solidFill>
                    <a:srgbClr val="188038"/>
                  </a:solidFill>
                </a:rPr>
                <a:t>["Ana Ortiz", 55.4, 25.3]</a:t>
              </a:r>
              <a:r>
                <a:rPr lang="en-US">
                  <a:solidFill>
                    <a:schemeClr val="dk1"/>
                  </a:solidFill>
                </a:rPr>
                <a:t> y </a:t>
              </a:r>
              <a:r>
                <a:rPr lang="en-US">
                  <a:solidFill>
                    <a:srgbClr val="188038"/>
                  </a:solidFill>
                </a:rPr>
                <a:t>["Pedro Gómez", 40.2, 24.5]</a:t>
              </a:r>
              <a:r>
                <a:rPr lang="en-US">
                  <a:solidFill>
                    <a:schemeClr val="dk1"/>
                  </a:solidFill>
                </a:rPr>
                <a:t>.</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Cálculo de Promedios:</a:t>
              </a:r>
              <a:r>
                <a:rPr lang="en-US">
                  <a:solidFill>
                    <a:schemeClr val="dk1"/>
                  </a:solidFill>
                </a:rPr>
                <a:t> Diseña un bucle que visite cada fila de la matriz. Por cada estudiante, debes extraer la nota acumulada y la nota del examen, sumarlas para obtener la nota final con decimales, y luego aplicar un </a:t>
              </a:r>
              <a:r>
                <a:rPr b="1" lang="en-US">
                  <a:solidFill>
                    <a:schemeClr val="dk1"/>
                  </a:solidFill>
                </a:rPr>
                <a:t>redondeo matemático estricto al entero más cercano</a:t>
              </a:r>
              <a:r>
                <a:rPr lang="en-US">
                  <a:solidFill>
                    <a:schemeClr val="dk1"/>
                  </a:solidFill>
                </a:rPr>
                <a:t> (por ejemplo: si la suma da 80.7 debe pasar a 81; si da 64.3 debe bajar a 64).</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Actualización de la Matriz:</a:t>
              </a:r>
              <a:r>
                <a:rPr lang="en-US">
                  <a:solidFill>
                    <a:schemeClr val="dk1"/>
                  </a:solidFill>
                </a:rPr>
                <a:t> Reemplaza los decimales originales guardando la nueva nota final redondeada dentro de la misma matriz </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Salida:</a:t>
              </a:r>
              <a:r>
                <a:rPr lang="en-US">
                  <a:solidFill>
                    <a:schemeClr val="dk1"/>
                  </a:solidFill>
                </a:rPr>
                <a:t> Imprime el listado final de alumnos con su nota entera definitiva y el promedio de toda la clase</a:t>
              </a:r>
              <a:endParaRPr b="1" sz="1900">
                <a:solidFill>
                  <a:schemeClr val="dk1"/>
                </a:solidFill>
              </a:endParaRPr>
            </a:p>
            <a:p>
              <a:pPr indent="0" lvl="0" marL="457200" rtl="0" algn="l">
                <a:lnSpc>
                  <a:spcPct val="115000"/>
                </a:lnSpc>
                <a:spcBef>
                  <a:spcPts val="1200"/>
                </a:spcBef>
                <a:spcAft>
                  <a:spcPts val="0"/>
                </a:spcAft>
                <a:buNone/>
              </a:pPr>
              <a:r>
                <a:t/>
              </a:r>
              <a:endParaRPr b="1" sz="1100">
                <a:solidFill>
                  <a:schemeClr val="dk1"/>
                </a:solidFill>
              </a:endParaRPr>
            </a:p>
            <a:p>
              <a:pPr indent="0" lvl="0" marL="0" rtl="0" algn="l">
                <a:spcBef>
                  <a:spcPts val="1200"/>
                </a:spcBef>
                <a:spcAft>
                  <a:spcPts val="900"/>
                </a:spcAft>
                <a:buNone/>
              </a:pPr>
              <a:r>
                <a:t/>
              </a:r>
              <a:endParaRPr b="1" sz="1900">
                <a:solidFill>
                  <a:srgbClr val="121212"/>
                </a:solidFill>
                <a:latin typeface="Arial"/>
                <a:ea typeface="Arial"/>
                <a:cs typeface="Arial"/>
                <a:sym typeface="Arial"/>
              </a:endParaRPr>
            </a:p>
          </p:txBody>
        </p:sp>
        <p:sp>
          <p:nvSpPr>
            <p:cNvPr id="515" name="Google Shape;515;p36"/>
            <p:cNvSpPr/>
            <p:nvPr/>
          </p:nvSpPr>
          <p:spPr>
            <a:xfrm>
              <a:off x="4476750" y="5609989"/>
              <a:ext cx="7048500" cy="486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36"/>
            <p:cNvSpPr txBox="1"/>
            <p:nvPr/>
          </p:nvSpPr>
          <p:spPr>
            <a:xfrm>
              <a:off x="4572000" y="5577877"/>
              <a:ext cx="6858000" cy="4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005088"/>
                  </a:solidFill>
                  <a:latin typeface="Arial"/>
                  <a:ea typeface="Arial"/>
                  <a:cs typeface="Arial"/>
                  <a:sym typeface="Arial"/>
                </a:rPr>
                <a:t>Métodos de Vector a utilizar: </a:t>
              </a:r>
              <a:r>
                <a:rPr lang="en-US" sz="1100">
                  <a:solidFill>
                    <a:srgbClr val="188038"/>
                  </a:solidFill>
                </a:rPr>
                <a:t>add(E e)</a:t>
              </a:r>
              <a:r>
                <a:rPr lang="en-US" sz="1100">
                  <a:solidFill>
                    <a:schemeClr val="dk1"/>
                  </a:solidFill>
                </a:rPr>
                <a:t>, </a:t>
              </a:r>
              <a:r>
                <a:rPr lang="en-US" sz="1100">
                  <a:solidFill>
                    <a:srgbClr val="188038"/>
                  </a:solidFill>
                </a:rPr>
                <a:t>get(int index)</a:t>
              </a:r>
              <a:r>
                <a:rPr lang="en-US" sz="1100">
                  <a:solidFill>
                    <a:schemeClr val="dk1"/>
                  </a:solidFill>
                </a:rPr>
                <a:t>, </a:t>
              </a:r>
              <a:r>
                <a:rPr lang="en-US" sz="1100">
                  <a:solidFill>
                    <a:srgbClr val="188038"/>
                  </a:solidFill>
                </a:rPr>
                <a:t>set(int index, E element)</a:t>
              </a:r>
              <a:r>
                <a:rPr lang="en-US" sz="1100">
                  <a:solidFill>
                    <a:schemeClr val="dk1"/>
                  </a:solidFill>
                </a:rPr>
                <a:t>, </a:t>
              </a:r>
              <a:r>
                <a:rPr lang="en-US" sz="1100">
                  <a:solidFill>
                    <a:srgbClr val="188038"/>
                  </a:solidFill>
                </a:rPr>
                <a:t>size()</a:t>
              </a:r>
              <a:r>
                <a:rPr lang="en-US" sz="1100">
                  <a:solidFill>
                    <a:schemeClr val="dk1"/>
                  </a:solidFill>
                </a:rPr>
                <a:t>. </a:t>
              </a:r>
              <a:r>
                <a:rPr lang="en-US" sz="1100">
                  <a:solidFill>
                    <a:srgbClr val="188038"/>
                  </a:solidFill>
                </a:rPr>
                <a:t>Math.round()</a:t>
              </a:r>
              <a:r>
                <a:rPr lang="en-US" sz="1100">
                  <a:solidFill>
                    <a:schemeClr val="dk1"/>
                  </a:solidFill>
                </a:rPr>
                <a:t>. Bucle </a:t>
              </a:r>
              <a:r>
                <a:rPr lang="en-US" sz="1100">
                  <a:solidFill>
                    <a:srgbClr val="188038"/>
                  </a:solidFill>
                </a:rPr>
                <a:t>for</a:t>
              </a:r>
              <a:r>
                <a:rPr lang="en-US" sz="1100">
                  <a:solidFill>
                    <a:schemeClr val="dk1"/>
                  </a:solidFill>
                </a:rPr>
                <a:t> clásico</a:t>
              </a:r>
              <a:endParaRPr b="1" sz="1100">
                <a:solidFill>
                  <a:schemeClr val="dk1"/>
                </a:solidFil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0" name="Shape 520"/>
        <p:cNvGrpSpPr/>
        <p:nvPr/>
      </p:nvGrpSpPr>
      <p:grpSpPr>
        <a:xfrm>
          <a:off x="0" y="0"/>
          <a:ext cx="0" cy="0"/>
          <a:chOff x="0" y="0"/>
          <a:chExt cx="0" cy="0"/>
        </a:xfrm>
      </p:grpSpPr>
      <p:pic>
        <p:nvPicPr>
          <p:cNvPr id="521" name="Google Shape;521;p37"/>
          <p:cNvPicPr preferRelativeResize="0"/>
          <p:nvPr/>
        </p:nvPicPr>
        <p:blipFill rotWithShape="1">
          <a:blip r:embed="rId4">
            <a:alphaModFix/>
          </a:blip>
          <a:srcRect b="0" l="0" r="0" t="0"/>
          <a:stretch/>
        </p:blipFill>
        <p:spPr>
          <a:xfrm>
            <a:off x="0" y="0"/>
            <a:ext cx="12192000" cy="6858000"/>
          </a:xfrm>
          <a:prstGeom prst="rect">
            <a:avLst/>
          </a:prstGeom>
          <a:noFill/>
          <a:ln>
            <a:noFill/>
          </a:ln>
        </p:spPr>
      </p:pic>
      <p:sp>
        <p:nvSpPr>
          <p:cNvPr id="522" name="Google Shape;522;p37"/>
          <p:cNvSpPr/>
          <p:nvPr/>
        </p:nvSpPr>
        <p:spPr>
          <a:xfrm>
            <a:off x="0" y="0"/>
            <a:ext cx="12192000" cy="952500"/>
          </a:xfrm>
          <a:prstGeom prst="rect">
            <a:avLst/>
          </a:prstGeom>
          <a:solidFill>
            <a:srgbClr val="FFFFFF">
              <a:alpha val="6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3" name="Google Shape;523;p37"/>
          <p:cNvSpPr txBox="1"/>
          <p:nvPr/>
        </p:nvSpPr>
        <p:spPr>
          <a:xfrm>
            <a:off x="476250" y="67575"/>
            <a:ext cx="11239500" cy="107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005088"/>
                </a:solidFill>
                <a:latin typeface="Merriweather"/>
                <a:ea typeface="Merriweather"/>
                <a:cs typeface="Merriweather"/>
                <a:sym typeface="Merriweather"/>
              </a:rPr>
              <a:t>Ejemplo 4: </a:t>
            </a:r>
            <a:r>
              <a:rPr b="1" lang="en-US" sz="3200">
                <a:solidFill>
                  <a:srgbClr val="005088"/>
                </a:solidFill>
                <a:latin typeface="Merriweather"/>
                <a:ea typeface="Merriweather"/>
                <a:cs typeface="Merriweather"/>
                <a:sym typeface="Merriweather"/>
              </a:rPr>
              <a:t>Historial de Viajes de una App de Transporte</a:t>
            </a:r>
            <a:endParaRPr b="1" sz="3200">
              <a:solidFill>
                <a:srgbClr val="005088"/>
              </a:solidFill>
              <a:latin typeface="Merriweather"/>
              <a:ea typeface="Merriweather"/>
              <a:cs typeface="Merriweather"/>
              <a:sym typeface="Merriweather"/>
            </a:endParaRPr>
          </a:p>
        </p:txBody>
      </p:sp>
      <p:sp>
        <p:nvSpPr>
          <p:cNvPr id="524" name="Google Shape;524;p37"/>
          <p:cNvSpPr/>
          <p:nvPr/>
        </p:nvSpPr>
        <p:spPr>
          <a:xfrm>
            <a:off x="476250" y="1333500"/>
            <a:ext cx="11239500" cy="4953000"/>
          </a:xfrm>
          <a:prstGeom prst="roundRect">
            <a:avLst>
              <a:gd fmla="val 1923" name="adj"/>
            </a:avLst>
          </a:prstGeom>
          <a:solidFill>
            <a:srgbClr val="FFFFFF">
              <a:alpha val="90000"/>
            </a:srgbClr>
          </a:solidFill>
          <a:ln cap="flat" cmpd="sng" w="9525">
            <a:solidFill>
              <a:srgbClr val="00508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25" name="Google Shape;525;p37"/>
          <p:cNvGrpSpPr/>
          <p:nvPr/>
        </p:nvGrpSpPr>
        <p:grpSpPr>
          <a:xfrm>
            <a:off x="715625" y="1428750"/>
            <a:ext cx="10809625" cy="4762642"/>
            <a:chOff x="715625" y="1523999"/>
            <a:chExt cx="10809625" cy="4571990"/>
          </a:xfrm>
        </p:grpSpPr>
        <p:sp>
          <p:nvSpPr>
            <p:cNvPr id="526" name="Google Shape;526;p37"/>
            <p:cNvSpPr txBox="1"/>
            <p:nvPr/>
          </p:nvSpPr>
          <p:spPr>
            <a:xfrm>
              <a:off x="819975" y="1523999"/>
              <a:ext cx="107052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05088"/>
                  </a:solidFill>
                  <a:latin typeface="Merriweather"/>
                  <a:ea typeface="Merriweather"/>
                  <a:cs typeface="Merriweather"/>
                  <a:sym typeface="Merriweather"/>
                </a:rPr>
                <a:t>Planteamiento y Lógica</a:t>
              </a:r>
              <a:endParaRPr b="1" sz="1800">
                <a:solidFill>
                  <a:srgbClr val="005088"/>
                </a:solidFill>
                <a:latin typeface="Merriweather"/>
                <a:ea typeface="Merriweather"/>
                <a:cs typeface="Merriweather"/>
                <a:sym typeface="Merriweather"/>
              </a:endParaRPr>
            </a:p>
          </p:txBody>
        </p:sp>
        <p:sp>
          <p:nvSpPr>
            <p:cNvPr id="527" name="Google Shape;527;p37"/>
            <p:cNvSpPr txBox="1"/>
            <p:nvPr/>
          </p:nvSpPr>
          <p:spPr>
            <a:xfrm>
              <a:off x="715625" y="2000240"/>
              <a:ext cx="10809600" cy="3482400"/>
            </a:xfrm>
            <a:prstGeom prst="rect">
              <a:avLst/>
            </a:prstGeom>
            <a:noFill/>
            <a:ln>
              <a:noFill/>
            </a:ln>
          </p:spPr>
          <p:txBody>
            <a:bodyPr anchorCtr="0" anchor="t" bIns="0" lIns="0" spcFirstLastPara="1" rIns="0" wrap="square" tIns="0">
              <a:noAutofit/>
            </a:bodyPr>
            <a:lstStyle/>
            <a:p>
              <a:pPr indent="-304800" lvl="0" marL="457200" rtl="0" algn="l">
                <a:lnSpc>
                  <a:spcPct val="115000"/>
                </a:lnSpc>
                <a:spcBef>
                  <a:spcPts val="0"/>
                </a:spcBef>
                <a:spcAft>
                  <a:spcPts val="0"/>
                </a:spcAft>
                <a:buClr>
                  <a:schemeClr val="dk1"/>
                </a:buClr>
                <a:buSzPts val="1200"/>
                <a:buAutoNum type="arabicPeriod"/>
              </a:pPr>
              <a:r>
                <a:rPr lang="en-US" sz="1200">
                  <a:solidFill>
                    <a:schemeClr val="dk1"/>
                  </a:solidFill>
                </a:rPr>
                <a:t>Instancia una matriz dinámica llamada </a:t>
              </a:r>
              <a:r>
                <a:rPr lang="en-US" sz="1200">
                  <a:solidFill>
                    <a:srgbClr val="188038"/>
                  </a:solidFill>
                </a:rPr>
                <a:t>historialViajes</a:t>
              </a:r>
              <a:r>
                <a:rPr lang="en-US" sz="1200">
                  <a:solidFill>
                    <a:schemeClr val="dk1"/>
                  </a:solidFill>
                </a:rPr>
                <a:t>. Cada fila representará un servicio completado con el formato: </a:t>
              </a:r>
              <a:r>
                <a:rPr lang="en-US" sz="1200">
                  <a:solidFill>
                    <a:srgbClr val="188038"/>
                  </a:solidFill>
                </a:rPr>
                <a:t>[Nombre del Conductor, Distancia Recorrida (km), Tarifa Calculada (L.)]</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lang="en-US" sz="1200">
                  <a:solidFill>
                    <a:schemeClr val="dk1"/>
                  </a:solidFill>
                </a:rPr>
                <a:t> Al iniciar el programa, la matriz debe cargar los siguientes servicios iniciales: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Fila 0: </a:t>
              </a:r>
              <a:r>
                <a:rPr lang="en-US" sz="1200">
                  <a:solidFill>
                    <a:srgbClr val="188038"/>
                  </a:solidFill>
                </a:rPr>
                <a:t>["Juan P.", 14.6, 155.75]</a:t>
              </a:r>
              <a:endParaRPr sz="1200">
                <a:solidFill>
                  <a:srgbClr val="188038"/>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Fila 1: </a:t>
              </a:r>
              <a:r>
                <a:rPr lang="en-US" sz="1200">
                  <a:solidFill>
                    <a:srgbClr val="188038"/>
                  </a:solidFill>
                </a:rPr>
                <a:t>["Elena R.", 5.2, 60.40]</a:t>
              </a:r>
              <a:endParaRPr sz="1200">
                <a:solidFill>
                  <a:srgbClr val="188038"/>
                </a:solidFill>
              </a:endParaRPr>
            </a:p>
            <a:p>
              <a:pPr indent="-304800" lvl="1" marL="914400" rtl="0" algn="l">
                <a:lnSpc>
                  <a:spcPct val="115000"/>
                </a:lnSpc>
                <a:spcBef>
                  <a:spcPts val="0"/>
                </a:spcBef>
                <a:spcAft>
                  <a:spcPts val="0"/>
                </a:spcAft>
                <a:buClr>
                  <a:schemeClr val="dk1"/>
                </a:buClr>
                <a:buSzPts val="1200"/>
                <a:buChar char="○"/>
              </a:pPr>
              <a:r>
                <a:rPr lang="en-US" sz="1200">
                  <a:solidFill>
                    <a:schemeClr val="dk1"/>
                  </a:solidFill>
                </a:rPr>
                <a:t>Fila 2: </a:t>
              </a:r>
              <a:r>
                <a:rPr lang="en-US" sz="1200">
                  <a:solidFill>
                    <a:srgbClr val="188038"/>
                  </a:solidFill>
                </a:rPr>
                <a:t>["Luis M.", 22.8, 240.15]</a:t>
              </a:r>
              <a:endParaRPr sz="1200">
                <a:solidFill>
                  <a:srgbClr val="188038"/>
                </a:solidFill>
              </a:endParaRPr>
            </a:p>
            <a:p>
              <a:pPr indent="-304800" lvl="0" marL="457200" rtl="0" algn="l">
                <a:lnSpc>
                  <a:spcPct val="115000"/>
                </a:lnSpc>
                <a:spcBef>
                  <a:spcPts val="0"/>
                </a:spcBef>
                <a:spcAft>
                  <a:spcPts val="0"/>
                </a:spcAft>
                <a:buClr>
                  <a:schemeClr val="dk1"/>
                </a:buClr>
                <a:buSzPts val="1200"/>
                <a:buAutoNum type="arabicPeriod"/>
              </a:pPr>
              <a:r>
                <a:rPr b="1" lang="en-US" sz="1200">
                  <a:solidFill>
                    <a:schemeClr val="dk1"/>
                  </a:solidFill>
                </a:rPr>
                <a:t>Registro:</a:t>
              </a:r>
              <a:r>
                <a:rPr lang="en-US" sz="1200">
                  <a:solidFill>
                    <a:schemeClr val="dk1"/>
                  </a:solidFill>
                </a:rPr>
                <a:t> Un conductor reporta un viaje que se quedó pegado en la caché del celular. Agrega un nuevo viaje al final de la matriz: </a:t>
              </a:r>
              <a:r>
                <a:rPr lang="en-US" sz="1200">
                  <a:solidFill>
                    <a:srgbClr val="188038"/>
                  </a:solidFill>
                </a:rPr>
                <a:t>["Sonia T.", 9.4, 95.80]</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US" sz="1200">
                  <a:solidFill>
                    <a:schemeClr val="dk1"/>
                  </a:solidFill>
                </a:rPr>
                <a:t>Cancelaciones:</a:t>
              </a:r>
              <a:r>
                <a:rPr lang="en-US" sz="1200">
                  <a:solidFill>
                    <a:schemeClr val="dk1"/>
                  </a:solidFill>
                </a:rPr>
                <a:t> El departamento de soporte técnico reporta que el viaje de </a:t>
              </a:r>
              <a:r>
                <a:rPr b="1" lang="en-US" sz="1200">
                  <a:solidFill>
                    <a:schemeClr val="dk1"/>
                  </a:solidFill>
                </a:rPr>
                <a:t>"Elena R."</a:t>
              </a:r>
              <a:r>
                <a:rPr lang="en-US" sz="1200">
                  <a:solidFill>
                    <a:schemeClr val="dk1"/>
                  </a:solidFill>
                </a:rPr>
                <a:t> fue cancelado por el usuario debido a un cobro indebido. El programa debe buscar y </a:t>
              </a:r>
              <a:r>
                <a:rPr b="1" lang="en-US" sz="1200">
                  <a:solidFill>
                    <a:schemeClr val="dk1"/>
                  </a:solidFill>
                </a:rPr>
                <a:t>eliminar la fila completa</a:t>
              </a:r>
              <a:r>
                <a:rPr lang="en-US" sz="1200">
                  <a:solidFill>
                    <a:schemeClr val="dk1"/>
                  </a:solidFill>
                </a:rPr>
                <a:t> de este viaje, garantizando que la estructura reduzca su tamaño</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US" sz="1200">
                  <a:solidFill>
                    <a:schemeClr val="dk1"/>
                  </a:solidFill>
                </a:rPr>
                <a:t>Auditoría:</a:t>
              </a:r>
              <a:r>
                <a:rPr lang="en-US" sz="1200">
                  <a:solidFill>
                    <a:schemeClr val="dk1"/>
                  </a:solidFill>
                </a:rPr>
                <a:t> El departamento de finanzas exige eliminar los centavos del historial para facilitar las transferencias. Ejecuta un ciclo que recorra la matriz restante, extraiga la tarifa monetaria de cada fila, </a:t>
              </a:r>
              <a:r>
                <a:rPr b="1" lang="en-US" sz="1200">
                  <a:solidFill>
                    <a:schemeClr val="dk1"/>
                  </a:solidFill>
                </a:rPr>
                <a:t>la redondee al entero más cercano</a:t>
              </a:r>
              <a:r>
                <a:rPr lang="en-US" sz="1200">
                  <a:solidFill>
                    <a:schemeClr val="dk1"/>
                  </a:solidFill>
                </a:rPr>
                <a:t> usando </a:t>
              </a:r>
              <a:r>
                <a:rPr lang="en-US" sz="1200">
                  <a:solidFill>
                    <a:srgbClr val="188038"/>
                  </a:solidFill>
                </a:rPr>
                <a:t>Math.round()</a:t>
              </a:r>
              <a:r>
                <a:rPr lang="en-US" sz="1200">
                  <a:solidFill>
                    <a:schemeClr val="dk1"/>
                  </a:solidFill>
                </a:rPr>
                <a:t> y guarde el precio corregido exactamente en la misma celda de la matriz.</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US" sz="1200">
                  <a:solidFill>
                    <a:schemeClr val="dk1"/>
                  </a:solidFill>
                </a:rPr>
                <a:t>Bonificación:</a:t>
              </a:r>
              <a:r>
                <a:rPr lang="en-US" sz="1200">
                  <a:solidFill>
                    <a:schemeClr val="dk1"/>
                  </a:solidFill>
                </a:rPr>
                <a:t> La empresa dará un bono al conductor que haya hecho un viaje largo (mayor a 20 km). Recorre la matriz buscando en la columna de distancia; si encuentras un registro que cumpla la condición, imprime en pantalla: </a:t>
              </a:r>
              <a:r>
                <a:rPr i="1" lang="en-US" sz="1200">
                  <a:solidFill>
                    <a:schemeClr val="dk1"/>
                  </a:solidFill>
                </a:rPr>
                <a:t>"¡Bono aprobado para el conductor [Nombre] por su viaje de [Distancia] km!"</a:t>
              </a:r>
              <a:r>
                <a:rPr lang="en-US"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US" sz="1200">
                  <a:solidFill>
                    <a:schemeClr val="dk1"/>
                  </a:solidFill>
                </a:rPr>
                <a:t>Reporte de Liquidación:</a:t>
              </a:r>
              <a:r>
                <a:rPr lang="en-US" sz="1200">
                  <a:solidFill>
                    <a:schemeClr val="dk1"/>
                  </a:solidFill>
                </a:rPr>
                <a:t> Utilizando un bucle optimizado de solo lectura, recorre e imprime el historial final depurado con el formato: </a:t>
              </a:r>
              <a:r>
                <a:rPr lang="en-US" sz="1200">
                  <a:solidFill>
                    <a:srgbClr val="188038"/>
                  </a:solidFill>
                </a:rPr>
                <a:t>Conductor: [Nombre] | Distancia: [Km] | Tarifa Final: L. [Valor]</a:t>
              </a:r>
              <a:r>
                <a:rPr lang="en-US" sz="1200">
                  <a:solidFill>
                    <a:schemeClr val="dk1"/>
                  </a:solidFill>
                </a:rPr>
                <a:t>.</a:t>
              </a:r>
              <a:endParaRPr b="1" sz="2000">
                <a:solidFill>
                  <a:srgbClr val="121212"/>
                </a:solidFill>
                <a:latin typeface="Arial"/>
                <a:ea typeface="Arial"/>
                <a:cs typeface="Arial"/>
                <a:sym typeface="Arial"/>
              </a:endParaRPr>
            </a:p>
          </p:txBody>
        </p:sp>
        <p:sp>
          <p:nvSpPr>
            <p:cNvPr id="528" name="Google Shape;528;p37"/>
            <p:cNvSpPr/>
            <p:nvPr/>
          </p:nvSpPr>
          <p:spPr>
            <a:xfrm>
              <a:off x="4476750" y="5609989"/>
              <a:ext cx="7048500" cy="486000"/>
            </a:xfrm>
            <a:prstGeom prst="roundRect">
              <a:avLst>
                <a:gd fmla="val 6250" name="adj"/>
              </a:avLst>
            </a:prstGeom>
            <a:solidFill>
              <a:srgbClr val="E8F0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37"/>
            <p:cNvSpPr txBox="1"/>
            <p:nvPr/>
          </p:nvSpPr>
          <p:spPr>
            <a:xfrm>
              <a:off x="819975" y="5577878"/>
              <a:ext cx="10610100" cy="486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100">
                  <a:solidFill>
                    <a:srgbClr val="005088"/>
                  </a:solidFill>
                  <a:latin typeface="Arial"/>
                  <a:ea typeface="Arial"/>
                  <a:cs typeface="Arial"/>
                  <a:sym typeface="Arial"/>
                </a:rPr>
                <a:t>Métodos de Vector a utilizar: </a:t>
              </a:r>
              <a:r>
                <a:rPr lang="en-US" sz="1100">
                  <a:solidFill>
                    <a:srgbClr val="188038"/>
                  </a:solidFill>
                </a:rPr>
                <a:t>add(E e)</a:t>
              </a:r>
              <a:r>
                <a:rPr lang="en-US" sz="1100">
                  <a:solidFill>
                    <a:schemeClr val="dk1"/>
                  </a:solidFill>
                </a:rPr>
                <a:t>, </a:t>
              </a:r>
              <a:r>
                <a:rPr lang="en-US" sz="1100">
                  <a:solidFill>
                    <a:srgbClr val="188038"/>
                  </a:solidFill>
                </a:rPr>
                <a:t>get(int index)</a:t>
              </a:r>
              <a:r>
                <a:rPr lang="en-US" sz="1100">
                  <a:solidFill>
                    <a:schemeClr val="dk1"/>
                  </a:solidFill>
                </a:rPr>
                <a:t>, </a:t>
              </a:r>
              <a:r>
                <a:rPr lang="en-US" sz="1100">
                  <a:solidFill>
                    <a:srgbClr val="188038"/>
                  </a:solidFill>
                </a:rPr>
                <a:t>set(int index, E element)</a:t>
              </a:r>
              <a:r>
                <a:rPr lang="en-US" sz="1100">
                  <a:solidFill>
                    <a:schemeClr val="dk1"/>
                  </a:solidFill>
                </a:rPr>
                <a:t>, </a:t>
              </a:r>
              <a:r>
                <a:rPr lang="en-US" sz="1100">
                  <a:solidFill>
                    <a:srgbClr val="188038"/>
                  </a:solidFill>
                </a:rPr>
                <a:t>remove(int index)</a:t>
              </a:r>
              <a:r>
                <a:rPr lang="en-US" sz="1100">
                  <a:solidFill>
                    <a:schemeClr val="dk1"/>
                  </a:solidFill>
                </a:rPr>
                <a:t>, </a:t>
              </a:r>
              <a:r>
                <a:rPr lang="en-US" sz="1100">
                  <a:solidFill>
                    <a:srgbClr val="188038"/>
                  </a:solidFill>
                </a:rPr>
                <a:t>size(), </a:t>
              </a:r>
              <a:r>
                <a:rPr lang="en-US" sz="1100">
                  <a:solidFill>
                    <a:schemeClr val="dk1"/>
                  </a:solidFill>
                </a:rPr>
                <a:t> </a:t>
              </a:r>
              <a:r>
                <a:rPr lang="en-US" sz="1100">
                  <a:solidFill>
                    <a:srgbClr val="188038"/>
                  </a:solidFill>
                </a:rPr>
                <a:t>Math.round()</a:t>
              </a:r>
              <a:r>
                <a:rPr lang="en-US" sz="1100">
                  <a:solidFill>
                    <a:schemeClr val="dk1"/>
                  </a:solidFill>
                </a:rPr>
                <a:t>, bucle clásico </a:t>
              </a:r>
              <a:r>
                <a:rPr lang="en-US" sz="1100">
                  <a:solidFill>
                    <a:srgbClr val="188038"/>
                  </a:solidFill>
                </a:rPr>
                <a:t>for</a:t>
              </a:r>
              <a:r>
                <a:rPr lang="en-US" sz="1100">
                  <a:solidFill>
                    <a:schemeClr val="dk1"/>
                  </a:solidFill>
                </a:rPr>
                <a:t>, bucle mejorado </a:t>
              </a:r>
              <a:r>
                <a:rPr lang="en-US" sz="1100">
                  <a:solidFill>
                    <a:srgbClr val="188038"/>
                  </a:solidFill>
                </a:rPr>
                <a:t>for-each</a:t>
              </a:r>
              <a:endParaRPr b="1" sz="1100">
                <a:solidFill>
                  <a:schemeClr val="dk1"/>
                </a:solidFil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pic>
        <p:nvPicPr>
          <p:cNvPr descr="image.png" id="534" name="Google Shape;534;p3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35" name="Google Shape;535;p38"/>
          <p:cNvPicPr preferRelativeResize="0"/>
          <p:nvPr/>
        </p:nvPicPr>
        <p:blipFill rotWithShape="1">
          <a:blip r:embed="rId4">
            <a:alphaModFix/>
          </a:blip>
          <a:srcRect b="0" l="0" r="0" t="0"/>
          <a:stretch/>
        </p:blipFill>
        <p:spPr>
          <a:xfrm>
            <a:off x="1809750" y="1711672"/>
            <a:ext cx="8572500" cy="3434506"/>
          </a:xfrm>
          <a:prstGeom prst="rect">
            <a:avLst/>
          </a:prstGeom>
          <a:noFill/>
          <a:ln>
            <a:noFill/>
          </a:ln>
        </p:spPr>
      </p:pic>
      <p:sp>
        <p:nvSpPr>
          <p:cNvPr id="536" name="Google Shape;536;p38"/>
          <p:cNvSpPr txBox="1"/>
          <p:nvPr/>
        </p:nvSpPr>
        <p:spPr>
          <a:xfrm>
            <a:off x="2215514" y="3071824"/>
            <a:ext cx="7761000" cy="69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F3F0DF"/>
                </a:solidFill>
                <a:latin typeface="Merriweather"/>
                <a:ea typeface="Merriweather"/>
                <a:cs typeface="Merriweather"/>
                <a:sym typeface="Merriweather"/>
              </a:rPr>
              <a:t>¿Preguntas o Dudas?</a:t>
            </a:r>
            <a:endParaRPr b="0" i="0" sz="1400" u="none" cap="none" strike="noStrike">
              <a:solidFill>
                <a:srgbClr val="000000"/>
              </a:solidFill>
              <a:latin typeface="Arial"/>
              <a:ea typeface="Arial"/>
              <a:cs typeface="Arial"/>
              <a:sym typeface="Arial"/>
            </a:endParaRPr>
          </a:p>
        </p:txBody>
      </p:sp>
      <p:sp>
        <p:nvSpPr>
          <p:cNvPr id="537" name="Google Shape;537;p38"/>
          <p:cNvSpPr txBox="1"/>
          <p:nvPr/>
        </p:nvSpPr>
        <p:spPr>
          <a:xfrm>
            <a:off x="2400300" y="3681412"/>
            <a:ext cx="7391400" cy="215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