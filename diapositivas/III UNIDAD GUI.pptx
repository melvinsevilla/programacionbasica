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Inter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Merriweather"/>
      <p:regular r:id="rId30"/>
      <p:bold r:id="rId31"/>
      <p:italic r:id="rId32"/>
      <p:boldItalic r:id="rId33"/>
    </p:embeddedFont>
    <p:embeddedFont>
      <p:font typeface="DM Sans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F8B6323-45A6-454B-B1D6-318687DAFEAF}">
  <a:tblStyle styleId="{6F8B6323-45A6-454B-B1D6-318687DAFEA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Inter-regular.fntdata"/><Relationship Id="rId21" Type="http://schemas.openxmlformats.org/officeDocument/2006/relationships/slide" Target="slides/slide14.xml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Poppins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oppins-bold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erriweather-bold.fntdata"/><Relationship Id="rId30" Type="http://schemas.openxmlformats.org/officeDocument/2006/relationships/font" Target="fonts/Merriweather-regular.fntdata"/><Relationship Id="rId11" Type="http://schemas.openxmlformats.org/officeDocument/2006/relationships/slide" Target="slides/slide4.xml"/><Relationship Id="rId33" Type="http://schemas.openxmlformats.org/officeDocument/2006/relationships/font" Target="fonts/Merriweather-boldItalic.fntdata"/><Relationship Id="rId10" Type="http://schemas.openxmlformats.org/officeDocument/2006/relationships/slide" Target="slides/slide3.xml"/><Relationship Id="rId32" Type="http://schemas.openxmlformats.org/officeDocument/2006/relationships/font" Target="fonts/Merriweather-italic.fntdata"/><Relationship Id="rId13" Type="http://schemas.openxmlformats.org/officeDocument/2006/relationships/slide" Target="slides/slide6.xml"/><Relationship Id="rId35" Type="http://schemas.openxmlformats.org/officeDocument/2006/relationships/font" Target="fonts/DMSans-bold.fntdata"/><Relationship Id="rId12" Type="http://schemas.openxmlformats.org/officeDocument/2006/relationships/slide" Target="slides/slide5.xml"/><Relationship Id="rId34" Type="http://schemas.openxmlformats.org/officeDocument/2006/relationships/font" Target="fonts/DMSans-regular.fntdata"/><Relationship Id="rId15" Type="http://schemas.openxmlformats.org/officeDocument/2006/relationships/slide" Target="slides/slide8.xml"/><Relationship Id="rId37" Type="http://schemas.openxmlformats.org/officeDocument/2006/relationships/font" Target="fonts/DMSans-boldItalic.fntdata"/><Relationship Id="rId14" Type="http://schemas.openxmlformats.org/officeDocument/2006/relationships/slide" Target="slides/slide7.xml"/><Relationship Id="rId36" Type="http://schemas.openxmlformats.org/officeDocument/2006/relationships/font" Target="fonts/DMSans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38b5a1805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f38b5a1805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38b5a1805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f38b5a1805_2_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38b5a1805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38b5a1805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f38b5a1805_2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g3f38b5a1805_2_10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38b5a1805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f38b5a1805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38b5a1805_2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g3f38b5a1805_2_1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38b5a1805_2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3" name="Google Shape;193;g3f38b5a1805_2_1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38b5a1805_2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f38b5a1805_2_17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f38b5a1805_2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9" name="Google Shape;229;g3f38b5a1805_2_18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38b5a1805_2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f38b5a1805_2_19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38b5a1805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38b5a1805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38b5a1805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f38b5a1805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38b5a1805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f38b5a1805_0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38b5a1805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f38b5a1805_0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4" y="1628776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4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5.png"/><Relationship Id="rId9" Type="http://schemas.openxmlformats.org/officeDocument/2006/relationships/image" Target="../media/image15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21.png"/><Relationship Id="rId8" Type="http://schemas.openxmlformats.org/officeDocument/2006/relationships/image" Target="../media/image3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Relationship Id="rId5" Type="http://schemas.openxmlformats.org/officeDocument/2006/relationships/image" Target="../media/image28.png"/><Relationship Id="rId6" Type="http://schemas.openxmlformats.org/officeDocument/2006/relationships/image" Target="../media/image19.png"/><Relationship Id="rId7" Type="http://schemas.openxmlformats.org/officeDocument/2006/relationships/image" Target="../media/image37.png"/><Relationship Id="rId8" Type="http://schemas.openxmlformats.org/officeDocument/2006/relationships/image" Target="../media/image3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5.png"/><Relationship Id="rId6" Type="http://schemas.openxmlformats.org/officeDocument/2006/relationships/image" Target="../media/image3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Relationship Id="rId6" Type="http://schemas.openxmlformats.org/officeDocument/2006/relationships/image" Target="../media/image38.png"/><Relationship Id="rId7" Type="http://schemas.openxmlformats.org/officeDocument/2006/relationships/image" Target="../media/image3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363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1532606" y="1793700"/>
            <a:ext cx="6078825" cy="62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s" sz="41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Programación Basica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2482453" y="2533129"/>
            <a:ext cx="4179150" cy="242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" sz="16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GUI con Java Swing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5"/>
          <p:cNvSpPr txBox="1"/>
          <p:nvPr/>
        </p:nvSpPr>
        <p:spPr>
          <a:xfrm>
            <a:off x="3214030" y="3157444"/>
            <a:ext cx="2715975" cy="190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M.Sc Melvin David Sevilla Medina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765399"/>
            <a:ext cx="3929063" cy="2327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1765399"/>
            <a:ext cx="3929063" cy="23270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 txBox="1"/>
          <p:nvPr/>
        </p:nvSpPr>
        <p:spPr>
          <a:xfrm>
            <a:off x="571500" y="428625"/>
            <a:ext cx="855106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" sz="27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¿Qué es Java Swing?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6"/>
          <p:cNvSpPr/>
          <p:nvPr/>
        </p:nvSpPr>
        <p:spPr>
          <a:xfrm>
            <a:off x="428625" y="428625"/>
            <a:ext cx="57150" cy="428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650081" y="2501205"/>
            <a:ext cx="366045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El Toolkit de Java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650081" y="2865536"/>
            <a:ext cx="3486150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Es una biblioteca (parte de JFC) utilizada para crear interfaces gráficas (GUI) en Java. Proporciona componentes como botones, tablas y marcos.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5007769" y="2501205"/>
            <a:ext cx="366045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Ligero y Flexible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6"/>
          <p:cNvSpPr txBox="1"/>
          <p:nvPr/>
        </p:nvSpPr>
        <p:spPr>
          <a:xfrm>
            <a:off x="5007769" y="2865536"/>
            <a:ext cx="3486150" cy="754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 diferencia de AWT, los componentes Swing están escritos 100% en Java, lo que permite que se vean iguales en Windows, Mac y Linux.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46" name="Google Shape;146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0081" y="2022574"/>
            <a:ext cx="32146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07769" y="2022574"/>
            <a:ext cx="321469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uedes quitar la imagen, y colocar, como la estructura del archivo, osea, como se declara la clase que extien" id="152" name="Google Shape;15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765399"/>
            <a:ext cx="2619412" cy="2327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2349" y="1765399"/>
            <a:ext cx="2619412" cy="2327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2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74" y="1765399"/>
            <a:ext cx="2619412" cy="232707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8"/>
          <p:cNvSpPr txBox="1"/>
          <p:nvPr/>
        </p:nvSpPr>
        <p:spPr>
          <a:xfrm>
            <a:off x="571500" y="428625"/>
            <a:ext cx="855106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" sz="27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El Ciclo de Inicialización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8"/>
          <p:cNvSpPr/>
          <p:nvPr/>
        </p:nvSpPr>
        <p:spPr>
          <a:xfrm>
            <a:off x="428625" y="428625"/>
            <a:ext cx="57150" cy="428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650081" y="2501205"/>
            <a:ext cx="22853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Constructor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650081" y="2865536"/>
            <a:ext cx="21764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Aquí inicializamos los componentes, configuramos tamaños y añadimos elementos al contenedor.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3483806" y="2501205"/>
            <a:ext cx="22853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Método Main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3483806" y="2865536"/>
            <a:ext cx="21764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Punto de entrada. Es vital llamar a setVisible(true) para que la ventana aparezca físicamente.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6317531" y="2501205"/>
            <a:ext cx="22853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Visibilidad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6317531" y="2865536"/>
            <a:ext cx="2176499" cy="1005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Por defecto, las ventanas en Java se crean ocultas. Controlamos su aparición con métodos lógicos.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9" name="Google Shape;169;p2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081" y="2022574"/>
            <a:ext cx="321469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83806" y="2022574"/>
            <a:ext cx="214313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2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17531" y="2022574"/>
            <a:ext cx="321469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uedes colocar un codigo en vez de la imagen" id="176" name="Google Shape;176;p29"/>
          <p:cNvPicPr preferRelativeResize="0"/>
          <p:nvPr/>
        </p:nvPicPr>
        <p:blipFill rotWithShape="1">
          <a:blip r:embed="rId3">
            <a:alphaModFix/>
          </a:blip>
          <a:srcRect b="0" l="2420" r="-2420" t="0"/>
          <a:stretch/>
        </p:blipFill>
        <p:spPr>
          <a:xfrm>
            <a:off x="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915418"/>
            <a:ext cx="3929063" cy="15613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1915418"/>
            <a:ext cx="3929063" cy="1561355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/>
        </p:nvSpPr>
        <p:spPr>
          <a:xfrm>
            <a:off x="571500" y="428625"/>
            <a:ext cx="855106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" sz="27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Layout Null y setBounds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0"/>
          <p:cNvSpPr/>
          <p:nvPr/>
        </p:nvSpPr>
        <p:spPr>
          <a:xfrm>
            <a:off x="428625" y="428625"/>
            <a:ext cx="57150" cy="428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>
            <a:off x="428625" y="3691086"/>
            <a:ext cx="828675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Importante:</a:t>
            </a: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Si usas layout null, </a:t>
            </a:r>
            <a:r>
              <a:rPr b="0" i="1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debes</a:t>
            </a: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usar setBounds o el componente tendrá tamaño cero.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>
            <a:off x="650081" y="2136874"/>
            <a:ext cx="366045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setLayout(null)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0"/>
          <p:cNvSpPr txBox="1"/>
          <p:nvPr/>
        </p:nvSpPr>
        <p:spPr>
          <a:xfrm>
            <a:off x="650081" y="2501205"/>
            <a:ext cx="3486150" cy="754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Desactiva el "Administrador de Diseño" automático. Nos da libertad total, pero requiere posicionamiento manual.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5007769" y="2136874"/>
            <a:ext cx="366045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setBounds(x, y, w, h)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5007769" y="2501205"/>
            <a:ext cx="3486150" cy="754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Define 4 parámetros esenciales:</a:t>
            </a:r>
            <a:br>
              <a:rPr b="0" i="0" lang="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x, y:</a:t>
            </a: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Coordenadas de inicio.</a:t>
            </a:r>
            <a:br>
              <a:rPr b="0" i="0" lang="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w, h:</a:t>
            </a: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Ancho y alto del componente.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1765399"/>
            <a:ext cx="2619412" cy="2327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62349" y="1765399"/>
            <a:ext cx="2619412" cy="23270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74" y="1765399"/>
            <a:ext cx="2619412" cy="2327076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31"/>
          <p:cNvSpPr txBox="1"/>
          <p:nvPr/>
        </p:nvSpPr>
        <p:spPr>
          <a:xfrm>
            <a:off x="571500" y="428625"/>
            <a:ext cx="855106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" sz="27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Componentes del Sistema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1"/>
          <p:cNvSpPr/>
          <p:nvPr/>
        </p:nvSpPr>
        <p:spPr>
          <a:xfrm>
            <a:off x="428625" y="428625"/>
            <a:ext cx="57150" cy="428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1"/>
          <p:cNvSpPr txBox="1"/>
          <p:nvPr/>
        </p:nvSpPr>
        <p:spPr>
          <a:xfrm>
            <a:off x="650081" y="2501205"/>
            <a:ext cx="22853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Pasivos (Lectura)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1"/>
          <p:cNvSpPr txBox="1"/>
          <p:nvPr/>
        </p:nvSpPr>
        <p:spPr>
          <a:xfrm>
            <a:off x="650081" y="2865545"/>
            <a:ext cx="2176425" cy="110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JLabel (textos), JComboBox (filtros), JCheckBox (opciones), JRadioButton (selección única).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3483806" y="2501205"/>
            <a:ext cx="22853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Activos (Acción)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3483806" y="2865536"/>
            <a:ext cx="2176499" cy="754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JButton. Es el motor que dispara eventos cuando el usuario interactúa con él.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6317531" y="2501205"/>
            <a:ext cx="228532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s" sz="16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Entrada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6317531" y="2865536"/>
            <a:ext cx="2176499" cy="754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JTextField. Permite capturar texto libre del usuario, como las "notas del pedido".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7" name="Google Shape;207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081" y="2022574"/>
            <a:ext cx="250031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3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83806" y="2022574"/>
            <a:ext cx="178594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3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17531" y="2022574"/>
            <a:ext cx="285750" cy="28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886173"/>
            <a:ext cx="3929063" cy="2085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3428777"/>
            <a:ext cx="3929063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007769" y="2681808"/>
            <a:ext cx="3486150" cy="414338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2"/>
          <p:cNvSpPr txBox="1"/>
          <p:nvPr/>
        </p:nvSpPr>
        <p:spPr>
          <a:xfrm>
            <a:off x="571500" y="428625"/>
            <a:ext cx="855106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" sz="27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Listas Dinámicas: JList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2"/>
          <p:cNvSpPr/>
          <p:nvPr/>
        </p:nvSpPr>
        <p:spPr>
          <a:xfrm>
            <a:off x="428625" y="428625"/>
            <a:ext cx="57150" cy="428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2"/>
          <p:cNvSpPr txBox="1"/>
          <p:nvPr/>
        </p:nvSpPr>
        <p:spPr>
          <a:xfrm>
            <a:off x="428625" y="1886173"/>
            <a:ext cx="3929063" cy="502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Para manejar datos que cambian (como un carrito de compras), usamos dos partes: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32"/>
          <p:cNvSpPr txBox="1"/>
          <p:nvPr/>
        </p:nvSpPr>
        <p:spPr>
          <a:xfrm>
            <a:off x="5007769" y="2107629"/>
            <a:ext cx="3486150" cy="502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Para añadir un elemento en tiempo de ejecución: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32"/>
          <p:cNvSpPr txBox="1"/>
          <p:nvPr/>
        </p:nvSpPr>
        <p:spPr>
          <a:xfrm>
            <a:off x="5007769" y="3167583"/>
            <a:ext cx="3486150" cy="1828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" sz="9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 vista (JList) se actualiza automáticamente.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2"/>
          <p:cNvSpPr txBox="1"/>
          <p:nvPr/>
        </p:nvSpPr>
        <p:spPr>
          <a:xfrm>
            <a:off x="714375" y="2388914"/>
            <a:ext cx="3643313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JList:</a:t>
            </a: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 componente visual.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2"/>
          <p:cNvSpPr txBox="1"/>
          <p:nvPr/>
        </p:nvSpPr>
        <p:spPr>
          <a:xfrm>
            <a:off x="714375" y="2783160"/>
            <a:ext cx="3643313" cy="502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DefaultListModel:</a:t>
            </a: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 cerebro que guarda los datos.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5" name="Google Shape;225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625" y="2428205"/>
            <a:ext cx="157163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28625" y="2822450"/>
            <a:ext cx="135731" cy="164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325737"/>
            <a:ext cx="3929063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86313" y="1500188"/>
            <a:ext cx="3929063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3"/>
          <p:cNvSpPr txBox="1"/>
          <p:nvPr/>
        </p:nvSpPr>
        <p:spPr>
          <a:xfrm>
            <a:off x="571500" y="428625"/>
            <a:ext cx="855106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" sz="27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Scroll y JScrollPane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33"/>
          <p:cNvSpPr/>
          <p:nvPr/>
        </p:nvSpPr>
        <p:spPr>
          <a:xfrm>
            <a:off x="428625" y="428625"/>
            <a:ext cx="57150" cy="428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3"/>
          <p:cNvSpPr txBox="1"/>
          <p:nvPr/>
        </p:nvSpPr>
        <p:spPr>
          <a:xfrm>
            <a:off x="428625" y="1500188"/>
            <a:ext cx="3929063" cy="754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Las listas no tienen barras de desplazamiento por sí solas. Necesitamos envolverlas en un contenedor especial: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33"/>
          <p:cNvSpPr txBox="1"/>
          <p:nvPr/>
        </p:nvSpPr>
        <p:spPr>
          <a:xfrm>
            <a:off x="428625" y="3182987"/>
            <a:ext cx="3929063" cy="5027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Ojo:</a:t>
            </a: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Se añade el ScrollPane al JFrame, no la lista directamente.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8" name="Google Shape;238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00600" y="1514475"/>
            <a:ext cx="3900488" cy="282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BF7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3" name="Google Shape;24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4"/>
          <p:cNvSpPr txBox="1"/>
          <p:nvPr/>
        </p:nvSpPr>
        <p:spPr>
          <a:xfrm>
            <a:off x="571500" y="428625"/>
            <a:ext cx="8551069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s" sz="2700" u="none" cap="none" strike="noStrike">
                <a:solidFill>
                  <a:srgbClr val="003366"/>
                </a:solidFill>
                <a:latin typeface="Merriweather"/>
                <a:ea typeface="Merriweather"/>
                <a:cs typeface="Merriweather"/>
                <a:sym typeface="Merriweather"/>
              </a:rPr>
              <a:t>Lógica de Eventos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34"/>
          <p:cNvSpPr/>
          <p:nvPr/>
        </p:nvSpPr>
        <p:spPr>
          <a:xfrm>
            <a:off x="428625" y="428625"/>
            <a:ext cx="57150" cy="428625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4"/>
          <p:cNvSpPr txBox="1"/>
          <p:nvPr/>
        </p:nvSpPr>
        <p:spPr>
          <a:xfrm>
            <a:off x="714375" y="2140446"/>
            <a:ext cx="800100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ActionListener:</a:t>
            </a: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Escucha el clic del botón "Agregar".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34"/>
          <p:cNvSpPr txBox="1"/>
          <p:nvPr/>
        </p:nvSpPr>
        <p:spPr>
          <a:xfrm>
            <a:off x="714375" y="2534692"/>
            <a:ext cx="800100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Captura:</a:t>
            </a: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Obtenemos el ítem seleccionado de la lista origen.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34"/>
          <p:cNvSpPr txBox="1"/>
          <p:nvPr/>
        </p:nvSpPr>
        <p:spPr>
          <a:xfrm>
            <a:off x="714375" y="2928938"/>
            <a:ext cx="800100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Acción:</a:t>
            </a: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Insertamos ese ítem en el modelo de la lista destino (carrito).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34"/>
          <p:cNvSpPr txBox="1"/>
          <p:nvPr/>
        </p:nvSpPr>
        <p:spPr>
          <a:xfrm>
            <a:off x="714375" y="3323182"/>
            <a:ext cx="800100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Lectura Pasiva:</a:t>
            </a:r>
            <a:r>
              <a:rPr b="0" i="0" lang="es" sz="12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 presionar el botón, consultamos el estado de combos y radios para el resumen final.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0" name="Google Shape;250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2179736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2573982"/>
            <a:ext cx="135731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28625" y="2968228"/>
            <a:ext cx="142875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8625" y="3362474"/>
            <a:ext cx="178594" cy="164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uedes sacar los componentes de GUI y hacer un glosario de todo ellos&#10;Segun este ejercicio&#10;&#10;import javax.swing.*;&#10;import java.awt.event.ActionEvent;&#10;import java.awt.event.ActionListener;&#10;import java.util.Vector;&#10;import java.util.List;&#10;&#10;public class SupermercadoGUI extends JFrame {&#10;&#10;    // 1. ARREGLOS DE DATOS&#10;    Vector&lt;String&gt; productosDisponibles = new Vector&lt;&gt;(List.of(&#10;        &quot;Leche L. 1.50&quot;, &#10;        &quot;Pan L. 2.00&quot;, &#10;        &quot;Café L. 3.80&quot;, &#10;        &quot;Arroz L. 1.10&quot;, &#10;        &quot;Huevo L. 2.50&quot;&#10;    ));&#10;&#10;    // 2. COMPONENTES DE LA INTERFAZ&#10;    private JLabel lblTitulo, lblProductos, lblCarrito, lblDetalle;&#10;    private JTextField txtNotas;    &#10;    private JComboBox&lt;String&gt; comboCategoria;&#10;    private JRadioButton rbEfectivo, rbTarjeta;&#10;    private ButtonGroup grupoPago;&#10;    private JCheckBox chkDescuento;&#10;    private JList&lt;String&gt; listaOrigen, listaDestino;&#10;    private DefaultListModel&lt;String&gt; modeloCarrito; // Modelo dinámico para la segunda lista&#10;    private JButton btnAgregar;&#10;&#10;    public SupermercadoGUI() {&#10;&#10;&#10;&#10;        // --- CONFIGURACIÓN DE LA VENTANA (JFrame) ---&#10;        setTitle(&quot;Sistema de Ventas - Aula de Programación&quot;);&#10;        setSize(700, 500);&#10;        setLayout(null); // Sin Layout Managers, usamos coordenadas puras&#10;        setDefaultCloseOperation(JFrame.EXIT_ON_CLOSE);&#10;        setLocationRelativeTo(null); // Centra la ventana en la pantalla&#10;&#10;&#10;&#10;&#10;&#10;&#10;&#10;        // --- BLOQUE 1&#10;&#10;        lblTitulo = new JLabel(&quot;--- MINI SUPERMARKET ---&quot;, SwingConstants.CENTER);&#10;        lblTitulo.setBounds(200, 10, 300, 30);&#10;        add(lblTitulo);&#10;        lblProductos = new JLabel(&quot;Productos Disponibles:&quot;);&#10;        lblProductos.setBounds(40, 60, 150, 20);&#10;        add(lblProductos);&#10;&#10;        // Selector desplegable (Pasivo)&#10;        JLabel lblCombo = new JLabel(&quot;Filtrar Categoría:&quot;);&#10;        lblCombo.setBounds(40, 90, 120, 20);&#10;        add(lblCombo);        &#10;        String[] categorias = {&quot;Todos&quot;, &quot;Lácteos&quot;, &quot;Abarrotes&quot;, &quot;Bebidas&quot;};&#10;        comboCategoria = new JComboBox&lt;&gt;(categorias);&#10;        comboCategoria.setBounds(40, 115, 150, 25);&#10;        add(comboCategoria);&#10;&#10;        // CheckBox para descuento (Pasivo)&#10;        chkDescuento = new JCheckBox(&quot;¿Tiene cupón de descuento (10%)?&quot;);&#10;        chkDescuento.setBounds(40, 160, 250, 25);&#10;        add(chkDescuento);&#10;&#10;        // RadioButtons para método de pago (Pasivos, agrupados)&#10;        JLabel lblPago = new JLabel(&quot;Método de Pago:&quot;);&#10;        lblPago.setBounds(40, 210, 150, 20);&#10;        add(lblPago);&#10;        rbEfectivo = new JRadioButton(&quot;Efectivo&quot;, true); // Marcado por defecto&#10;        rbEfectivo.setBounds(40, 235, 100, 20);&#10;        rbTarjeta = new JRadioButton(&quot;Tarjeta&quot;, false);&#10;        rbTarjeta.setBounds(140, 235, 100, 20);&#10;        // ¡Importante! Agruparlos para que solo se pueda seleccionar uno&#10;        grupoPago = new ButtonGroup();&#10;        grupoPago.add(rbEfectivo);&#10;        grupoPago.add(rbTarjeta);        &#10;        add(rbEfectivo);&#10;        add(rbTarjeta);&#10;&#10;        // Notas&#10;        lblDetalle = new JLabel(&quot;Notas adicionales para el pedido:&quot;);&#10;        lblDetalle.setBounds(40, 340, 250, 20);&#10;        add(lblDetalle);&#10;        txtNotas = new JTextField();&#10;        txtNotas.setBounds(40, 365, 200, 25);&#10;        add(txtNotas);&#10;&#10;&#10;&#10;&#10;&#10;&#10;        // --- BLOQUE 2&#10;&#10;        listaOrigen = new JList&lt;&gt;(productosDisponibles);&#10;        JScrollPane scrollOrigen = new JScrollPane(listaOrigen);&#10;        scrollOrigen.setBounds(280, 90, 160, 200); // x, y, ancho, alto&#10;        add(scrollOrigen);&#10;     &#10;        btnAgregar = new JButton(&quot;Agregar al Carrito &gt;&gt;&quot;);&#10;        btnAgregar.setBounds(280, 310, 160, 35);&#10;        add(btnAgregar);&#10; &#10;&#10;    &#10;&#10;        // --- BLOQUE 3&#10;&#10;        lblCarrito = new JLabel(&quot;Tu Carrito de Compras:&quot;);&#10;        lblCarrito.setBounds(480, 60, 150, 20);&#10;        add(lblCarrito);&#10;&#10;        modeloCarrito = new DefaultListModel&lt;&gt;();&#10;        listaDestino = new JList&lt;&gt;(modeloCarrito);&#10;        JScrollPane scrollDestino = new JScrollPane(listaDestino);&#10;        scrollDestino.setBounds(480, 90, 160, 200);&#10;        add(scrollDestino);&#10;&#10;&#10;&#10;&#10;&#10;&#10;        // --- BLOQUE 4: EVENTOS (Acciones de los botones)&#10;&#10;        btnAgregar.addActionListener(new ActionListener() {&#10;            @Override&#10;            public void actionPerformed(ActionEvent e) {&#10;                // 1. Operación con las Listas (Traspaso de datos)&#10;                String productoSeleccionado = listaOrigen.getSelectedValue();&#10;&#10;                if (productoSeleccionado != null) {&#10;                    // Agregamos el elemento visualmente a la lista destino a través de su modelo&#10;                    modeloCarrito.addElement(productoSeleccionado);&#10;&#10;                    // 2. Demostración de lectura de componentes PASIVOS (Sin eventos individuales)&#10;                    String categoria = (String) comboCategoria.getSelectedItem();&#10;                    &#10;                    String mensajeDescuento = &quot;No&quot;;&#10;                    if (chkDescuento.isSelected()) {&#10;                        mensajeDescuento = &quot;Sí (10%)&quot;;&#10;                    }&#10;                    &#10;      " id="258" name="Google Shape;25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uedes crearme una diapositiva con otros elementos que los anteriores, como los checkbox, radio butons, Jcombobox, etc" id="263" name="Google Shape;26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313" y="1635360"/>
            <a:ext cx="3786188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7"/>
          <p:cNvSpPr txBox="1"/>
          <p:nvPr/>
        </p:nvSpPr>
        <p:spPr>
          <a:xfrm>
            <a:off x="821518" y="1953250"/>
            <a:ext cx="7419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Vector:</a:t>
            </a:r>
            <a:r>
              <a:rPr b="0" i="0" lang="e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Utiliza Vector para almacenar nombre y precio unidos en un solo texto. Se visualiza mediante un </a:t>
            </a:r>
            <a:r>
              <a:rPr b="1" i="0" lang="es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JList</a:t>
            </a:r>
            <a:r>
              <a:rPr b="0" i="0" lang="e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71" name="Google Shape;271;p37"/>
          <p:cNvSpPr txBox="1"/>
          <p:nvPr/>
        </p:nvSpPr>
        <p:spPr>
          <a:xfrm>
            <a:off x="821518" y="2731925"/>
            <a:ext cx="74193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Matriz:</a:t>
            </a:r>
            <a:r>
              <a:rPr b="0" i="0" lang="e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Emplea Vector&gt;, separando atributos en columnas. Se visualiza mediante un </a:t>
            </a:r>
            <a:r>
              <a:rPr b="1" i="0" lang="es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JTable</a:t>
            </a:r>
            <a:r>
              <a:rPr b="0" i="0" lang="e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72" name="Google Shape;272;p37"/>
          <p:cNvSpPr txBox="1"/>
          <p:nvPr/>
        </p:nvSpPr>
        <p:spPr>
          <a:xfrm>
            <a:off x="821518" y="3510600"/>
            <a:ext cx="7486500" cy="5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Impacto Visual:</a:t>
            </a:r>
            <a:r>
              <a:rPr b="0" i="0" lang="es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El Código 2 ofrece una interfaz profesional con columnas alineadas y encabezados automáticos.</a:t>
            </a:r>
            <a:endParaRPr/>
          </a:p>
        </p:txBody>
      </p:sp>
      <p:pic>
        <p:nvPicPr>
          <p:cNvPr descr="image.png" id="273" name="Google Shape;27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985404"/>
            <a:ext cx="157163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764073"/>
            <a:ext cx="157163" cy="1643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542741"/>
            <a:ext cx="178594" cy="164306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7"/>
          <p:cNvSpPr txBox="1"/>
          <p:nvPr/>
        </p:nvSpPr>
        <p:spPr>
          <a:xfrm>
            <a:off x="714375" y="820526"/>
            <a:ext cx="825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Estructura de Datos y Visualización</a:t>
            </a:r>
            <a:endParaRPr sz="1100"/>
          </a:p>
        </p:txBody>
      </p:sp>
      <p:sp>
        <p:nvSpPr>
          <p:cNvPr id="277" name="Google Shape;277;p37"/>
          <p:cNvSpPr/>
          <p:nvPr/>
        </p:nvSpPr>
        <p:spPr>
          <a:xfrm>
            <a:off x="571500" y="820526"/>
            <a:ext cx="57000" cy="4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1789"/>
            <a:ext cx="8001000" cy="286464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4" name="Google Shape;284;p38"/>
          <p:cNvGraphicFramePr/>
          <p:nvPr/>
        </p:nvGraphicFramePr>
        <p:xfrm>
          <a:off x="571500" y="163178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{6F8B6323-45A6-454B-B1D6-318687DAFEAF}</a:tableStyleId>
              </a:tblPr>
              <a:tblGrid>
                <a:gridCol w="2111075"/>
                <a:gridCol w="2686850"/>
                <a:gridCol w="3203075"/>
              </a:tblGrid>
              <a:tr h="47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Característica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(JList)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2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(JTable)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47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Manejo de Datos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Strings planos (concatenados)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Objetos estructurados (matriz)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Cálculos Matemáticos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Difícil (requiere parsear texto)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Nativo (acceso directo a columnas)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Selección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Basada en valor del item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Basada en coordenadas (fila/col)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7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Escalabilidad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Baja (un solo dato por fila)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Alta (múltiples columnas de datos)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477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Actualización UI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Directa al modelo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s" sz="1100" u="none" cap="none" strike="noStrik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Requiere fireTableDataChanged()</a:t>
                      </a:r>
                      <a:endParaRPr sz="1100"/>
                    </a:p>
                  </a:txBody>
                  <a:tcPr marT="19050" marB="19050" marR="47625" marL="47625" anchor="ctr">
                    <a:lnL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150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5" name="Google Shape;285;p38"/>
          <p:cNvSpPr/>
          <p:nvPr/>
        </p:nvSpPr>
        <p:spPr>
          <a:xfrm>
            <a:off x="571500" y="2656916"/>
            <a:ext cx="21111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8"/>
          <p:cNvSpPr/>
          <p:nvPr/>
        </p:nvSpPr>
        <p:spPr>
          <a:xfrm>
            <a:off x="2682590" y="2656916"/>
            <a:ext cx="2686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8"/>
          <p:cNvSpPr/>
          <p:nvPr/>
        </p:nvSpPr>
        <p:spPr>
          <a:xfrm>
            <a:off x="5369421" y="2656916"/>
            <a:ext cx="32031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8"/>
          <p:cNvSpPr/>
          <p:nvPr/>
        </p:nvSpPr>
        <p:spPr>
          <a:xfrm>
            <a:off x="571500" y="3114116"/>
            <a:ext cx="21111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8"/>
          <p:cNvSpPr/>
          <p:nvPr/>
        </p:nvSpPr>
        <p:spPr>
          <a:xfrm>
            <a:off x="2682590" y="3114116"/>
            <a:ext cx="2686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8"/>
          <p:cNvSpPr/>
          <p:nvPr/>
        </p:nvSpPr>
        <p:spPr>
          <a:xfrm>
            <a:off x="5369421" y="3114116"/>
            <a:ext cx="32031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8"/>
          <p:cNvSpPr/>
          <p:nvPr/>
        </p:nvSpPr>
        <p:spPr>
          <a:xfrm>
            <a:off x="571500" y="3571316"/>
            <a:ext cx="21111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8"/>
          <p:cNvSpPr/>
          <p:nvPr/>
        </p:nvSpPr>
        <p:spPr>
          <a:xfrm>
            <a:off x="2682590" y="3571316"/>
            <a:ext cx="2686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8"/>
          <p:cNvSpPr/>
          <p:nvPr/>
        </p:nvSpPr>
        <p:spPr>
          <a:xfrm>
            <a:off x="5369421" y="3571316"/>
            <a:ext cx="32031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8"/>
          <p:cNvSpPr/>
          <p:nvPr/>
        </p:nvSpPr>
        <p:spPr>
          <a:xfrm>
            <a:off x="571500" y="4028516"/>
            <a:ext cx="21111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8"/>
          <p:cNvSpPr/>
          <p:nvPr/>
        </p:nvSpPr>
        <p:spPr>
          <a:xfrm>
            <a:off x="2682590" y="4028516"/>
            <a:ext cx="2686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8"/>
          <p:cNvSpPr/>
          <p:nvPr/>
        </p:nvSpPr>
        <p:spPr>
          <a:xfrm>
            <a:off x="5369421" y="4028516"/>
            <a:ext cx="32031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8"/>
          <p:cNvSpPr/>
          <p:nvPr/>
        </p:nvSpPr>
        <p:spPr>
          <a:xfrm>
            <a:off x="571500" y="4485716"/>
            <a:ext cx="21111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8"/>
          <p:cNvSpPr/>
          <p:nvPr/>
        </p:nvSpPr>
        <p:spPr>
          <a:xfrm>
            <a:off x="2682590" y="4485716"/>
            <a:ext cx="26868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8"/>
          <p:cNvSpPr/>
          <p:nvPr/>
        </p:nvSpPr>
        <p:spPr>
          <a:xfrm>
            <a:off x="5369421" y="4485716"/>
            <a:ext cx="3203100" cy="7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8"/>
          <p:cNvSpPr txBox="1"/>
          <p:nvPr/>
        </p:nvSpPr>
        <p:spPr>
          <a:xfrm>
            <a:off x="714375" y="820526"/>
            <a:ext cx="8250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4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Comparativa de Funcionalidades</a:t>
            </a:r>
            <a:endParaRPr sz="1100"/>
          </a:p>
        </p:txBody>
      </p:sp>
      <p:sp>
        <p:nvSpPr>
          <p:cNvPr id="301" name="Google Shape;301;p38"/>
          <p:cNvSpPr/>
          <p:nvPr/>
        </p:nvSpPr>
        <p:spPr>
          <a:xfrm>
            <a:off x="571500" y="820526"/>
            <a:ext cx="57000" cy="450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