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Urbanist"/>
      <p:regular r:id="rId23"/>
      <p:bold r:id="rId24"/>
      <p:italic r:id="rId25"/>
      <p:boldItalic r:id="rId26"/>
    </p:embeddedFont>
    <p:embeddedFont>
      <p:font typeface="DM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64926F-3757-4E45-858F-3DF6B26EAB61}">
  <a:tblStyle styleId="{A564926F-3757-4E45-858F-3DF6B26EAB6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DM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7bbdad76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d7bbdad76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d7bbdad76_0_3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d7bbdad76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d7bbdad76_0_5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d7bbdad76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c1bc62e1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ec1bc62e13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1a7740265_0_5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1a7740265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1a7740265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f1a774026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1a7740265_34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f1a7740265_34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1a7740265_34_2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f1a7740265_34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d7bbdad76_7_0)">
  <p:cSld name="Generated (g3ed7bbdad76_7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4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jpg"/><Relationship Id="rId6" Type="http://schemas.openxmlformats.org/officeDocument/2006/relationships/image" Target="../media/image2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jpg"/><Relationship Id="rId5" Type="http://schemas.openxmlformats.org/officeDocument/2006/relationships/image" Target="../media/image3.jp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2.jpg"/><Relationship Id="rId5" Type="http://schemas.openxmlformats.org/officeDocument/2006/relationships/image" Target="../media/image2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1.jpg"/><Relationship Id="rId6" Type="http://schemas.openxmlformats.org/officeDocument/2006/relationships/image" Target="../media/image2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8.jpg"/><Relationship Id="rId6" Type="http://schemas.openxmlformats.org/officeDocument/2006/relationships/image" Target="../media/image2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0.jpg"/><Relationship Id="rId5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7.jpg"/><Relationship Id="rId5" Type="http://schemas.openxmlformats.org/officeDocument/2006/relationships/image" Target="../media/image40.jpg"/><Relationship Id="rId6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image" Target="../media/image36.png"/><Relationship Id="rId6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34.png"/><Relationship Id="rId6" Type="http://schemas.openxmlformats.org/officeDocument/2006/relationships/image" Target="../media/image4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580975" y="2874900"/>
            <a:ext cx="11030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Unidad II</a:t>
            </a: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Paradigma de la Programación Orientada a Objetos, Clases, Objetos, Atributos, Herencia, Polimorfismo, Métodos públicos y privado</a:t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409651" y="894100"/>
            <a:ext cx="1158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Programación Básica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1795512" y="5040512"/>
            <a:ext cx="8601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M.Sc Melvin David Sevilla Medina</a:t>
            </a:r>
            <a:br>
              <a:rPr lang="en-US" sz="135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Basado en: </a:t>
            </a:r>
            <a:r>
              <a:rPr b="0" i="1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Cómo Programar en Java</a:t>
            </a:r>
            <a:r>
              <a:rPr b="0" i="0" lang="en-US" sz="135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, Deitel &amp; Deitel (7ma Ed.)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76500"/>
            <a:ext cx="537210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476500"/>
            <a:ext cx="537210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876300" y="3886200"/>
            <a:ext cx="47815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Se centra en funciones y lógica secuencial. Los datos y las acciones están separados, lo que dificulta el mantenimiento en sistemas grandes.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6534150" y="3886200"/>
            <a:ext cx="4781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Los datos y la lógica se agrupan en "Objetos". Fomenta la modularidad, el aislamiento de errores y el modelado intuitivo.</a:t>
            </a:r>
            <a:endParaRPr/>
          </a:p>
        </p:txBody>
      </p:sp>
      <p:pic>
        <p:nvPicPr>
          <p:cNvPr descr="image.png" id="98" name="Google Shape;9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8194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28194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771525" y="581025"/>
            <a:ext cx="11381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El Cambio de Paradigma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876300" y="3457575"/>
            <a:ext cx="502062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Programación Procedural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534150" y="3457575"/>
            <a:ext cx="502062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Programación OO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24675" y="1250888"/>
            <a:ext cx="11030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Paradigma: es todo aquel modelo, </a:t>
            </a: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patrón</a:t>
            </a: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o ejemplo que debe seguirse en determinada situación; </a:t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teoría</a:t>
            </a: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o conjunto de </a:t>
            </a: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teorías</a:t>
            </a: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que sirven de modelo a seguir para resolver un problema o situaciones</a:t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771525" y="581025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Programación Procedural</a:t>
            </a:r>
            <a:endParaRPr b="1" sz="36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12" name="Google Shape;112;p16"/>
          <p:cNvGrpSpPr/>
          <p:nvPr/>
        </p:nvGrpSpPr>
        <p:grpSpPr>
          <a:xfrm>
            <a:off x="762000" y="2286000"/>
            <a:ext cx="4762500" cy="4000500"/>
            <a:chOff x="762000" y="2286000"/>
            <a:chExt cx="4762500" cy="4000500"/>
          </a:xfrm>
        </p:grpSpPr>
        <p:sp>
          <p:nvSpPr>
            <p:cNvPr id="113" name="Google Shape;113;p16"/>
            <p:cNvSpPr/>
            <p:nvPr/>
          </p:nvSpPr>
          <p:spPr>
            <a:xfrm>
              <a:off x="762000" y="2286000"/>
              <a:ext cx="4762500" cy="4000500"/>
            </a:xfrm>
            <a:prstGeom prst="roundRect">
              <a:avLst>
                <a:gd fmla="val 380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 txBox="1"/>
            <p:nvPr/>
          </p:nvSpPr>
          <p:spPr>
            <a:xfrm>
              <a:off x="1047750" y="2571750"/>
              <a:ext cx="419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35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El Concepto: Receta de Cocina</a:t>
              </a:r>
              <a:endParaRPr b="1" sz="2035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A cinematic, high-quality photo of an open cookbook with a list of steps and separate ingredients on a kitchen counter. Clean and professional." id="115" name="Google Shape;115;p16"/>
            <p:cNvPicPr preferRelativeResize="0"/>
            <p:nvPr/>
          </p:nvPicPr>
          <p:blipFill rotWithShape="1">
            <a:blip r:embed="rId5">
              <a:alphaModFix/>
            </a:blip>
            <a:srcRect b="-2525" l="0" r="9091" t="1515"/>
            <a:stretch/>
          </p:blipFill>
          <p:spPr>
            <a:xfrm>
              <a:off x="1047750" y="3048000"/>
              <a:ext cx="3810000" cy="2381400"/>
            </a:xfrm>
            <a:prstGeom prst="roundRect">
              <a:avLst>
                <a:gd fmla="val 4800" name="adj"/>
              </a:avLst>
            </a:prstGeom>
            <a:noFill/>
            <a:ln>
              <a:noFill/>
            </a:ln>
          </p:spPr>
        </p:pic>
        <p:sp>
          <p:nvSpPr>
            <p:cNvPr id="116" name="Google Shape;116;p16"/>
            <p:cNvSpPr txBox="1"/>
            <p:nvPr/>
          </p:nvSpPr>
          <p:spPr>
            <a:xfrm>
              <a:off x="1047750" y="5524500"/>
              <a:ext cx="419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9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Como una receta: sigues pasos (funciones) para procesar ingredientes (datos) que están guardados por separado.</a:t>
              </a:r>
              <a:endParaRPr b="0" sz="119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6667500" y="2286000"/>
            <a:ext cx="4762500" cy="4000500"/>
            <a:chOff x="6667500" y="2286000"/>
            <a:chExt cx="4762500" cy="4000500"/>
          </a:xfrm>
        </p:grpSpPr>
        <p:sp>
          <p:nvSpPr>
            <p:cNvPr id="118" name="Google Shape;118;p16"/>
            <p:cNvSpPr/>
            <p:nvPr/>
          </p:nvSpPr>
          <p:spPr>
            <a:xfrm>
              <a:off x="6667500" y="2286000"/>
              <a:ext cx="4762500" cy="4000500"/>
            </a:xfrm>
            <a:prstGeom prst="roundRect">
              <a:avLst>
                <a:gd fmla="val 380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6953250" y="2571750"/>
              <a:ext cx="419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35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En la Práctica: Línea de Ensamblaje</a:t>
              </a:r>
              <a:endParaRPr b="1" sz="2035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A conceptual vector illustration of a factory assembly line where parts move through separate stations. Modern tech aesthetic, dark blue and cyan tones." id="120" name="Google Shape;120;p16"/>
            <p:cNvPicPr preferRelativeResize="0"/>
            <p:nvPr/>
          </p:nvPicPr>
          <p:blipFill rotWithShape="1">
            <a:blip r:embed="rId6">
              <a:alphaModFix/>
            </a:blip>
            <a:srcRect b="-2525" l="0" r="9091" t="1515"/>
            <a:stretch/>
          </p:blipFill>
          <p:spPr>
            <a:xfrm>
              <a:off x="6953250" y="3048000"/>
              <a:ext cx="3810000" cy="2381400"/>
            </a:xfrm>
            <a:prstGeom prst="roundRect">
              <a:avLst>
                <a:gd fmla="val 4800" name="adj"/>
              </a:avLst>
            </a:prstGeom>
            <a:noFill/>
            <a:ln>
              <a:noFill/>
            </a:ln>
          </p:spPr>
        </p:pic>
        <p:sp>
          <p:nvSpPr>
            <p:cNvPr id="121" name="Google Shape;121;p16"/>
            <p:cNvSpPr txBox="1"/>
            <p:nvPr/>
          </p:nvSpPr>
          <p:spPr>
            <a:xfrm>
              <a:off x="6953250" y="5524500"/>
              <a:ext cx="419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9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El programa es una serie de estaciones. Si cambias una pieza al inicio, debes revisar manualmente cada estación siguiente.</a:t>
              </a:r>
              <a:endParaRPr b="0" sz="119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771525" y="581025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POO en Acción: El Sistema Bancario</a:t>
            </a:r>
            <a:endParaRPr b="1" sz="36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28" name="Google Shape;128;p17"/>
          <p:cNvGrpSpPr/>
          <p:nvPr/>
        </p:nvGrpSpPr>
        <p:grpSpPr>
          <a:xfrm>
            <a:off x="581025" y="1524000"/>
            <a:ext cx="3619500" cy="4572000"/>
            <a:chOff x="0" y="0"/>
            <a:chExt cx="3619500" cy="4572000"/>
          </a:xfrm>
        </p:grpSpPr>
        <p:sp>
          <p:nvSpPr>
            <p:cNvPr id="129" name="Google Shape;129;p17"/>
            <p:cNvSpPr/>
            <p:nvPr/>
          </p:nvSpPr>
          <p:spPr>
            <a:xfrm>
              <a:off x="0" y="0"/>
              <a:ext cx="3619500" cy="4572000"/>
            </a:xfrm>
            <a:prstGeom prst="roundRect">
              <a:avLst>
                <a:gd fmla="val 421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190500" y="1905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1. La Clase (El Molde)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A high-tech digital blueprint of a bank account icon with floating data fields like 'balance' and 'owner'. Cyberpunk blue aesthetic." id="131" name="Google Shape;131;p17"/>
            <p:cNvPicPr preferRelativeResize="0"/>
            <p:nvPr/>
          </p:nvPicPr>
          <p:blipFill rotWithShape="1">
            <a:blip r:embed="rId4">
              <a:alphaModFix/>
            </a:blip>
            <a:srcRect b="-20005" l="2187" r="-3432" t="0"/>
            <a:stretch/>
          </p:blipFill>
          <p:spPr>
            <a:xfrm>
              <a:off x="190500" y="666750"/>
              <a:ext cx="3429000" cy="2286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sp>
          <p:nvSpPr>
            <p:cNvPr id="132" name="Google Shape;132;p17"/>
            <p:cNvSpPr txBox="1"/>
            <p:nvPr/>
          </p:nvSpPr>
          <p:spPr>
            <a:xfrm>
              <a:off x="190500" y="2762250"/>
              <a:ext cx="3238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Imagina que diseñamos una </a:t>
              </a:r>
              <a:r>
                <a:rPr b="1" lang="en-US" sz="13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Clase CuentaBancaria</a:t>
              </a:r>
              <a:r>
                <a:rPr b="0"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b="0"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Es el plano que define qué datos (Atributos) y qué acciones (Métodos) tendrán todas las cuentas del banco.</a:t>
              </a:r>
              <a:endParaRPr b="0"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3" name="Google Shape;133;p17"/>
          <p:cNvGrpSpPr/>
          <p:nvPr/>
        </p:nvGrpSpPr>
        <p:grpSpPr>
          <a:xfrm>
            <a:off x="4391025" y="1524000"/>
            <a:ext cx="3619500" cy="4572000"/>
            <a:chOff x="0" y="0"/>
            <a:chExt cx="3619500" cy="4572000"/>
          </a:xfrm>
        </p:grpSpPr>
        <p:sp>
          <p:nvSpPr>
            <p:cNvPr id="134" name="Google Shape;134;p17"/>
            <p:cNvSpPr/>
            <p:nvPr/>
          </p:nvSpPr>
          <p:spPr>
            <a:xfrm>
              <a:off x="0" y="0"/>
              <a:ext cx="3619500" cy="4572000"/>
            </a:xfrm>
            <a:prstGeom prst="roundRect">
              <a:avLst>
                <a:gd fmla="val 421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190500" y="1905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2. El Objeto (Instancia)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A realistic 3D render of a personalized credit card floating in front of a smartphone screen showing a balance of $1,500. Elegant lighting." id="136" name="Google Shape;136;p17"/>
            <p:cNvPicPr preferRelativeResize="0"/>
            <p:nvPr/>
          </p:nvPicPr>
          <p:blipFill rotWithShape="1">
            <a:blip r:embed="rId5">
              <a:alphaModFix/>
            </a:blip>
            <a:srcRect b="-20005" l="2187" r="-3432" t="0"/>
            <a:stretch/>
          </p:blipFill>
          <p:spPr>
            <a:xfrm>
              <a:off x="190500" y="666750"/>
              <a:ext cx="3429000" cy="2286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sp>
          <p:nvSpPr>
            <p:cNvPr id="137" name="Google Shape;137;p17"/>
            <p:cNvSpPr txBox="1"/>
            <p:nvPr/>
          </p:nvSpPr>
          <p:spPr>
            <a:xfrm>
              <a:off x="190500" y="2762250"/>
              <a:ext cx="3238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Cuando un cliente abre una cuenta, creamos un </a:t>
              </a:r>
              <a:r>
                <a:rPr b="1" lang="en-US" sz="13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Objeto</a:t>
              </a:r>
              <a:r>
                <a:rPr b="0"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real.</a:t>
              </a:r>
              <a:endParaRPr b="0"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Ahora tiene valores específicos:</a:t>
              </a:r>
              <a:endParaRPr b="0"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Titular: "Wendy Valle"</a:t>
              </a:r>
              <a:endParaRPr b="0"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Saldo: </a:t>
              </a: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L</a:t>
              </a:r>
              <a:r>
                <a:rPr b="0"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1,500.00</a:t>
              </a:r>
              <a:endParaRPr b="0"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8" name="Google Shape;138;p17"/>
          <p:cNvGrpSpPr/>
          <p:nvPr/>
        </p:nvGrpSpPr>
        <p:grpSpPr>
          <a:xfrm>
            <a:off x="8201025" y="1524000"/>
            <a:ext cx="3410100" cy="4572000"/>
            <a:chOff x="0" y="0"/>
            <a:chExt cx="3410100" cy="4572000"/>
          </a:xfrm>
        </p:grpSpPr>
        <p:sp>
          <p:nvSpPr>
            <p:cNvPr id="139" name="Google Shape;139;p17"/>
            <p:cNvSpPr/>
            <p:nvPr/>
          </p:nvSpPr>
          <p:spPr>
            <a:xfrm>
              <a:off x="0" y="0"/>
              <a:ext cx="3410100" cy="4572000"/>
            </a:xfrm>
            <a:prstGeom prst="roundRect">
              <a:avLst>
                <a:gd fmla="val 446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 txBox="1"/>
            <p:nvPr/>
          </p:nvSpPr>
          <p:spPr>
            <a:xfrm>
              <a:off x="190500" y="190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3. Implementación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id="141" name="Google Shape;141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90500" y="666750"/>
              <a:ext cx="3029100" cy="361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7"/>
            <p:cNvSpPr txBox="1"/>
            <p:nvPr/>
          </p:nvSpPr>
          <p:spPr>
            <a:xfrm>
              <a:off x="333375" y="809625"/>
              <a:ext cx="27624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Definir la Clase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public class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Cuenta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double saldo;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void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depositar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(double m) {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saldo += m;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Crear el Objeto (Instanciar)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Cuenta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 miCta =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 Cuenta();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miCta.depositar(500);</a:t>
              </a:r>
              <a:endParaRPr sz="1100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43" name="Google Shape;143;p17"/>
          <p:cNvSpPr/>
          <p:nvPr/>
        </p:nvSpPr>
        <p:spPr>
          <a:xfrm>
            <a:off x="581025" y="6286500"/>
            <a:ext cx="3810000" cy="381000"/>
          </a:xfrm>
          <a:prstGeom prst="roundRect">
            <a:avLst>
              <a:gd fmla="val 50000" name="adj"/>
            </a:avLst>
          </a:prstGeom>
          <a:solidFill>
            <a:srgbClr val="22D3EE">
              <a:alpha val="10000"/>
            </a:srgbClr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771525" y="62865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Caso Real: Gestión de Saldo Bancario en Java</a:t>
            </a:r>
            <a:endParaRPr b="1" sz="10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771525" y="581025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Jerarquía POO: La Superclase Animal</a:t>
            </a:r>
            <a:endParaRPr b="1" sz="36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51" name="Google Shape;151;p18"/>
          <p:cNvGrpSpPr/>
          <p:nvPr/>
        </p:nvGrpSpPr>
        <p:grpSpPr>
          <a:xfrm>
            <a:off x="581025" y="1524000"/>
            <a:ext cx="3619500" cy="4572000"/>
            <a:chOff x="581025" y="1524000"/>
            <a:chExt cx="3619500" cy="4572000"/>
          </a:xfrm>
        </p:grpSpPr>
        <p:sp>
          <p:nvSpPr>
            <p:cNvPr id="152" name="Google Shape;152;p18"/>
            <p:cNvSpPr/>
            <p:nvPr/>
          </p:nvSpPr>
          <p:spPr>
            <a:xfrm>
              <a:off x="581025" y="1524000"/>
              <a:ext cx="3619500" cy="4572000"/>
            </a:xfrm>
            <a:prstGeom prst="roundRect">
              <a:avLst>
                <a:gd fmla="val 421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771525" y="17145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1. La Superclase (General)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A high-tech digital schematic of a generic animal silhouette, glowing cyan outlines on a dark blueprint background." id="154" name="Google Shape;154;p18"/>
            <p:cNvPicPr preferRelativeResize="0"/>
            <p:nvPr/>
          </p:nvPicPr>
          <p:blipFill rotWithShape="1">
            <a:blip r:embed="rId4">
              <a:alphaModFix/>
            </a:blip>
            <a:srcRect b="622" l="0" r="0" t="612"/>
            <a:stretch/>
          </p:blipFill>
          <p:spPr>
            <a:xfrm>
              <a:off x="676275" y="2190750"/>
              <a:ext cx="3429000" cy="1905000"/>
            </a:xfrm>
            <a:prstGeom prst="roundRect">
              <a:avLst>
                <a:gd fmla="val 6000" name="adj"/>
              </a:avLst>
            </a:prstGeom>
            <a:noFill/>
            <a:ln>
              <a:noFill/>
            </a:ln>
          </p:spPr>
        </p:pic>
        <p:sp>
          <p:nvSpPr>
            <p:cNvPr id="155" name="Google Shape;155;p18"/>
            <p:cNvSpPr txBox="1"/>
            <p:nvPr/>
          </p:nvSpPr>
          <p:spPr>
            <a:xfrm>
              <a:off x="771525" y="4286250"/>
              <a:ext cx="3238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La </a:t>
              </a:r>
              <a:r>
                <a:rPr b="1" lang="en-US" sz="1203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Superclase Animal</a:t>
              </a: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define rasgos comunes.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Atributos generales: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Especie, Color, Edad.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Métodos (Acciones):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Comer(), Dormir().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6" name="Google Shape;156;p18"/>
          <p:cNvGrpSpPr/>
          <p:nvPr/>
        </p:nvGrpSpPr>
        <p:grpSpPr>
          <a:xfrm>
            <a:off x="4391025" y="1524000"/>
            <a:ext cx="3619500" cy="4572000"/>
            <a:chOff x="4391025" y="1524000"/>
            <a:chExt cx="3619500" cy="4572000"/>
          </a:xfrm>
        </p:grpSpPr>
        <p:sp>
          <p:nvSpPr>
            <p:cNvPr id="157" name="Google Shape;157;p18"/>
            <p:cNvSpPr/>
            <p:nvPr/>
          </p:nvSpPr>
          <p:spPr>
            <a:xfrm>
              <a:off x="4391025" y="1524000"/>
              <a:ext cx="3619500" cy="4572000"/>
            </a:xfrm>
            <a:prstGeom prst="roundRect">
              <a:avLst>
                <a:gd fmla="val 421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4581525" y="17145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2. Subclases (Específicas)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Three distinct icons: a playful dog, a sleek cat, and a small bird, in a modern vector style with neon cyan accents." id="159" name="Google Shape;159;p18"/>
            <p:cNvPicPr preferRelativeResize="0"/>
            <p:nvPr/>
          </p:nvPicPr>
          <p:blipFill rotWithShape="1">
            <a:blip r:embed="rId5">
              <a:alphaModFix/>
            </a:blip>
            <a:srcRect b="622" l="0" r="0" t="612"/>
            <a:stretch/>
          </p:blipFill>
          <p:spPr>
            <a:xfrm>
              <a:off x="4486275" y="2190750"/>
              <a:ext cx="3429000" cy="1905000"/>
            </a:xfrm>
            <a:prstGeom prst="roundRect">
              <a:avLst>
                <a:gd fmla="val 6000" name="adj"/>
              </a:avLst>
            </a:prstGeom>
            <a:noFill/>
            <a:ln>
              <a:noFill/>
            </a:ln>
          </p:spPr>
        </p:pic>
        <p:sp>
          <p:nvSpPr>
            <p:cNvPr id="160" name="Google Shape;160;p18"/>
            <p:cNvSpPr txBox="1"/>
            <p:nvPr/>
          </p:nvSpPr>
          <p:spPr>
            <a:xfrm>
              <a:off x="4581525" y="4286250"/>
              <a:ext cx="3238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Heredan de Animal, pero añaden su propio "sabor".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Ejemplo </a:t>
              </a:r>
              <a:r>
                <a:rPr b="1" lang="en-US" sz="1203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Perro</a:t>
              </a: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: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Atributo: Raza.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Método: Ladrar().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Ejemplo </a:t>
              </a:r>
              <a:r>
                <a:rPr b="1" lang="en-US" sz="1203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Gato</a:t>
              </a: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: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• Método: Maullar().</a:t>
              </a:r>
              <a:endParaRPr b="0" sz="1203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1" name="Google Shape;161;p18"/>
          <p:cNvGrpSpPr/>
          <p:nvPr/>
        </p:nvGrpSpPr>
        <p:grpSpPr>
          <a:xfrm>
            <a:off x="8201025" y="1524000"/>
            <a:ext cx="3410100" cy="4572000"/>
            <a:chOff x="8201025" y="1524000"/>
            <a:chExt cx="3410100" cy="4572000"/>
          </a:xfrm>
        </p:grpSpPr>
        <p:sp>
          <p:nvSpPr>
            <p:cNvPr id="162" name="Google Shape;162;p18"/>
            <p:cNvSpPr/>
            <p:nvPr/>
          </p:nvSpPr>
          <p:spPr>
            <a:xfrm>
              <a:off x="8201025" y="1524000"/>
              <a:ext cx="3410100" cy="4572000"/>
            </a:xfrm>
            <a:prstGeom prst="roundRect">
              <a:avLst>
                <a:gd fmla="val 446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8391525" y="1714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3. Objetos en Memoria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8391525" y="2333625"/>
              <a:ext cx="3029100" cy="3333900"/>
            </a:xfrm>
            <a:prstGeom prst="roundRect">
              <a:avLst>
                <a:gd fmla="val 2515" name="adj"/>
              </a:avLst>
            </a:prstGeom>
            <a:solidFill>
              <a:srgbClr val="0F172A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8534400" y="2476500"/>
              <a:ext cx="2762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Instancias reales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Animal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miPerro =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Perro();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miPerro.color =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"Café"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miPerro.comer(); 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// Heredado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Animal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miGato =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Gato();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miGato.color =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"Blanco"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miGato.maullar(); 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// Propio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66" name="Google Shape;166;p18"/>
          <p:cNvSpPr/>
          <p:nvPr/>
        </p:nvSpPr>
        <p:spPr>
          <a:xfrm>
            <a:off x="581025" y="6286500"/>
            <a:ext cx="3810000" cy="381000"/>
          </a:xfrm>
          <a:prstGeom prst="roundRect">
            <a:avLst>
              <a:gd fmla="val 50000" name="adj"/>
            </a:avLst>
          </a:prstGeom>
          <a:solidFill>
            <a:srgbClr val="22D3EE">
              <a:alpha val="10000"/>
            </a:srgbClr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71525" y="62865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Concepto: Herencia y Especialización en Java</a:t>
            </a:r>
            <a:endParaRPr b="1" sz="10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771525" y="581025"/>
            <a:ext cx="1047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Clases vs. Objetos</a:t>
            </a:r>
            <a:endParaRPr b="1" sz="36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76" name="Google Shape;176;p19"/>
          <p:cNvGrpSpPr/>
          <p:nvPr/>
        </p:nvGrpSpPr>
        <p:grpSpPr>
          <a:xfrm>
            <a:off x="581025" y="1524000"/>
            <a:ext cx="3619500" cy="4572000"/>
            <a:chOff x="581025" y="1524000"/>
            <a:chExt cx="3619500" cy="4572000"/>
          </a:xfrm>
        </p:grpSpPr>
        <p:sp>
          <p:nvSpPr>
            <p:cNvPr id="177" name="Google Shape;177;p19"/>
            <p:cNvSpPr/>
            <p:nvPr/>
          </p:nvSpPr>
          <p:spPr>
            <a:xfrm>
              <a:off x="581025" y="1524000"/>
              <a:ext cx="3619500" cy="4572000"/>
            </a:xfrm>
            <a:prstGeom prst="roundRect">
              <a:avLst>
                <a:gd fmla="val 421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771525" y="171450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1. La Clase (El Plano)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A sleek, neon cyan architectural blueprint of a modern house on a dark background, digital aesthetic." id="179" name="Google Shape;179;p19"/>
            <p:cNvPicPr preferRelativeResize="0"/>
            <p:nvPr/>
          </p:nvPicPr>
          <p:blipFill rotWithShape="1">
            <a:blip r:embed="rId5">
              <a:alphaModFix/>
            </a:blip>
            <a:srcRect b="0" l="2190" r="2190" t="0"/>
            <a:stretch/>
          </p:blipFill>
          <p:spPr>
            <a:xfrm>
              <a:off x="771525" y="2190750"/>
              <a:ext cx="3238500" cy="1905000"/>
            </a:xfrm>
            <a:prstGeom prst="roundRect">
              <a:avLst>
                <a:gd fmla="val 6000" name="adj"/>
              </a:avLst>
            </a:prstGeom>
            <a:noFill/>
            <a:ln>
              <a:noFill/>
            </a:ln>
          </p:spPr>
        </p:pic>
        <p:sp>
          <p:nvSpPr>
            <p:cNvPr id="180" name="Google Shape;180;p19"/>
            <p:cNvSpPr txBox="1"/>
            <p:nvPr/>
          </p:nvSpPr>
          <p:spPr>
            <a:xfrm>
              <a:off x="771525" y="4286250"/>
              <a:ext cx="3238500" cy="1767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Es el </a:t>
              </a:r>
              <a:r>
                <a:rPr b="1" lang="en-US" sz="13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molde o plantilla</a:t>
              </a: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Define cómo será el objeto pero no es "real" todavía. Ejemplo: El plano detallado de una casa.</a:t>
              </a:r>
              <a:endParaRPr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81" name="Google Shape;181;p19"/>
          <p:cNvGrpSpPr/>
          <p:nvPr/>
        </p:nvGrpSpPr>
        <p:grpSpPr>
          <a:xfrm>
            <a:off x="4391025" y="1524000"/>
            <a:ext cx="3619500" cy="4572000"/>
            <a:chOff x="4391025" y="1524000"/>
            <a:chExt cx="3619500" cy="4572000"/>
          </a:xfrm>
        </p:grpSpPr>
        <p:sp>
          <p:nvSpPr>
            <p:cNvPr id="182" name="Google Shape;182;p19"/>
            <p:cNvSpPr/>
            <p:nvPr/>
          </p:nvSpPr>
          <p:spPr>
            <a:xfrm>
              <a:off x="4391025" y="1524000"/>
              <a:ext cx="3619500" cy="4572000"/>
            </a:xfrm>
            <a:prstGeom prst="roundRect">
              <a:avLst>
                <a:gd fmla="val 421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4581525" y="171450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2. El Objeto (La Casa)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A modern, high-tech smart home exterior with warm lighting at night, realistic 3D render." id="184" name="Google Shape;184;p19"/>
            <p:cNvPicPr preferRelativeResize="0"/>
            <p:nvPr/>
          </p:nvPicPr>
          <p:blipFill rotWithShape="1">
            <a:blip r:embed="rId6">
              <a:alphaModFix/>
            </a:blip>
            <a:srcRect b="0" l="2190" r="2190" t="0"/>
            <a:stretch/>
          </p:blipFill>
          <p:spPr>
            <a:xfrm>
              <a:off x="4581525" y="2190750"/>
              <a:ext cx="3238500" cy="1905000"/>
            </a:xfrm>
            <a:prstGeom prst="roundRect">
              <a:avLst>
                <a:gd fmla="val 6000" name="adj"/>
              </a:avLst>
            </a:prstGeom>
            <a:noFill/>
            <a:ln>
              <a:noFill/>
            </a:ln>
          </p:spPr>
        </p:pic>
        <p:sp>
          <p:nvSpPr>
            <p:cNvPr id="185" name="Google Shape;185;p19"/>
            <p:cNvSpPr txBox="1"/>
            <p:nvPr/>
          </p:nvSpPr>
          <p:spPr>
            <a:xfrm>
              <a:off x="4581525" y="4286250"/>
              <a:ext cx="32385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Es la </a:t>
              </a:r>
              <a:r>
                <a:rPr b="1" lang="en-US" sz="13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instancia real</a:t>
              </a: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Es algo concreto que ocupa espacio en memoria. Ejemplo: La casa física construida en la calle Principal.</a:t>
              </a:r>
              <a:endParaRPr sz="13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86" name="Google Shape;186;p19"/>
          <p:cNvGrpSpPr/>
          <p:nvPr/>
        </p:nvGrpSpPr>
        <p:grpSpPr>
          <a:xfrm>
            <a:off x="8201025" y="1524000"/>
            <a:ext cx="3410100" cy="4572000"/>
            <a:chOff x="8201025" y="1524000"/>
            <a:chExt cx="3410100" cy="4572000"/>
          </a:xfrm>
        </p:grpSpPr>
        <p:sp>
          <p:nvSpPr>
            <p:cNvPr id="187" name="Google Shape;187;p19"/>
            <p:cNvSpPr/>
            <p:nvPr/>
          </p:nvSpPr>
          <p:spPr>
            <a:xfrm>
              <a:off x="8201025" y="1524000"/>
              <a:ext cx="3410100" cy="4572000"/>
            </a:xfrm>
            <a:prstGeom prst="roundRect">
              <a:avLst>
                <a:gd fmla="val 446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8391525" y="1714500"/>
              <a:ext cx="3048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3. Instanciación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8391525" y="2333625"/>
              <a:ext cx="3029100" cy="3333900"/>
            </a:xfrm>
            <a:prstGeom prst="roundRect">
              <a:avLst>
                <a:gd fmla="val 2515" name="adj"/>
              </a:avLst>
            </a:prstGeom>
            <a:solidFill>
              <a:srgbClr val="0F172A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8534400" y="2476500"/>
              <a:ext cx="2762400" cy="304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El proceso de crear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class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Casa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{ ... }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Crear un objeto nuevo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Casa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miCasa = </a:t>
              </a:r>
              <a:r>
                <a:rPr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new</a:t>
              </a:r>
              <a:r>
                <a:rPr lang="en-US" sz="11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Casa();</a:t>
              </a:r>
              <a:endParaRPr sz="11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Al usar </a:t>
              </a:r>
              <a:r>
                <a:rPr b="1" lang="en-US" sz="11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new</a:t>
              </a:r>
              <a:r>
                <a:rPr lang="en-US" sz="11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, el plano se convierte en realidad.</a:t>
              </a:r>
              <a:endParaRPr sz="11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91" name="Google Shape;191;p19"/>
          <p:cNvSpPr/>
          <p:nvPr/>
        </p:nvSpPr>
        <p:spPr>
          <a:xfrm>
            <a:off x="581025" y="6286500"/>
            <a:ext cx="4000500" cy="381000"/>
          </a:xfrm>
          <a:prstGeom prst="roundRect">
            <a:avLst>
              <a:gd fmla="val 50000" name="adj"/>
            </a:avLst>
          </a:prstGeom>
          <a:solidFill>
            <a:srgbClr val="22D3EE">
              <a:alpha val="10000"/>
            </a:srgbClr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771525" y="6286500"/>
            <a:ext cx="381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Ejercicio: Si la clase es "Celular", ¿cuáles son sus objetos?</a:t>
            </a:r>
            <a:endParaRPr b="1" sz="10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771525" y="581025"/>
            <a:ext cx="1047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Características</a:t>
            </a:r>
            <a:r>
              <a:rPr b="1" lang="en-US" sz="36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 de las </a:t>
            </a:r>
            <a:r>
              <a:rPr b="1" lang="en-US" sz="36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Clases </a:t>
            </a:r>
            <a:endParaRPr b="1" sz="36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201" name="Google Shape;201;p20"/>
          <p:cNvGrpSpPr/>
          <p:nvPr/>
        </p:nvGrpSpPr>
        <p:grpSpPr>
          <a:xfrm>
            <a:off x="581025" y="1524000"/>
            <a:ext cx="3619500" cy="4572000"/>
            <a:chOff x="581025" y="1524000"/>
            <a:chExt cx="3619500" cy="4572000"/>
          </a:xfrm>
        </p:grpSpPr>
        <p:sp>
          <p:nvSpPr>
            <p:cNvPr id="202" name="Google Shape;202;p20"/>
            <p:cNvSpPr/>
            <p:nvPr/>
          </p:nvSpPr>
          <p:spPr>
            <a:xfrm>
              <a:off x="581025" y="1524000"/>
              <a:ext cx="3619500" cy="4572000"/>
            </a:xfrm>
            <a:prstGeom prst="roundRect">
              <a:avLst>
                <a:gd fmla="val 421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0"/>
            <p:cNvSpPr txBox="1"/>
            <p:nvPr/>
          </p:nvSpPr>
          <p:spPr>
            <a:xfrm>
              <a:off x="771525" y="17145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1. Molde o Plantilla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A high-tech digital wireframe of a futuristic vehicle, glowing blue lines on a dark interface, representing a template or blueprint." id="204" name="Google Shape;204;p20"/>
            <p:cNvPicPr preferRelativeResize="0"/>
            <p:nvPr/>
          </p:nvPicPr>
          <p:blipFill rotWithShape="1">
            <a:blip r:embed="rId5">
              <a:alphaModFix/>
            </a:blip>
            <a:srcRect b="2946" l="0" r="0" t="2936"/>
            <a:stretch/>
          </p:blipFill>
          <p:spPr>
            <a:xfrm>
              <a:off x="771525" y="2190750"/>
              <a:ext cx="3238500" cy="1714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205" name="Google Shape;205;p20"/>
            <p:cNvSpPr txBox="1"/>
            <p:nvPr/>
          </p:nvSpPr>
          <p:spPr>
            <a:xfrm>
              <a:off x="771525" y="409575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Es una </a:t>
              </a:r>
              <a:r>
                <a:rPr b="1" lang="en-US" sz="12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plantilla o molde</a:t>
              </a: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que permite construir objetos.</a:t>
              </a:r>
              <a:endParaRPr b="0"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Representan entidades de la vida real, agrupando código y datos.</a:t>
              </a:r>
              <a:endParaRPr b="0"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La Clase: se basa en el concepto de agrupar código y datos juntos dentro de una misma unidad llamada clase. Representan entidades del mundo real</a:t>
              </a:r>
              <a:endParaRPr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06" name="Google Shape;206;p20"/>
          <p:cNvGrpSpPr/>
          <p:nvPr/>
        </p:nvGrpSpPr>
        <p:grpSpPr>
          <a:xfrm>
            <a:off x="4391025" y="1524000"/>
            <a:ext cx="3619500" cy="4572000"/>
            <a:chOff x="4391025" y="1524000"/>
            <a:chExt cx="3619500" cy="4572000"/>
          </a:xfrm>
        </p:grpSpPr>
        <p:sp>
          <p:nvSpPr>
            <p:cNvPr id="207" name="Google Shape;207;p20"/>
            <p:cNvSpPr/>
            <p:nvPr/>
          </p:nvSpPr>
          <p:spPr>
            <a:xfrm>
              <a:off x="4391025" y="1524000"/>
              <a:ext cx="3619500" cy="4572000"/>
            </a:xfrm>
            <a:prstGeom prst="roundRect">
              <a:avLst>
                <a:gd fmla="val 421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0"/>
            <p:cNvSpPr txBox="1"/>
            <p:nvPr/>
          </p:nvSpPr>
          <p:spPr>
            <a:xfrm>
              <a:off x="4581525" y="17145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2. Componentes y Uso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descr="Isometric 3D render of a stylized robot character being assembled, showing inner parts like gears (attributes) and movement paths (methods), neon accents." id="209" name="Google Shape;209;p20"/>
            <p:cNvPicPr preferRelativeResize="0"/>
            <p:nvPr/>
          </p:nvPicPr>
          <p:blipFill rotWithShape="1">
            <a:blip r:embed="rId6">
              <a:alphaModFix/>
            </a:blip>
            <a:srcRect b="2946" l="0" r="0" t="2936"/>
            <a:stretch/>
          </p:blipFill>
          <p:spPr>
            <a:xfrm>
              <a:off x="4581525" y="2190750"/>
              <a:ext cx="3238500" cy="1714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210" name="Google Shape;210;p20"/>
            <p:cNvSpPr txBox="1"/>
            <p:nvPr/>
          </p:nvSpPr>
          <p:spPr>
            <a:xfrm>
              <a:off x="4581525" y="409575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Poseen </a:t>
              </a:r>
              <a:r>
                <a:rPr b="1" lang="en-US" sz="12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atributos</a:t>
              </a: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(estado) y </a:t>
              </a:r>
              <a:r>
                <a:rPr b="1" lang="en-US" sz="12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métodos</a:t>
              </a: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(comportamiento).</a:t>
              </a:r>
              <a:endParaRPr b="0"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No se usan directamente; requieren la creación de </a:t>
              </a:r>
              <a:r>
                <a:rPr b="1" lang="en-US" sz="1200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instancias u objetos</a:t>
              </a: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en memoria.</a:t>
              </a:r>
              <a:endParaRPr b="0"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11" name="Google Shape;211;p20"/>
          <p:cNvGrpSpPr/>
          <p:nvPr/>
        </p:nvGrpSpPr>
        <p:grpSpPr>
          <a:xfrm>
            <a:off x="8201025" y="1524000"/>
            <a:ext cx="3410100" cy="4572000"/>
            <a:chOff x="8201025" y="1524000"/>
            <a:chExt cx="3410100" cy="4572000"/>
          </a:xfrm>
        </p:grpSpPr>
        <p:sp>
          <p:nvSpPr>
            <p:cNvPr id="212" name="Google Shape;212;p20"/>
            <p:cNvSpPr/>
            <p:nvPr/>
          </p:nvSpPr>
          <p:spPr>
            <a:xfrm>
              <a:off x="8201025" y="1524000"/>
              <a:ext cx="3410100" cy="4572000"/>
            </a:xfrm>
            <a:prstGeom prst="roundRect">
              <a:avLst>
                <a:gd fmla="val 446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8391525" y="1714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Ejemplos Comunes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8391525" y="2333625"/>
              <a:ext cx="3029100" cy="3333900"/>
            </a:xfrm>
            <a:prstGeom prst="roundRect">
              <a:avLst>
                <a:gd fmla="val 2515" name="adj"/>
              </a:avLst>
            </a:prstGeom>
            <a:solidFill>
              <a:srgbClr val="0F172A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0"/>
            <p:cNvSpPr txBox="1"/>
            <p:nvPr/>
          </p:nvSpPr>
          <p:spPr>
            <a:xfrm>
              <a:off x="8534400" y="2476500"/>
              <a:ext cx="2762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// Entidades del mundo real</a:t>
              </a:r>
              <a:endParaRPr b="0" sz="12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class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12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Auto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{ ... }</a:t>
              </a:r>
              <a:endParaRPr b="0" sz="12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class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12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Persona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{ ... }</a:t>
              </a:r>
              <a:endParaRPr b="0" sz="12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class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12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Departamento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{ ... }</a:t>
              </a:r>
              <a:endParaRPr b="0" sz="12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class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12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Factura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{ ... }</a:t>
              </a:r>
              <a:endParaRPr b="0" sz="12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class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lang="en-US" sz="12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Producto</a:t>
              </a:r>
              <a:r>
                <a:rPr b="0" lang="en-US" sz="12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 { ... }</a:t>
              </a:r>
              <a:endParaRPr b="0" sz="12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Cada clase define las propiedades únicas de estos objetos.</a:t>
              </a:r>
              <a:endParaRPr b="0"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" name="Google Shape;221;p21"/>
          <p:cNvGrpSpPr/>
          <p:nvPr/>
        </p:nvGrpSpPr>
        <p:grpSpPr>
          <a:xfrm>
            <a:off x="6477000" y="1905000"/>
            <a:ext cx="4572000" cy="3048000"/>
            <a:chOff x="6477000" y="1905000"/>
            <a:chExt cx="4572000" cy="3048000"/>
          </a:xfrm>
        </p:grpSpPr>
        <p:pic>
          <p:nvPicPr>
            <p:cNvPr descr="A clean, professional 3D isometric illustration of a UML Class Diagram showing an object with various attributes. The style should be modern and technical, using a color palette of deep blues and cyan neon accents on a dark background to match a high-tech software development theme." id="222" name="Google Shape;222;p21"/>
            <p:cNvPicPr preferRelativeResize="0"/>
            <p:nvPr/>
          </p:nvPicPr>
          <p:blipFill rotWithShape="1">
            <a:blip r:embed="rId4">
              <a:alphaModFix/>
            </a:blip>
            <a:srcRect b="16667" l="0" r="0" t="16667"/>
            <a:stretch/>
          </p:blipFill>
          <p:spPr>
            <a:xfrm>
              <a:off x="6477000" y="1905000"/>
              <a:ext cx="4572000" cy="3048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sp>
          <p:nvSpPr>
            <p:cNvPr id="223" name="Google Shape;223;p21"/>
            <p:cNvSpPr/>
            <p:nvPr/>
          </p:nvSpPr>
          <p:spPr>
            <a:xfrm>
              <a:off x="6477000" y="1905000"/>
              <a:ext cx="4572000" cy="3048000"/>
            </a:xfrm>
            <a:prstGeom prst="roundRect">
              <a:avLst>
                <a:gd fmla="val 500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.png" id="224" name="Google Shape;22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52875"/>
            <a:ext cx="527685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581025" y="2009775"/>
            <a:ext cx="5277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Los atributos definen las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características</a:t>
            </a:r>
            <a:r>
              <a:rPr b="0" i="0" lang="en-US" sz="16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o el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estado</a:t>
            </a:r>
            <a:r>
              <a:rPr b="0" i="0" lang="en-US" sz="16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de un objeto en un momento dado.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904875" y="2752725"/>
            <a:ext cx="5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962025" y="2752725"/>
            <a:ext cx="489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Representan variables de instancia.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904875" y="3057525"/>
            <a:ext cx="5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962025" y="3057525"/>
            <a:ext cx="489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Cada objeto tiene su propia copia de estos valores.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904875" y="3362325"/>
            <a:ext cx="5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962025" y="3362325"/>
            <a:ext cx="489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Ejemplo: Un objeto CuentaBancaria tiene un atributo saldo.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Atributos: El Estado del Objeto</a:t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71525" y="581025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Encapsulamiento en Java</a:t>
            </a:r>
            <a:endParaRPr b="1" sz="36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771525" y="1238250"/>
            <a:ext cx="10658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El encapsulamiento es un mecanismo que agrupa los </a:t>
            </a:r>
            <a:r>
              <a:rPr b="1" lang="en-US" sz="1200">
                <a:solidFill>
                  <a:srgbClr val="22D3EE"/>
                </a:solidFill>
                <a:latin typeface="DM Sans"/>
                <a:ea typeface="DM Sans"/>
                <a:cs typeface="DM Sans"/>
                <a:sym typeface="DM Sans"/>
              </a:rPr>
              <a:t>datos (atributos)</a:t>
            </a:r>
            <a:r>
              <a:rPr b="0" lang="en-US"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y el </a:t>
            </a:r>
            <a:r>
              <a:rPr b="1" lang="en-US" sz="1200">
                <a:solidFill>
                  <a:srgbClr val="22D3EE"/>
                </a:solidFill>
                <a:latin typeface="DM Sans"/>
                <a:ea typeface="DM Sans"/>
                <a:cs typeface="DM Sans"/>
                <a:sym typeface="DM Sans"/>
              </a:rPr>
              <a:t>código (métodos)</a:t>
            </a:r>
            <a:r>
              <a:rPr b="0" lang="en-US"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en una sola unidad, restringiendo el acceso directo para proteger la integridad del objeto.</a:t>
            </a:r>
            <a:endParaRPr b="0" sz="1200">
              <a:solidFill>
                <a:srgbClr val="CDD6E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2" name="Google Shape;242;p22"/>
          <p:cNvGrpSpPr/>
          <p:nvPr/>
        </p:nvGrpSpPr>
        <p:grpSpPr>
          <a:xfrm>
            <a:off x="581025" y="2000250"/>
            <a:ext cx="3524400" cy="4286400"/>
            <a:chOff x="581025" y="2000250"/>
            <a:chExt cx="3524400" cy="4286400"/>
          </a:xfrm>
        </p:grpSpPr>
        <p:sp>
          <p:nvSpPr>
            <p:cNvPr id="243" name="Google Shape;243;p22"/>
            <p:cNvSpPr/>
            <p:nvPr/>
          </p:nvSpPr>
          <p:spPr>
            <a:xfrm>
              <a:off x="581025" y="2000250"/>
              <a:ext cx="3524400" cy="4286400"/>
            </a:xfrm>
            <a:prstGeom prst="roundRect">
              <a:avLst>
                <a:gd fmla="val 432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high-tech digital padlock glowing with neon cyan circuits on a dark blue background, representing data security and private access in Java." id="244" name="Google Shape;244;p22"/>
            <p:cNvPicPr preferRelativeResize="0"/>
            <p:nvPr/>
          </p:nvPicPr>
          <p:blipFill rotWithShape="1">
            <a:blip r:embed="rId4">
              <a:alphaModFix/>
            </a:blip>
            <a:srcRect b="1522" l="0" r="-3029" t="1513"/>
            <a:stretch/>
          </p:blipFill>
          <p:spPr>
            <a:xfrm>
              <a:off x="771525" y="2190750"/>
              <a:ext cx="3238500" cy="1714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245" name="Google Shape;245;p22"/>
            <p:cNvSpPr txBox="1"/>
            <p:nvPr/>
          </p:nvSpPr>
          <p:spPr>
            <a:xfrm>
              <a:off x="771525" y="4048125"/>
              <a:ext cx="3143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private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46" name="Google Shape;246;p22"/>
            <p:cNvSpPr txBox="1"/>
            <p:nvPr/>
          </p:nvSpPr>
          <p:spPr>
            <a:xfrm>
              <a:off x="771525" y="4476750"/>
              <a:ext cx="31434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El nivel </a:t>
              </a:r>
              <a:r>
                <a:rPr b="1" lang="en-US" sz="12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más restrictivo</a:t>
              </a: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. Los miembros solo son visibles dentro de la </a:t>
              </a:r>
              <a:r>
                <a:rPr b="1" lang="en-US" sz="12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misma clase</a:t>
              </a: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b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b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r>
                <a:rPr b="0"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private String secreto;</a:t>
              </a:r>
              <a:b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b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Ideal para ocultar el estado interno y obligar el uso de Getters/Setters.</a:t>
              </a:r>
              <a:endParaRPr b="0"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47" name="Google Shape;247;p22"/>
          <p:cNvGrpSpPr/>
          <p:nvPr/>
        </p:nvGrpSpPr>
        <p:grpSpPr>
          <a:xfrm>
            <a:off x="4333875" y="2000250"/>
            <a:ext cx="3524400" cy="4286400"/>
            <a:chOff x="4333875" y="2000250"/>
            <a:chExt cx="3524400" cy="4286400"/>
          </a:xfrm>
        </p:grpSpPr>
        <p:sp>
          <p:nvSpPr>
            <p:cNvPr id="248" name="Google Shape;248;p22"/>
            <p:cNvSpPr/>
            <p:nvPr/>
          </p:nvSpPr>
          <p:spPr>
            <a:xfrm>
              <a:off x="4333875" y="2000250"/>
              <a:ext cx="3524400" cy="4286400"/>
            </a:xfrm>
            <a:prstGeom prst="roundRect">
              <a:avLst>
                <a:gd fmla="val 432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tylized 3D eye icon with digital scanning lines, neon blue and slate colors, representing visibility and public access in a software architecture." id="249" name="Google Shape;249;p22"/>
            <p:cNvPicPr preferRelativeResize="0"/>
            <p:nvPr/>
          </p:nvPicPr>
          <p:blipFill rotWithShape="1">
            <a:blip r:embed="rId5">
              <a:alphaModFix/>
            </a:blip>
            <a:srcRect b="1522" l="0" r="-3029" t="1513"/>
            <a:stretch/>
          </p:blipFill>
          <p:spPr>
            <a:xfrm>
              <a:off x="4524375" y="2190750"/>
              <a:ext cx="3238500" cy="1714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250" name="Google Shape;250;p22"/>
            <p:cNvSpPr txBox="1"/>
            <p:nvPr/>
          </p:nvSpPr>
          <p:spPr>
            <a:xfrm>
              <a:off x="4524375" y="4048125"/>
              <a:ext cx="3143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public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51" name="Google Shape;251;p22"/>
            <p:cNvSpPr txBox="1"/>
            <p:nvPr/>
          </p:nvSpPr>
          <p:spPr>
            <a:xfrm>
              <a:off x="4524375" y="4476750"/>
              <a:ext cx="31434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El nivel </a:t>
              </a:r>
              <a:r>
                <a:rPr b="1" lang="en-US" sz="12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sin restricciones</a:t>
              </a: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. Los miembros son accesibles desde </a:t>
              </a:r>
              <a:r>
                <a:rPr b="1" lang="en-US" sz="12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cualquier clase</a:t>
              </a: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del proyecto.</a:t>
              </a:r>
              <a:b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b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r>
                <a:rPr b="0"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public void ejecutar();</a:t>
              </a:r>
              <a:b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b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Define la interfaz o "contrato" que el objeto ofrece al mundo exterior.</a:t>
              </a:r>
              <a:endParaRPr b="0"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52" name="Google Shape;252;p22"/>
          <p:cNvGrpSpPr/>
          <p:nvPr/>
        </p:nvGrpSpPr>
        <p:grpSpPr>
          <a:xfrm>
            <a:off x="8086725" y="2000250"/>
            <a:ext cx="3524400" cy="4286400"/>
            <a:chOff x="8086725" y="2000250"/>
            <a:chExt cx="3524400" cy="4286400"/>
          </a:xfrm>
        </p:grpSpPr>
        <p:sp>
          <p:nvSpPr>
            <p:cNvPr id="253" name="Google Shape;253;p22"/>
            <p:cNvSpPr/>
            <p:nvPr/>
          </p:nvSpPr>
          <p:spPr>
            <a:xfrm>
              <a:off x="8086725" y="2000250"/>
              <a:ext cx="3524400" cy="4286400"/>
            </a:xfrm>
            <a:prstGeom prst="roundRect">
              <a:avLst>
                <a:gd fmla="val 432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Networked gear icons with connecting lines, representing inheritance and shared access within a family of classes, dark blue and cyan theme." id="254" name="Google Shape;254;p22"/>
            <p:cNvPicPr preferRelativeResize="0"/>
            <p:nvPr/>
          </p:nvPicPr>
          <p:blipFill rotWithShape="1">
            <a:blip r:embed="rId6">
              <a:alphaModFix/>
            </a:blip>
            <a:srcRect b="1522" l="0" r="-3029" t="1513"/>
            <a:stretch/>
          </p:blipFill>
          <p:spPr>
            <a:xfrm>
              <a:off x="8277225" y="2190750"/>
              <a:ext cx="3238500" cy="1714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255" name="Google Shape;255;p22"/>
            <p:cNvSpPr txBox="1"/>
            <p:nvPr/>
          </p:nvSpPr>
          <p:spPr>
            <a:xfrm>
              <a:off x="8277225" y="4048125"/>
              <a:ext cx="3143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protected</a:t>
              </a:r>
              <a:endParaRPr b="1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56" name="Google Shape;256;p22"/>
            <p:cNvSpPr txBox="1"/>
            <p:nvPr/>
          </p:nvSpPr>
          <p:spPr>
            <a:xfrm>
              <a:off x="8277225" y="4476750"/>
              <a:ext cx="31434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Acceso intermedio. Los miembros son visibles para clases en el </a:t>
              </a:r>
              <a:r>
                <a:rPr b="1" lang="en-US" sz="12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mismo paquete</a:t>
              </a: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y para </a:t>
              </a:r>
              <a:r>
                <a:rPr b="1" lang="en-US" sz="1200">
                  <a:solidFill>
                    <a:srgbClr val="22D3EE"/>
                  </a:solidFill>
                  <a:latin typeface="DM Sans"/>
                  <a:ea typeface="DM Sans"/>
                  <a:cs typeface="DM Sans"/>
                  <a:sym typeface="DM Sans"/>
                </a:rPr>
                <a:t>subclases</a:t>
              </a: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(herencia).</a:t>
              </a:r>
              <a:b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b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r>
                <a:rPr b="0" lang="en-US" sz="1100">
                  <a:solidFill>
                    <a:srgbClr val="22D3EE"/>
                  </a:solidFill>
                  <a:latin typeface="Consolas"/>
                  <a:ea typeface="Consolas"/>
                  <a:cs typeface="Consolas"/>
                  <a:sym typeface="Consolas"/>
                </a:rPr>
                <a:t>protected int idInterno;</a:t>
              </a:r>
              <a:b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b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r>
                <a:rPr b="0" lang="en-US" sz="1200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Permite que las clases hijas hereden y extiendan funcionalidad.</a:t>
              </a:r>
              <a:endParaRPr b="0" sz="12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581025" y="2247900"/>
            <a:ext cx="4943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La herencia permite crear nuevas clases basadas en clases existentes, heredando sus atributos y comportamientos.</a:t>
            </a:r>
            <a:endParaRPr sz="1900"/>
          </a:p>
        </p:txBody>
      </p:sp>
      <p:sp>
        <p:nvSpPr>
          <p:cNvPr id="264" name="Google Shape;264;p23"/>
          <p:cNvSpPr txBox="1"/>
          <p:nvPr/>
        </p:nvSpPr>
        <p:spPr>
          <a:xfrm>
            <a:off x="748013" y="1046925"/>
            <a:ext cx="499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Herencia</a:t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581025" y="771525"/>
            <a:ext cx="57150" cy="11049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 txBox="1"/>
          <p:nvPr/>
        </p:nvSpPr>
        <p:spPr>
          <a:xfrm>
            <a:off x="581075" y="3352800"/>
            <a:ext cx="49434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Superclase:</a:t>
            </a:r>
            <a:r>
              <a:rPr lang="en-US" sz="180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La clase padre (general).</a:t>
            </a:r>
            <a:r>
              <a:rPr lang="en-US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Subclase:</a:t>
            </a:r>
            <a:r>
              <a:rPr lang="en-US" sz="180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La clase hija (especializada).</a:t>
            </a:r>
            <a:r>
              <a:rPr lang="en-US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Fomenta la mantenibilidad del software.</a:t>
            </a:r>
            <a:r>
              <a:rPr lang="en-US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771525" y="581025"/>
            <a:ext cx="104775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Implementación de Herencia</a:t>
            </a:r>
            <a:endParaRPr b="1" sz="36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819150" y="1533525"/>
            <a:ext cx="105537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extends</a:t>
            </a:r>
            <a:endParaRPr b="1" sz="18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Palabra clave utilizada para declarar que una clase deriva de otra. Establece la relación "es-un".</a:t>
            </a:r>
            <a:endParaRPr sz="1300">
              <a:solidFill>
                <a:srgbClr val="F8FAF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super</a:t>
            </a:r>
            <a:endParaRPr b="1" sz="18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Referencia a la clase padre inmediata. Se usa para invocar constructores o métodos de la superclase.</a:t>
            </a:r>
            <a:endParaRPr sz="1300">
              <a:solidFill>
                <a:srgbClr val="F8FAF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@Override</a:t>
            </a:r>
            <a:endParaRPr b="1" sz="18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Anotación que indica que un método en la subclase reemplaza intencionalmente a uno de la superclase.</a:t>
            </a:r>
            <a:endParaRPr sz="1300">
              <a:solidFill>
                <a:srgbClr val="F8FAF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abstract</a:t>
            </a:r>
            <a:endParaRPr b="1" sz="18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Define clases que no pueden ser instanciadas y métodos que deben ser implementados por las subclases.</a:t>
            </a:r>
            <a:endParaRPr sz="1300">
              <a:solidFill>
                <a:srgbClr val="F8FAF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final</a:t>
            </a:r>
            <a:endParaRPr b="1" sz="18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Se usa para declarar clases que no pueden ser heredadas (clases finales), evitando la extensión.</a:t>
            </a:r>
            <a:endParaRPr sz="1300">
              <a:solidFill>
                <a:srgbClr val="F8FAFC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33650"/>
            <a:ext cx="527685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33650"/>
            <a:ext cx="527685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962025" y="3324225"/>
            <a:ext cx="4514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Una subclase </a:t>
            </a:r>
            <a:r>
              <a:rPr b="1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extiende</a:t>
            </a: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a una única superclase.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962025" y="3714750"/>
            <a:ext cx="4514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Hereda todos los miembros public y protected.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962025" y="4105275"/>
            <a:ext cx="4514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Puede añadir sus propios métodos y atributos.</a:t>
            </a:r>
            <a:endParaRPr/>
          </a:p>
        </p:txBody>
      </p:sp>
      <p:pic>
        <p:nvPicPr>
          <p:cNvPr descr="image.png" id="285" name="Google Shape;28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3432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7338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12432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Implementando Herencia: 'extends'</a:t>
            </a:r>
            <a:endParaRPr/>
          </a:p>
        </p:txBody>
      </p:sp>
      <p:sp>
        <p:nvSpPr>
          <p:cNvPr id="289" name="Google Shape;289;p25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 txBox="1"/>
          <p:nvPr/>
        </p:nvSpPr>
        <p:spPr>
          <a:xfrm>
            <a:off x="962025" y="2914650"/>
            <a:ext cx="47405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Reglas de Oro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5924" y="1957387"/>
            <a:ext cx="3975050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57387"/>
            <a:ext cx="67691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6"/>
          <p:cNvSpPr txBox="1"/>
          <p:nvPr/>
        </p:nvSpPr>
        <p:spPr>
          <a:xfrm>
            <a:off x="581025" y="4900612"/>
            <a:ext cx="676914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Capacidad de un objeto de tomar diferentes formas. Un solo método (ej. dibujar()) actúa diferente según el objeto (Círculo vs Cuadrado).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7931199" y="2681287"/>
            <a:ext cx="33845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Clave para el polimorfismo dinámico. La subclase redefine un método del padre para adaptarlo a su necesidad.</a:t>
            </a:r>
            <a:endParaRPr/>
          </a:p>
        </p:txBody>
      </p:sp>
      <p:pic>
        <p:nvPicPr>
          <p:cNvPr descr="image.png" id="300" name="Google Shape;30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1966912"/>
            <a:ext cx="6750099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6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Polimorfismo: Muchas Formas</a:t>
            </a:r>
            <a:endParaRPr/>
          </a:p>
        </p:txBody>
      </p:sp>
      <p:sp>
        <p:nvSpPr>
          <p:cNvPr id="302" name="Google Shape;302;p26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 txBox="1"/>
          <p:nvPr/>
        </p:nvSpPr>
        <p:spPr>
          <a:xfrm>
            <a:off x="581025" y="4529137"/>
            <a:ext cx="710760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Mismo Mensaje, Distinto Resultado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7931199" y="2252662"/>
            <a:ext cx="35537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Sobrescritura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9" name="Google Shape;30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0" name="Google Shape;310;p27"/>
          <p:cNvGraphicFramePr/>
          <p:nvPr/>
        </p:nvGraphicFramePr>
        <p:xfrm>
          <a:off x="581025" y="22240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{A564926F-3757-4E45-858F-3DF6B26EAB61}</a:tableStyleId>
              </a:tblPr>
              <a:tblGrid>
                <a:gridCol w="1959625"/>
                <a:gridCol w="3969700"/>
                <a:gridCol w="5100625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Concepto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Clase Concreta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Clase Abstracta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Instanciación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 pueden crear objetos con new.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</a:t>
                      </a: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se pueden crear objetos.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Métodos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Todos deben tener cuerpo { ... }.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Puede tener métodos abstract (sin cuerpo).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Propósito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Representar entidades finales.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Servir como base común para otras clases.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311" name="Google Shape;311;p27"/>
          <p:cNvSpPr txBox="1"/>
          <p:nvPr/>
        </p:nvSpPr>
        <p:spPr>
          <a:xfrm>
            <a:off x="581025" y="5024437"/>
            <a:ext cx="11029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* Los métodos abstractos obligan a las subclases a dar una implementación real.</a:t>
            </a:r>
            <a:endParaRPr/>
          </a:p>
        </p:txBody>
      </p:sp>
      <p:sp>
        <p:nvSpPr>
          <p:cNvPr id="312" name="Google Shape;312;p27"/>
          <p:cNvSpPr/>
          <p:nvPr/>
        </p:nvSpPr>
        <p:spPr>
          <a:xfrm>
            <a:off x="581025" y="3486150"/>
            <a:ext cx="19596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2540644" y="3486150"/>
            <a:ext cx="39696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6510337" y="3486150"/>
            <a:ext cx="510063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/>
          <p:nvPr/>
        </p:nvSpPr>
        <p:spPr>
          <a:xfrm>
            <a:off x="581025" y="4105275"/>
            <a:ext cx="19596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7"/>
          <p:cNvSpPr/>
          <p:nvPr/>
        </p:nvSpPr>
        <p:spPr>
          <a:xfrm>
            <a:off x="2540644" y="4105275"/>
            <a:ext cx="39696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6510337" y="4105275"/>
            <a:ext cx="510063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581025" y="4724400"/>
            <a:ext cx="19596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7"/>
          <p:cNvSpPr/>
          <p:nvPr/>
        </p:nvSpPr>
        <p:spPr>
          <a:xfrm>
            <a:off x="2540644" y="4724400"/>
            <a:ext cx="39696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6510337" y="4724400"/>
            <a:ext cx="510063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7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Abstracción: Clases y Métodos</a:t>
            </a:r>
            <a:endParaRPr/>
          </a:p>
        </p:txBody>
      </p:sp>
      <p:sp>
        <p:nvSpPr>
          <p:cNvPr id="322" name="Google Shape;322;p27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8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771525" y="581025"/>
            <a:ext cx="104775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Tipos de Polimorfismo</a:t>
            </a:r>
            <a:endParaRPr b="1" sz="36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330" name="Google Shape;330;p28"/>
          <p:cNvGrpSpPr/>
          <p:nvPr/>
        </p:nvGrpSpPr>
        <p:grpSpPr>
          <a:xfrm>
            <a:off x="581025" y="2095500"/>
            <a:ext cx="5277000" cy="2857500"/>
            <a:chOff x="0" y="0"/>
            <a:chExt cx="5277000" cy="2857500"/>
          </a:xfrm>
        </p:grpSpPr>
        <p:sp>
          <p:nvSpPr>
            <p:cNvPr id="331" name="Google Shape;331;p28"/>
            <p:cNvSpPr/>
            <p:nvPr/>
          </p:nvSpPr>
          <p:spPr>
            <a:xfrm>
              <a:off x="0" y="0"/>
              <a:ext cx="5277000" cy="2857500"/>
            </a:xfrm>
            <a:prstGeom prst="roundRect">
              <a:avLst>
                <a:gd fmla="val 5333" name="adj"/>
              </a:avLst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8"/>
            <p:cNvSpPr txBox="1"/>
            <p:nvPr/>
          </p:nvSpPr>
          <p:spPr>
            <a:xfrm>
              <a:off x="238125" y="2047875"/>
              <a:ext cx="480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2D3EE"/>
                  </a:solidFill>
                  <a:latin typeface="Urbanist"/>
                  <a:ea typeface="Urbanist"/>
                  <a:cs typeface="Urbanist"/>
                  <a:sym typeface="Urbanist"/>
                </a:rPr>
                <a:t>Polimorfismo Dinámico</a:t>
              </a:r>
              <a:endParaRPr b="1" sz="18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333" name="Google Shape;333;p28"/>
            <p:cNvSpPr txBox="1"/>
            <p:nvPr/>
          </p:nvSpPr>
          <p:spPr>
            <a:xfrm>
              <a:off x="238125" y="2333625"/>
              <a:ext cx="4800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Ocurre cuando es el mismo método en diferentes clases relacionadas por herencia.</a:t>
              </a:r>
              <a:endParaRPr b="0" sz="1203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34" name="Google Shape;334;p28"/>
          <p:cNvGrpSpPr/>
          <p:nvPr/>
        </p:nvGrpSpPr>
        <p:grpSpPr>
          <a:xfrm>
            <a:off x="6334125" y="2095500"/>
            <a:ext cx="5277000" cy="2857500"/>
            <a:chOff x="0" y="0"/>
            <a:chExt cx="5277000" cy="2857500"/>
          </a:xfrm>
        </p:grpSpPr>
        <p:sp>
          <p:nvSpPr>
            <p:cNvPr id="335" name="Google Shape;335;p28"/>
            <p:cNvSpPr/>
            <p:nvPr/>
          </p:nvSpPr>
          <p:spPr>
            <a:xfrm>
              <a:off x="0" y="0"/>
              <a:ext cx="5277000" cy="2857500"/>
            </a:xfrm>
            <a:prstGeom prst="roundRect">
              <a:avLst>
                <a:gd fmla="val 5333" name="adj"/>
              </a:avLst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8"/>
            <p:cNvSpPr txBox="1"/>
            <p:nvPr/>
          </p:nvSpPr>
          <p:spPr>
            <a:xfrm>
              <a:off x="238125" y="2047875"/>
              <a:ext cx="480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2D3EE"/>
                  </a:solidFill>
                  <a:latin typeface="Urbanist"/>
                  <a:ea typeface="Urbanist"/>
                  <a:cs typeface="Urbanist"/>
                  <a:sym typeface="Urbanist"/>
                </a:rPr>
                <a:t>Polimorfismo Estático</a:t>
              </a:r>
              <a:endParaRPr b="1" sz="18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337" name="Google Shape;337;p28"/>
            <p:cNvSpPr txBox="1"/>
            <p:nvPr/>
          </p:nvSpPr>
          <p:spPr>
            <a:xfrm>
              <a:off x="238125" y="2333625"/>
              <a:ext cx="4800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Ocurre cuando es el mismo método con diferentes argumentos en la misma clase.</a:t>
              </a:r>
              <a:endParaRPr b="0" sz="1203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338" name="Google Shape;33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525" y="2271375"/>
            <a:ext cx="4905450" cy="186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20800" y="2271375"/>
            <a:ext cx="4905450" cy="186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9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9"/>
          <p:cNvSpPr txBox="1"/>
          <p:nvPr/>
        </p:nvSpPr>
        <p:spPr>
          <a:xfrm>
            <a:off x="771525" y="581025"/>
            <a:ext cx="104775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n-US" sz="36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Polimorfismo de Subtipo</a:t>
            </a:r>
            <a:endParaRPr b="1" sz="36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47" name="Google Shape;347;p29"/>
          <p:cNvSpPr/>
          <p:nvPr/>
        </p:nvSpPr>
        <p:spPr>
          <a:xfrm>
            <a:off x="581025" y="1524000"/>
            <a:ext cx="11030100" cy="4762500"/>
          </a:xfrm>
          <a:prstGeom prst="roundRect">
            <a:avLst>
              <a:gd fmla="val 3200" name="adj"/>
            </a:avLst>
          </a:prstGeom>
          <a:solidFill>
            <a:srgbClr val="1E293B">
              <a:alpha val="5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9"/>
          <p:cNvSpPr txBox="1"/>
          <p:nvPr/>
        </p:nvSpPr>
        <p:spPr>
          <a:xfrm>
            <a:off x="866775" y="1809750"/>
            <a:ext cx="45720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Polimorfismo de Inclusión</a:t>
            </a:r>
            <a:endParaRPr b="1" sz="1800">
              <a:solidFill>
                <a:srgbClr val="22D3E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Permite tratar a objetos de diferentes subclases de manera uniforme a través de una referencia de su superclase.</a:t>
            </a:r>
            <a:endParaRPr b="0" sz="1200">
              <a:solidFill>
                <a:srgbClr val="F8FAF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2D3EE"/>
                </a:solidFill>
                <a:latin typeface="DM Sans"/>
                <a:ea typeface="DM Sans"/>
                <a:cs typeface="DM Sans"/>
                <a:sym typeface="DM Sans"/>
              </a:rPr>
              <a:t>Características clave:</a:t>
            </a:r>
            <a:endParaRPr b="0" sz="1200">
              <a:solidFill>
                <a:srgbClr val="F8FAF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DM Sans"/>
              <a:buChar char="●"/>
            </a:pPr>
            <a:r>
              <a:rPr b="0" lang="en-US" sz="120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Uso de colecciones heterogéneas (vectores de la clase padre).</a:t>
            </a:r>
            <a:endParaRPr b="0" sz="1200">
              <a:solidFill>
                <a:srgbClr val="F8FAF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DM Sans"/>
              <a:buChar char="●"/>
            </a:pPr>
            <a:r>
              <a:rPr b="0" lang="en-US" sz="120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Resolución en tiempo de ejecución</a:t>
            </a:r>
            <a:endParaRPr b="0" sz="1200">
              <a:solidFill>
                <a:srgbClr val="F8FAFC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600"/>
              </a:spcAft>
              <a:buClr>
                <a:srgbClr val="F8FAFC"/>
              </a:buClr>
              <a:buSzPts val="1200"/>
              <a:buFont typeface="DM Sans"/>
              <a:buChar char="●"/>
            </a:pPr>
            <a:r>
              <a:rPr b="0" lang="en-US" sz="120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El objeto invoca el método de su propia clase, no el de la referencia.</a:t>
            </a:r>
            <a:endParaRPr b="0" sz="1200">
              <a:solidFill>
                <a:srgbClr val="F8FAFC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9" name="Google Shape;349;p29"/>
          <p:cNvSpPr/>
          <p:nvPr/>
        </p:nvSpPr>
        <p:spPr>
          <a:xfrm>
            <a:off x="5715000" y="1809750"/>
            <a:ext cx="5619900" cy="4191000"/>
          </a:xfrm>
          <a:prstGeom prst="roundRect">
            <a:avLst>
              <a:gd fmla="val 2727" name="adj"/>
            </a:avLst>
          </a:prstGeom>
          <a:solidFill>
            <a:srgbClr val="1E293B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9"/>
          <p:cNvSpPr txBox="1"/>
          <p:nvPr/>
        </p:nvSpPr>
        <p:spPr>
          <a:xfrm>
            <a:off x="5905500" y="2000250"/>
            <a:ext cx="52389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</a:t>
            </a: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Main {</a:t>
            </a:r>
            <a:endParaRPr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  </a:t>
            </a:r>
            <a:r>
              <a:rPr lang="en-US" sz="110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</a:t>
            </a: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main(String[] args) {</a:t>
            </a:r>
            <a:endParaRPr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lang="en-US" sz="11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// Vector de tipo Persona (clase padre)</a:t>
            </a:r>
            <a:endParaRPr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    Persona[] grupo = </a:t>
            </a:r>
            <a:r>
              <a:rPr lang="en-US" sz="110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Persona[</a:t>
            </a:r>
            <a:r>
              <a:rPr lang="en-US" sz="1100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    grupo[</a:t>
            </a:r>
            <a:r>
              <a:rPr lang="en-US" sz="1100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en-US" sz="110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Empleado(</a:t>
            </a:r>
            <a:r>
              <a:rPr lang="en-US" sz="11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rPr>
              <a:t>"Carlos"</a:t>
            </a: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    grupo[</a:t>
            </a:r>
            <a:r>
              <a:rPr lang="en-US" sz="1100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en-US" sz="110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Estudiante(</a:t>
            </a:r>
            <a:r>
              <a:rPr lang="en-US" sz="11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rPr>
              <a:t>"Lucía"</a:t>
            </a: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    grupo[</a:t>
            </a:r>
            <a:r>
              <a:rPr lang="en-US" sz="1100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en-US" sz="110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Persona(</a:t>
            </a:r>
            <a:r>
              <a:rPr lang="en-US" sz="1100">
                <a:solidFill>
                  <a:srgbClr val="FACC15"/>
                </a:solidFill>
                <a:latin typeface="Courier New"/>
                <a:ea typeface="Courier New"/>
                <a:cs typeface="Courier New"/>
                <a:sym typeface="Courier New"/>
              </a:rPr>
              <a:t>"Juan"</a:t>
            </a: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lang="en-US" sz="11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// Recorremos el vector</a:t>
            </a:r>
            <a:endParaRPr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    </a:t>
            </a:r>
            <a:r>
              <a:rPr lang="en-US" sz="110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(Persona p : grupo) {</a:t>
            </a:r>
            <a:endParaRPr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</a:t>
            </a:r>
            <a:r>
              <a:rPr lang="en-US" sz="11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// Respuesta según su propio comportamiento</a:t>
            </a:r>
            <a:endParaRPr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p.presentarse();</a:t>
            </a:r>
            <a:endParaRPr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    }</a:t>
            </a:r>
            <a:endParaRPr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  }</a:t>
            </a:r>
            <a:endParaRPr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