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2000"/>
  <p:notesSz cx="6858000" cy="9144000"/>
  <p:embeddedFontLst>
    <p:embeddedFont>
      <p:font typeface="DM Sans Medium"/>
      <p:regular r:id="rId22"/>
      <p:bold r:id="rId23"/>
      <p:italic r:id="rId24"/>
      <p:boldItalic r:id="rId25"/>
    </p:embeddedFont>
    <p:embeddedFont>
      <p:font typeface="Merriweather"/>
      <p:regular r:id="rId26"/>
      <p:bold r:id="rId27"/>
      <p:italic r:id="rId28"/>
      <p:boldItalic r:id="rId29"/>
    </p:embeddedFont>
    <p:embeddedFont>
      <p:font typeface="DM Sans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DMSansMedium-regular.fntdata"/><Relationship Id="rId21" Type="http://schemas.openxmlformats.org/officeDocument/2006/relationships/slide" Target="slides/slide16.xml"/><Relationship Id="rId24" Type="http://schemas.openxmlformats.org/officeDocument/2006/relationships/font" Target="fonts/DMSansMedium-italic.fntdata"/><Relationship Id="rId23" Type="http://schemas.openxmlformats.org/officeDocument/2006/relationships/font" Target="fonts/DMSans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erriweather-regular.fntdata"/><Relationship Id="rId25" Type="http://schemas.openxmlformats.org/officeDocument/2006/relationships/font" Target="fonts/DMSansMedium-boldItalic.fntdata"/><Relationship Id="rId28" Type="http://schemas.openxmlformats.org/officeDocument/2006/relationships/font" Target="fonts/Merriweather-italic.fntdata"/><Relationship Id="rId27" Type="http://schemas.openxmlformats.org/officeDocument/2006/relationships/font" Target="fonts/Merriweather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erriweather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DMSans-bold.fntdata"/><Relationship Id="rId30" Type="http://schemas.openxmlformats.org/officeDocument/2006/relationships/font" Target="fonts/DMSans-regular.fntdata"/><Relationship Id="rId11" Type="http://schemas.openxmlformats.org/officeDocument/2006/relationships/slide" Target="slides/slide6.xml"/><Relationship Id="rId33" Type="http://schemas.openxmlformats.org/officeDocument/2006/relationships/font" Target="fonts/DMSans-boldItalic.fntdata"/><Relationship Id="rId10" Type="http://schemas.openxmlformats.org/officeDocument/2006/relationships/slide" Target="slides/slide5.xml"/><Relationship Id="rId32" Type="http://schemas.openxmlformats.org/officeDocument/2006/relationships/font" Target="fonts/DMSans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e2cd5688a2_0_4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2" name="Google Shape;92;g3e2cd5688a2_0_4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2cd5688a2_0_3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g3e2cd5688a2_0_3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2cd5688a2_0_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6" name="Google Shape;136;g3e2cd5688a2_0_45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4" name="Google Shape;14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2cd5688a2_0_4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g3e2cd5688a2_0_48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0" name="Google Shape;17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9" name="Google Shape;18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5" name="Google Shape;21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2" name="Google Shape;23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4" name="Google Shape;25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9" name="Google Shape;26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9" name="Google Shape;28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7" name="Google Shape;30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2" name="Google Shape;32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e2cd5688a2_15_0)">
  <p:cSld name="Generated (g3e2cd5688a2_15_0)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github.com/MelvinSevilla/programacionBasica.git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image" Target="../media/image22.png"/><Relationship Id="rId1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27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image" Target="../media/image11.png"/><Relationship Id="rId8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15.png"/><Relationship Id="rId6" Type="http://schemas.openxmlformats.org/officeDocument/2006/relationships/image" Target="../media/image1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6.png"/><Relationship Id="rId4" Type="http://schemas.openxmlformats.org/officeDocument/2006/relationships/image" Target="../media/image1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Relationship Id="rId5" Type="http://schemas.openxmlformats.org/officeDocument/2006/relationships/image" Target="../media/image21.png"/><Relationship Id="rId6" Type="http://schemas.openxmlformats.org/officeDocument/2006/relationships/image" Target="../media/image5.png"/><Relationship Id="rId7" Type="http://schemas.openxmlformats.org/officeDocument/2006/relationships/image" Target="../media/image20.png"/><Relationship Id="rId8" Type="http://schemas.openxmlformats.org/officeDocument/2006/relationships/image" Target="../media/image2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8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088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5" name="Google Shape;8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9500" y="-1905000"/>
            <a:ext cx="5715000" cy="5715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1905000" y="2095500"/>
            <a:ext cx="7620000" cy="76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4"/>
          <p:cNvSpPr txBox="1"/>
          <p:nvPr/>
        </p:nvSpPr>
        <p:spPr>
          <a:xfrm>
            <a:off x="1580435" y="2254597"/>
            <a:ext cx="9031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Programación </a:t>
            </a:r>
            <a:r>
              <a:rPr b="1" lang="en-US" sz="600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Básica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1795462" y="3283297"/>
            <a:ext cx="8601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>
                <a:solidFill>
                  <a:srgbClr val="11CAA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I Unidad: </a:t>
            </a:r>
            <a:r>
              <a:rPr b="0" i="0" lang="en-US" sz="2100" u="none" cap="none" strike="noStrike">
                <a:solidFill>
                  <a:srgbClr val="11CAA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Vectores y Matrices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4"/>
          <p:cNvSpPr txBox="1"/>
          <p:nvPr/>
        </p:nvSpPr>
        <p:spPr>
          <a:xfrm>
            <a:off x="1795462" y="4186237"/>
            <a:ext cx="86010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  <a:t>M.Sc Melvin David Sevilla Medina</a:t>
            </a:r>
            <a:br>
              <a:rPr lang="en-US" sz="135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b="0" i="0" lang="en-US" sz="1350" u="none" cap="none" strike="noStrike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  <a:t>Basado en: </a:t>
            </a:r>
            <a:r>
              <a:rPr b="0" i="1" lang="en-US" sz="1350" u="none" cap="none" strike="noStrike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  <a:t>Cómo Programar en Java</a:t>
            </a:r>
            <a:r>
              <a:rPr b="0" i="0" lang="en-US" sz="1350" u="none" cap="none" strike="noStrike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  <a:t>, Deitel &amp; Deitel (7ma Ed.)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088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4" name="Google Shape;9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9500" y="-1905000"/>
            <a:ext cx="5715000" cy="5715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1905000" y="2095500"/>
            <a:ext cx="7620000" cy="76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5"/>
          <p:cNvSpPr txBox="1"/>
          <p:nvPr/>
        </p:nvSpPr>
        <p:spPr>
          <a:xfrm>
            <a:off x="1580410" y="2967297"/>
            <a:ext cx="9031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lang="en-US" sz="600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Antes de Comenzar…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/>
          <p:cNvSpPr txBox="1"/>
          <p:nvPr/>
        </p:nvSpPr>
        <p:spPr>
          <a:xfrm>
            <a:off x="476250" y="381000"/>
            <a:ext cx="11239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Ecosistema y Capas de Desarrollo</a:t>
            </a:r>
            <a:endParaRPr b="1" sz="3600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pSp>
        <p:nvGrpSpPr>
          <p:cNvPr id="102" name="Google Shape;102;p16"/>
          <p:cNvGrpSpPr/>
          <p:nvPr/>
        </p:nvGrpSpPr>
        <p:grpSpPr>
          <a:xfrm>
            <a:off x="476250" y="1333500"/>
            <a:ext cx="11239500" cy="571500"/>
            <a:chOff x="476250" y="1333500"/>
            <a:chExt cx="11239500" cy="571500"/>
          </a:xfrm>
        </p:grpSpPr>
        <p:sp>
          <p:nvSpPr>
            <p:cNvPr id="103" name="Google Shape;103;p16"/>
            <p:cNvSpPr/>
            <p:nvPr/>
          </p:nvSpPr>
          <p:spPr>
            <a:xfrm>
              <a:off x="476250" y="1333500"/>
              <a:ext cx="2095500" cy="571500"/>
            </a:xfrm>
            <a:prstGeom prst="roundRect">
              <a:avLst>
                <a:gd fmla="val 13333" name="adj"/>
              </a:avLst>
            </a:prstGeom>
            <a:solidFill>
              <a:srgbClr val="0050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6"/>
            <p:cNvSpPr txBox="1"/>
            <p:nvPr/>
          </p:nvSpPr>
          <p:spPr>
            <a:xfrm>
              <a:off x="476250" y="1333500"/>
              <a:ext cx="2095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Concepto</a:t>
              </a:r>
              <a:endParaRPr b="1" sz="1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05" name="Google Shape;105;p16"/>
            <p:cNvSpPr/>
            <p:nvPr/>
          </p:nvSpPr>
          <p:spPr>
            <a:xfrm>
              <a:off x="2714625" y="1333500"/>
              <a:ext cx="4286400" cy="571500"/>
            </a:xfrm>
            <a:prstGeom prst="roundRect">
              <a:avLst>
                <a:gd fmla="val 13333" name="adj"/>
              </a:avLst>
            </a:prstGeom>
            <a:solidFill>
              <a:srgbClr val="0050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16"/>
            <p:cNvSpPr txBox="1"/>
            <p:nvPr/>
          </p:nvSpPr>
          <p:spPr>
            <a:xfrm>
              <a:off x="2714625" y="1333500"/>
              <a:ext cx="4286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¿Qué hace?</a:t>
              </a:r>
              <a:endParaRPr b="1" sz="1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07" name="Google Shape;107;p16"/>
            <p:cNvSpPr/>
            <p:nvPr/>
          </p:nvSpPr>
          <p:spPr>
            <a:xfrm>
              <a:off x="7143750" y="1333500"/>
              <a:ext cx="4572000" cy="571500"/>
            </a:xfrm>
            <a:prstGeom prst="roundRect">
              <a:avLst>
                <a:gd fmla="val 13333" name="adj"/>
              </a:avLst>
            </a:prstGeom>
            <a:solidFill>
              <a:srgbClr val="0050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6"/>
            <p:cNvSpPr txBox="1"/>
            <p:nvPr/>
          </p:nvSpPr>
          <p:spPr>
            <a:xfrm>
              <a:off x="7143750" y="1333500"/>
              <a:ext cx="457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Herramientas y Diferenciación</a:t>
              </a:r>
              <a:endParaRPr b="1" sz="14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09" name="Google Shape;109;p16"/>
          <p:cNvGrpSpPr/>
          <p:nvPr/>
        </p:nvGrpSpPr>
        <p:grpSpPr>
          <a:xfrm>
            <a:off x="476250" y="2000250"/>
            <a:ext cx="11239500" cy="714300"/>
            <a:chOff x="476250" y="2000250"/>
            <a:chExt cx="11239500" cy="714300"/>
          </a:xfrm>
        </p:grpSpPr>
        <p:sp>
          <p:nvSpPr>
            <p:cNvPr id="110" name="Google Shape;110;p16"/>
            <p:cNvSpPr/>
            <p:nvPr/>
          </p:nvSpPr>
          <p:spPr>
            <a:xfrm>
              <a:off x="476250" y="2000250"/>
              <a:ext cx="11239500" cy="714300"/>
            </a:xfrm>
            <a:prstGeom prst="roundRect">
              <a:avLst>
                <a:gd fmla="val 10666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6"/>
            <p:cNvSpPr txBox="1"/>
            <p:nvPr/>
          </p:nvSpPr>
          <p:spPr>
            <a:xfrm>
              <a:off x="571500" y="2000250"/>
              <a:ext cx="19050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Sistema Operativo</a:t>
              </a:r>
              <a:endParaRPr b="1" sz="13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12" name="Google Shape;112;p16"/>
            <p:cNvSpPr txBox="1"/>
            <p:nvPr/>
          </p:nvSpPr>
          <p:spPr>
            <a:xfrm>
              <a:off x="2714625" y="2000250"/>
              <a:ext cx="42864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333333"/>
                  </a:solidFill>
                  <a:latin typeface="DM Sans"/>
                  <a:ea typeface="DM Sans"/>
                  <a:cs typeface="DM Sans"/>
                  <a:sym typeface="DM Sans"/>
                </a:rPr>
                <a:t>Administra el hardware y recursos básicos del equipo.</a:t>
              </a:r>
              <a:endParaRPr b="0" sz="115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13" name="Google Shape;113;p16"/>
            <p:cNvSpPr txBox="1"/>
            <p:nvPr/>
          </p:nvSpPr>
          <p:spPr>
            <a:xfrm>
              <a:off x="7143750" y="2000250"/>
              <a:ext cx="45720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11CAA0"/>
                  </a:solidFill>
                  <a:latin typeface="DM Sans"/>
                  <a:ea typeface="DM Sans"/>
                  <a:cs typeface="DM Sans"/>
                  <a:sym typeface="DM Sans"/>
                </a:rPr>
                <a:t>Windows, Linux (Ubuntu), macOS, Android, iOS</a:t>
              </a:r>
              <a:endParaRPr b="1" sz="1150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14" name="Google Shape;114;p16"/>
          <p:cNvGrpSpPr/>
          <p:nvPr/>
        </p:nvGrpSpPr>
        <p:grpSpPr>
          <a:xfrm>
            <a:off x="476250" y="2809875"/>
            <a:ext cx="11239500" cy="714300"/>
            <a:chOff x="476250" y="2809875"/>
            <a:chExt cx="11239500" cy="714300"/>
          </a:xfrm>
        </p:grpSpPr>
        <p:sp>
          <p:nvSpPr>
            <p:cNvPr id="115" name="Google Shape;115;p16"/>
            <p:cNvSpPr/>
            <p:nvPr/>
          </p:nvSpPr>
          <p:spPr>
            <a:xfrm>
              <a:off x="476250" y="2809875"/>
              <a:ext cx="11239500" cy="714300"/>
            </a:xfrm>
            <a:prstGeom prst="roundRect">
              <a:avLst>
                <a:gd fmla="val 10666" name="adj"/>
              </a:avLst>
            </a:prstGeom>
            <a:solidFill>
              <a:srgbClr val="E8F1F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571500" y="2809875"/>
              <a:ext cx="19050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Entorno / Runtime</a:t>
              </a:r>
              <a:endParaRPr b="1" sz="13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17" name="Google Shape;117;p16"/>
            <p:cNvSpPr txBox="1"/>
            <p:nvPr/>
          </p:nvSpPr>
          <p:spPr>
            <a:xfrm>
              <a:off x="2714625" y="2809875"/>
              <a:ext cx="42864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333333"/>
                  </a:solidFill>
                  <a:latin typeface="DM Sans"/>
                  <a:ea typeface="DM Sans"/>
                  <a:cs typeface="DM Sans"/>
                  <a:sym typeface="DM Sans"/>
                </a:rPr>
                <a:t>Plataforma necesaria para que el código se ejecute.</a:t>
              </a:r>
              <a:endParaRPr b="0" sz="115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18" name="Google Shape;118;p16"/>
            <p:cNvSpPr txBox="1"/>
            <p:nvPr/>
          </p:nvSpPr>
          <p:spPr>
            <a:xfrm>
              <a:off x="7143750" y="2809875"/>
              <a:ext cx="45720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11CAA0"/>
                  </a:solidFill>
                  <a:latin typeface="DM Sans"/>
                  <a:ea typeface="DM Sans"/>
                  <a:cs typeface="DM Sans"/>
                  <a:sym typeface="DM Sans"/>
                </a:rPr>
                <a:t>JRE (Java), Node.js, .NET, Python Interpreter, Bun</a:t>
              </a:r>
              <a:endParaRPr b="1" sz="1150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19" name="Google Shape;119;p16"/>
          <p:cNvGrpSpPr/>
          <p:nvPr/>
        </p:nvGrpSpPr>
        <p:grpSpPr>
          <a:xfrm>
            <a:off x="476250" y="3619500"/>
            <a:ext cx="11239500" cy="714300"/>
            <a:chOff x="476250" y="3619500"/>
            <a:chExt cx="11239500" cy="714300"/>
          </a:xfrm>
        </p:grpSpPr>
        <p:sp>
          <p:nvSpPr>
            <p:cNvPr id="120" name="Google Shape;120;p16"/>
            <p:cNvSpPr/>
            <p:nvPr/>
          </p:nvSpPr>
          <p:spPr>
            <a:xfrm>
              <a:off x="476250" y="3619500"/>
              <a:ext cx="11239500" cy="714300"/>
            </a:xfrm>
            <a:prstGeom prst="roundRect">
              <a:avLst>
                <a:gd fmla="val 10666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6"/>
            <p:cNvSpPr txBox="1"/>
            <p:nvPr/>
          </p:nvSpPr>
          <p:spPr>
            <a:xfrm>
              <a:off x="571500" y="3619500"/>
              <a:ext cx="19050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Lenguaje</a:t>
              </a:r>
              <a:endParaRPr b="1" sz="13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2" name="Google Shape;122;p16"/>
            <p:cNvSpPr txBox="1"/>
            <p:nvPr/>
          </p:nvSpPr>
          <p:spPr>
            <a:xfrm>
              <a:off x="2714625" y="3619500"/>
              <a:ext cx="42864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333333"/>
                  </a:solidFill>
                  <a:latin typeface="DM Sans"/>
                  <a:ea typeface="DM Sans"/>
                  <a:cs typeface="DM Sans"/>
                  <a:sym typeface="DM Sans"/>
                </a:rPr>
                <a:t>Sintaxis y reglas para escribir instrucciones legibles.</a:t>
              </a:r>
              <a:endParaRPr b="0" sz="115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3" name="Google Shape;123;p16"/>
            <p:cNvSpPr txBox="1"/>
            <p:nvPr/>
          </p:nvSpPr>
          <p:spPr>
            <a:xfrm>
              <a:off x="7143750" y="3619500"/>
              <a:ext cx="45720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11CAA0"/>
                  </a:solidFill>
                  <a:latin typeface="DM Sans"/>
                  <a:ea typeface="DM Sans"/>
                  <a:cs typeface="DM Sans"/>
                  <a:sym typeface="DM Sans"/>
                </a:rPr>
                <a:t>Java, Python, C#, JavaScript, TypeScript, Rust</a:t>
              </a:r>
              <a:endParaRPr b="1" sz="1150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24" name="Google Shape;124;p16"/>
          <p:cNvGrpSpPr/>
          <p:nvPr/>
        </p:nvGrpSpPr>
        <p:grpSpPr>
          <a:xfrm>
            <a:off x="476250" y="4429125"/>
            <a:ext cx="11239500" cy="714300"/>
            <a:chOff x="476250" y="4429125"/>
            <a:chExt cx="11239500" cy="714300"/>
          </a:xfrm>
        </p:grpSpPr>
        <p:sp>
          <p:nvSpPr>
            <p:cNvPr id="125" name="Google Shape;125;p16"/>
            <p:cNvSpPr/>
            <p:nvPr/>
          </p:nvSpPr>
          <p:spPr>
            <a:xfrm>
              <a:off x="476250" y="4429125"/>
              <a:ext cx="11239500" cy="714300"/>
            </a:xfrm>
            <a:prstGeom prst="roundRect">
              <a:avLst>
                <a:gd fmla="val 10666" name="adj"/>
              </a:avLst>
            </a:prstGeom>
            <a:solidFill>
              <a:srgbClr val="E8F1F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16"/>
            <p:cNvSpPr txBox="1"/>
            <p:nvPr/>
          </p:nvSpPr>
          <p:spPr>
            <a:xfrm>
              <a:off x="571500" y="4429125"/>
              <a:ext cx="19050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IDE / Editor</a:t>
              </a:r>
              <a:endParaRPr b="1" sz="13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7" name="Google Shape;127;p16"/>
            <p:cNvSpPr txBox="1"/>
            <p:nvPr/>
          </p:nvSpPr>
          <p:spPr>
            <a:xfrm>
              <a:off x="2714625" y="4429125"/>
              <a:ext cx="42864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333333"/>
                  </a:solidFill>
                  <a:latin typeface="DM Sans"/>
                  <a:ea typeface="DM Sans"/>
                  <a:cs typeface="DM Sans"/>
                  <a:sym typeface="DM Sans"/>
                </a:rPr>
                <a:t>Herramienta visual para escribir y depurar código.</a:t>
              </a:r>
              <a:endParaRPr b="0" sz="115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8" name="Google Shape;128;p16"/>
            <p:cNvSpPr txBox="1"/>
            <p:nvPr/>
          </p:nvSpPr>
          <p:spPr>
            <a:xfrm>
              <a:off x="7143750" y="4429125"/>
              <a:ext cx="45720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11CAA0"/>
                  </a:solidFill>
                  <a:latin typeface="DM Sans"/>
                  <a:ea typeface="DM Sans"/>
                  <a:cs typeface="DM Sans"/>
                  <a:sym typeface="DM Sans"/>
                </a:rPr>
                <a:t>VS Code, IntelliJ IDEA, Eclipse, PyCharm</a:t>
              </a:r>
              <a:endParaRPr b="1" sz="1150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29" name="Google Shape;129;p16"/>
          <p:cNvGrpSpPr/>
          <p:nvPr/>
        </p:nvGrpSpPr>
        <p:grpSpPr>
          <a:xfrm>
            <a:off x="476250" y="5238750"/>
            <a:ext cx="11239500" cy="1238400"/>
            <a:chOff x="476250" y="5238750"/>
            <a:chExt cx="11239500" cy="1238400"/>
          </a:xfrm>
        </p:grpSpPr>
        <p:sp>
          <p:nvSpPr>
            <p:cNvPr id="130" name="Google Shape;130;p16"/>
            <p:cNvSpPr/>
            <p:nvPr/>
          </p:nvSpPr>
          <p:spPr>
            <a:xfrm>
              <a:off x="476250" y="5238750"/>
              <a:ext cx="11239500" cy="12384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16"/>
            <p:cNvSpPr txBox="1"/>
            <p:nvPr/>
          </p:nvSpPr>
          <p:spPr>
            <a:xfrm>
              <a:off x="571500" y="5238750"/>
              <a:ext cx="1905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Gestor de BD y Software de Acceso</a:t>
              </a:r>
              <a:endParaRPr b="1" sz="130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32" name="Google Shape;132;p16"/>
            <p:cNvSpPr txBox="1"/>
            <p:nvPr/>
          </p:nvSpPr>
          <p:spPr>
            <a:xfrm>
              <a:off x="2714625" y="5238750"/>
              <a:ext cx="4286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333333"/>
                  </a:solidFill>
                  <a:latin typeface="DM Sans"/>
                  <a:ea typeface="DM Sans"/>
                  <a:cs typeface="DM Sans"/>
                  <a:sym typeface="DM Sans"/>
                </a:rPr>
                <a:t>Motor/Servidor:</a:t>
              </a:r>
              <a:r>
                <a:rPr b="0" lang="en-US" sz="1150">
                  <a:solidFill>
                    <a:srgbClr val="333333"/>
                  </a:solidFill>
                  <a:latin typeface="DM Sans"/>
                  <a:ea typeface="DM Sans"/>
                  <a:cs typeface="DM Sans"/>
                  <a:sym typeface="DM Sans"/>
                </a:rPr>
                <a:t> Procesa y almacena los datos.</a:t>
              </a:r>
              <a:endParaRPr b="0" sz="115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333333"/>
                  </a:solidFill>
                  <a:latin typeface="DM Sans"/>
                  <a:ea typeface="DM Sans"/>
                  <a:cs typeface="DM Sans"/>
                  <a:sym typeface="DM Sans"/>
                </a:rPr>
                <a:t>Cliente/Interfaz:</a:t>
              </a:r>
              <a:r>
                <a:rPr b="0" lang="en-US" sz="1150">
                  <a:solidFill>
                    <a:srgbClr val="333333"/>
                  </a:solidFill>
                  <a:latin typeface="DM Sans"/>
                  <a:ea typeface="DM Sans"/>
                  <a:cs typeface="DM Sans"/>
                  <a:sym typeface="DM Sans"/>
                </a:rPr>
                <a:t> Permite manipular y visualizar los datos externamente.</a:t>
              </a:r>
              <a:endParaRPr b="0" sz="115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33" name="Google Shape;133;p16"/>
            <p:cNvSpPr txBox="1"/>
            <p:nvPr/>
          </p:nvSpPr>
          <p:spPr>
            <a:xfrm>
              <a:off x="7143750" y="5238750"/>
              <a:ext cx="4572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11CAA0"/>
                  </a:solidFill>
                  <a:latin typeface="DM Sans"/>
                  <a:ea typeface="DM Sans"/>
                  <a:cs typeface="DM Sans"/>
                  <a:sym typeface="DM Sans"/>
                </a:rPr>
                <a:t>Motores: MySQL Server, MongoDB, SQL Server</a:t>
              </a:r>
              <a:endParaRPr b="1" sz="1150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300"/>
                </a:spcAft>
                <a:buNone/>
              </a:pPr>
              <a:r>
                <a:rPr b="1" lang="en-US" sz="1150">
                  <a:solidFill>
                    <a:srgbClr val="11CAA0"/>
                  </a:solidFill>
                  <a:latin typeface="DM Sans"/>
                  <a:ea typeface="DM Sans"/>
                  <a:cs typeface="DM Sans"/>
                  <a:sym typeface="DM Sans"/>
                </a:rPr>
                <a:t>Interfaces: MySQL Workbench, HeidiSQL, Consola/Terminal</a:t>
              </a:r>
              <a:endParaRPr b="1" sz="1150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088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8" name="Google Shape;13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9500" y="-1905000"/>
            <a:ext cx="5715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7"/>
          <p:cNvSpPr txBox="1"/>
          <p:nvPr/>
        </p:nvSpPr>
        <p:spPr>
          <a:xfrm>
            <a:off x="4600813" y="2278856"/>
            <a:ext cx="29904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50"/>
              <a:buFont typeface="Arial"/>
              <a:buNone/>
            </a:pPr>
            <a:r>
              <a:rPr b="1" lang="en-US" sz="525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Vectores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5381625" y="3593306"/>
            <a:ext cx="1428900" cy="573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 txBox="1"/>
          <p:nvPr/>
        </p:nvSpPr>
        <p:spPr>
          <a:xfrm>
            <a:off x="3748087" y="3936206"/>
            <a:ext cx="46959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Arreglos</a:t>
            </a:r>
            <a:r>
              <a:rPr b="1" i="0" lang="en-US" sz="30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lang="en-US" sz="3000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Unid</a:t>
            </a:r>
            <a:r>
              <a:rPr b="1" i="0" lang="en-US" sz="30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imensionales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6" name="Google Shape;14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9500" y="-1905000"/>
            <a:ext cx="5715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/>
        </p:nvSpPr>
        <p:spPr>
          <a:xfrm>
            <a:off x="476250" y="1390650"/>
            <a:ext cx="53816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El Problema: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Necesitamos guardar las notas de 30 alumnos. ¿Crearías 30 variables independientes (nota1, nota2...)?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8"/>
          <p:cNvSpPr txBox="1"/>
          <p:nvPr/>
        </p:nvSpPr>
        <p:spPr>
          <a:xfrm>
            <a:off x="476250" y="2143125"/>
            <a:ext cx="5381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La Solución: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Un arreglo (vector).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8"/>
          <p:cNvSpPr txBox="1"/>
          <p:nvPr/>
        </p:nvSpPr>
        <p:spPr>
          <a:xfrm>
            <a:off x="714375" y="2590800"/>
            <a:ext cx="5143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Grupo de localidades de memoria </a:t>
            </a: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contiguas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8"/>
          <p:cNvSpPr txBox="1"/>
          <p:nvPr/>
        </p:nvSpPr>
        <p:spPr>
          <a:xfrm>
            <a:off x="714375" y="3086100"/>
            <a:ext cx="5143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Comparten el </a:t>
            </a: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mismo nombre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y el </a:t>
            </a: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mismo tipo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de dato.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8"/>
          <p:cNvSpPr txBox="1"/>
          <p:nvPr/>
        </p:nvSpPr>
        <p:spPr>
          <a:xfrm>
            <a:off x="714375" y="3581400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Concepto de Índice: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Es la posición de un elemento. En Java, el primer elemento siempre es el índice 0.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8"/>
          <p:cNvSpPr txBox="1"/>
          <p:nvPr/>
        </p:nvSpPr>
        <p:spPr>
          <a:xfrm>
            <a:off x="714375" y="4381500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El último elemento de un vector está en la posición longitud - 1.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8"/>
          <p:cNvSpPr txBox="1"/>
          <p:nvPr/>
        </p:nvSpPr>
        <p:spPr>
          <a:xfrm>
            <a:off x="476250" y="2590800"/>
            <a:ext cx="190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8"/>
          <p:cNvSpPr txBox="1"/>
          <p:nvPr/>
        </p:nvSpPr>
        <p:spPr>
          <a:xfrm>
            <a:off x="476250" y="3086100"/>
            <a:ext cx="190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8"/>
          <p:cNvSpPr txBox="1"/>
          <p:nvPr/>
        </p:nvSpPr>
        <p:spPr>
          <a:xfrm>
            <a:off x="476250" y="3581400"/>
            <a:ext cx="190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8"/>
          <p:cNvSpPr txBox="1"/>
          <p:nvPr/>
        </p:nvSpPr>
        <p:spPr>
          <a:xfrm>
            <a:off x="476250" y="4381500"/>
            <a:ext cx="190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8"/>
          <p:cNvSpPr txBox="1"/>
          <p:nvPr/>
        </p:nvSpPr>
        <p:spPr>
          <a:xfrm>
            <a:off x="476250" y="476250"/>
            <a:ext cx="117159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1" i="0" lang="en-US" sz="3375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Concepto de Vector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8" name="Google Shape;158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7850" y="2686438"/>
            <a:ext cx="5074175" cy="1485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3" name="Google Shape;16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9500" y="-1905000"/>
            <a:ext cx="5715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9"/>
          <p:cNvSpPr txBox="1"/>
          <p:nvPr/>
        </p:nvSpPr>
        <p:spPr>
          <a:xfrm>
            <a:off x="476250" y="1390650"/>
            <a:ext cx="5381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9"/>
          <p:cNvSpPr txBox="1"/>
          <p:nvPr/>
        </p:nvSpPr>
        <p:spPr>
          <a:xfrm>
            <a:off x="476250" y="2143125"/>
            <a:ext cx="7308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9"/>
          <p:cNvSpPr txBox="1"/>
          <p:nvPr/>
        </p:nvSpPr>
        <p:spPr>
          <a:xfrm>
            <a:off x="476250" y="1606050"/>
            <a:ext cx="9108900" cy="4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b="1" i="0" lang="en-US" sz="15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</a:t>
            </a:r>
            <a:r>
              <a:rPr b="1" lang="en-US" sz="1500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nstalar GIT</a:t>
            </a:r>
            <a:endParaRPr b="1" sz="1500">
              <a:solidFill>
                <a:srgbClr val="12121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150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4"/>
              </a:rPr>
              <a:t>https://git-scm.com/install/windows</a:t>
            </a:r>
            <a:endParaRPr b="1" sz="1500">
              <a:solidFill>
                <a:srgbClr val="12121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br>
              <a:rPr b="1" lang="en-US" sz="1500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b="1" lang="en-US" sz="1500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b="1" lang="en-U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la carpeta de tu preferencia, ejecutar en el CMD o Git CMD</a:t>
            </a:r>
            <a:endParaRPr b="1" sz="1500">
              <a:solidFill>
                <a:srgbClr val="12121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C:\Users\your_user&gt;  git clone </a:t>
            </a:r>
            <a:r>
              <a:rPr b="1" lang="en-US" sz="150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5"/>
              </a:rPr>
              <a:t>https://github.com/MelvinSevilla/programacionBasica.git</a:t>
            </a:r>
            <a:endParaRPr b="1" sz="1500">
              <a:solidFill>
                <a:srgbClr val="12121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br>
              <a:rPr b="1" lang="en-US" sz="1500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b="1" lang="en-US" sz="1500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b="1" lang="en-U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Después de cada clase se actualizará el repositorio </a:t>
            </a:r>
            <a:endParaRPr b="1"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t/>
            </a:r>
            <a:endParaRPr b="1"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b="1" lang="en-U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actualizar tu carpeta local, haz git pull</a:t>
            </a:r>
            <a:endParaRPr b="1" sz="1500">
              <a:solidFill>
                <a:srgbClr val="12121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C:\Users\your_user\programacionBasica&gt;  git pull</a:t>
            </a:r>
            <a:br>
              <a:rPr b="1" lang="en-US" sz="1500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</a:br>
            <a:br>
              <a:rPr b="1" lang="en-US" sz="1500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</a:br>
            <a:br>
              <a:rPr b="1" lang="en-US" sz="1500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b="1" sz="1500">
              <a:solidFill>
                <a:srgbClr val="11CAA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7" name="Google Shape;167;p19"/>
          <p:cNvSpPr txBox="1"/>
          <p:nvPr/>
        </p:nvSpPr>
        <p:spPr>
          <a:xfrm>
            <a:off x="476250" y="476250"/>
            <a:ext cx="117159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1" i="0" lang="en-US" sz="3375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</a:t>
            </a:r>
            <a:r>
              <a:rPr b="1" lang="en-US" sz="3375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arpeta compartida en GIT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2" name="Google Shape;17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6250" y="1390650"/>
            <a:ext cx="5381625" cy="4991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1390650"/>
            <a:ext cx="5381625" cy="499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0"/>
          <p:cNvSpPr txBox="1"/>
          <p:nvPr/>
        </p:nvSpPr>
        <p:spPr>
          <a:xfrm>
            <a:off x="866775" y="1781175"/>
            <a:ext cx="483060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1. Declaración y Creación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0"/>
          <p:cNvSpPr txBox="1"/>
          <p:nvPr/>
        </p:nvSpPr>
        <p:spPr>
          <a:xfrm>
            <a:off x="866775" y="2305050"/>
            <a:ext cx="46005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En Java, reservar memoria es un proceso de dos pasos que se puede combinar: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0"/>
          <p:cNvSpPr txBox="1"/>
          <p:nvPr/>
        </p:nvSpPr>
        <p:spPr>
          <a:xfrm>
            <a:off x="866775" y="3057525"/>
            <a:ext cx="46005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int[] arreglo; (Declara la referencia)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0"/>
          <p:cNvSpPr txBox="1"/>
          <p:nvPr/>
        </p:nvSpPr>
        <p:spPr>
          <a:xfrm>
            <a:off x="866775" y="3505200"/>
            <a:ext cx="46005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arreglo = new int[5]; (Crea el objeto)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0"/>
          <p:cNvSpPr txBox="1"/>
          <p:nvPr/>
        </p:nvSpPr>
        <p:spPr>
          <a:xfrm>
            <a:off x="866775" y="3952875"/>
            <a:ext cx="46005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Combinado: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int[] arreglo = new int[5];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0"/>
          <p:cNvSpPr txBox="1"/>
          <p:nvPr/>
        </p:nvSpPr>
        <p:spPr>
          <a:xfrm>
            <a:off x="866775" y="4895850"/>
            <a:ext cx="46005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Valores por defecto: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Al usar new, Java asigna: 0 para números, false para booleanos y null para objetos.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0"/>
          <p:cNvSpPr txBox="1"/>
          <p:nvPr/>
        </p:nvSpPr>
        <p:spPr>
          <a:xfrm>
            <a:off x="6724650" y="1781175"/>
            <a:ext cx="483060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2. Lista de Inicialización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0"/>
          <p:cNvSpPr txBox="1"/>
          <p:nvPr/>
        </p:nvSpPr>
        <p:spPr>
          <a:xfrm>
            <a:off x="6724650" y="2305050"/>
            <a:ext cx="46005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Si ya conocemos los valores, podemos obviar el uso explícito de new y el tamaño. Java lo calcula automáticamente.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0"/>
          <p:cNvSpPr txBox="1"/>
          <p:nvPr/>
        </p:nvSpPr>
        <p:spPr>
          <a:xfrm>
            <a:off x="6724650" y="3362325"/>
            <a:ext cx="46005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int[] notas = {85, 90, 78, 100, 60};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0"/>
          <p:cNvSpPr txBox="1"/>
          <p:nvPr/>
        </p:nvSpPr>
        <p:spPr>
          <a:xfrm>
            <a:off x="6724650" y="4000500"/>
            <a:ext cx="46005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Propiedad .length: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Para conocer el tamaño dinámicamente durante la ejecución: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0"/>
          <p:cNvSpPr txBox="1"/>
          <p:nvPr/>
        </p:nvSpPr>
        <p:spPr>
          <a:xfrm>
            <a:off x="6724650" y="5057775"/>
            <a:ext cx="46005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int tamanio = notas.length;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20"/>
          <p:cNvSpPr txBox="1"/>
          <p:nvPr/>
        </p:nvSpPr>
        <p:spPr>
          <a:xfrm>
            <a:off x="6724650" y="5505450"/>
            <a:ext cx="46005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(En este caso, tamanio será igual a 5).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0"/>
          <p:cNvSpPr txBox="1"/>
          <p:nvPr/>
        </p:nvSpPr>
        <p:spPr>
          <a:xfrm>
            <a:off x="476250" y="476250"/>
            <a:ext cx="117159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1" i="0" lang="en-US" sz="3375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Declaración e Inicialización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088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1" name="Google Shape;19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00" y="2095500"/>
            <a:ext cx="7620000" cy="762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914400"/>
            <a:ext cx="3429000" cy="5943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91000" y="914400"/>
            <a:ext cx="3429000" cy="5943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05750" y="914400"/>
            <a:ext cx="3810000" cy="5943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81050" y="12192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1"/>
          <p:cNvSpPr txBox="1"/>
          <p:nvPr/>
        </p:nvSpPr>
        <p:spPr>
          <a:xfrm>
            <a:off x="781050" y="2171700"/>
            <a:ext cx="289036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El Ciclo for Clásico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1"/>
          <p:cNvSpPr txBox="1"/>
          <p:nvPr/>
        </p:nvSpPr>
        <p:spPr>
          <a:xfrm>
            <a:off x="781050" y="2695575"/>
            <a:ext cx="2819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Control exacto del índice. La variable de control i sirve como índice: arreglo[i].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1"/>
          <p:cNvSpPr txBox="1"/>
          <p:nvPr/>
        </p:nvSpPr>
        <p:spPr>
          <a:xfrm>
            <a:off x="781050" y="3752850"/>
            <a:ext cx="28194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for(int i = 0; i &lt; arreglo.length; i++) {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  // Modificar o leer arreglo[i]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1"/>
          <p:cNvSpPr txBox="1"/>
          <p:nvPr/>
        </p:nvSpPr>
        <p:spPr>
          <a:xfrm>
            <a:off x="781050" y="5419725"/>
            <a:ext cx="2819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Ideal cuando necesitamos modificar los datos o saber la posición exacta.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00" name="Google Shape;200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495800" y="12192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1"/>
          <p:cNvSpPr txBox="1"/>
          <p:nvPr/>
        </p:nvSpPr>
        <p:spPr>
          <a:xfrm>
            <a:off x="4495800" y="2171700"/>
            <a:ext cx="296037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La Instrucción for Mejorada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1"/>
          <p:cNvSpPr txBox="1"/>
          <p:nvPr/>
        </p:nvSpPr>
        <p:spPr>
          <a:xfrm>
            <a:off x="4495800" y="3076575"/>
            <a:ext cx="2819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El "for-each" obtiene el valor directamente, sin manejar el índice.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1"/>
          <p:cNvSpPr txBox="1"/>
          <p:nvPr/>
        </p:nvSpPr>
        <p:spPr>
          <a:xfrm>
            <a:off x="4495800" y="4133850"/>
            <a:ext cx="28194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for(int elemento : arreglo) {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  // Leer 'elemento'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1"/>
          <p:cNvSpPr txBox="1"/>
          <p:nvPr/>
        </p:nvSpPr>
        <p:spPr>
          <a:xfrm>
            <a:off x="4495800" y="5495925"/>
            <a:ext cx="2819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Ideal para lecturas limpias, como sumar elementos o imprimirlos en pantalla.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05" name="Google Shape;205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210550" y="12192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1"/>
          <p:cNvSpPr txBox="1"/>
          <p:nvPr/>
        </p:nvSpPr>
        <p:spPr>
          <a:xfrm>
            <a:off x="8210550" y="2171700"/>
            <a:ext cx="276034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D32F2F"/>
                </a:solidFill>
                <a:latin typeface="Merriweather"/>
                <a:ea typeface="Merriweather"/>
                <a:cs typeface="Merriweather"/>
                <a:sym typeface="Merriweather"/>
              </a:rPr>
              <a:t>Alerta: Excepción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1"/>
          <p:cNvSpPr txBox="1"/>
          <p:nvPr/>
        </p:nvSpPr>
        <p:spPr>
          <a:xfrm>
            <a:off x="8210550" y="2695575"/>
            <a:ext cx="3200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ArrayIndexOutOfBoundsException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1"/>
          <p:cNvSpPr txBox="1"/>
          <p:nvPr/>
        </p:nvSpPr>
        <p:spPr>
          <a:xfrm>
            <a:off x="8210550" y="3143250"/>
            <a:ext cx="32004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Ocurre al intentar acceder a un índice que no existe (ej. índice 5 en un arreglo de tamaño 5, recordando que van de 0 a 4).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09" name="Google Shape;209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71550" y="140970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0" name="Google Shape;210;p2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757737" y="1409700"/>
            <a:ext cx="2381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2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401050" y="140970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1"/>
          <p:cNvSpPr txBox="1"/>
          <p:nvPr/>
        </p:nvSpPr>
        <p:spPr>
          <a:xfrm>
            <a:off x="476250" y="0"/>
            <a:ext cx="117159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1" i="0" lang="en-US" sz="3375" u="none" cap="none" strike="noStrik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Recorriendo el Vector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2"/>
          <p:cNvSpPr/>
          <p:nvPr/>
        </p:nvSpPr>
        <p:spPr>
          <a:xfrm>
            <a:off x="476250" y="1183183"/>
            <a:ext cx="11239500" cy="16115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2"/>
          <p:cNvSpPr/>
          <p:nvPr/>
        </p:nvSpPr>
        <p:spPr>
          <a:xfrm>
            <a:off x="476250" y="2985194"/>
            <a:ext cx="11239500" cy="16115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2"/>
          <p:cNvSpPr/>
          <p:nvPr/>
        </p:nvSpPr>
        <p:spPr>
          <a:xfrm>
            <a:off x="476250" y="4787205"/>
            <a:ext cx="11239500" cy="16115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2"/>
          <p:cNvSpPr/>
          <p:nvPr/>
        </p:nvSpPr>
        <p:spPr>
          <a:xfrm>
            <a:off x="476250" y="1183183"/>
            <a:ext cx="47625" cy="161151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2"/>
          <p:cNvSpPr/>
          <p:nvPr/>
        </p:nvSpPr>
        <p:spPr>
          <a:xfrm>
            <a:off x="476250" y="2985194"/>
            <a:ext cx="47625" cy="161151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476250" y="4787205"/>
            <a:ext cx="47625" cy="161151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23" name="Google Shape;22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9625" y="1435596"/>
            <a:ext cx="26670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 txBox="1"/>
          <p:nvPr/>
        </p:nvSpPr>
        <p:spPr>
          <a:xfrm>
            <a:off x="1266825" y="1804094"/>
            <a:ext cx="101631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Consiste en recorrer el vector con un condicional if para verificar si un dato específico está dentro del arreglo. Permite determinar la existencia de un valor y la posición (índice) en la que se encuentra por primera vez.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5" name="Google Shape;225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3237607"/>
            <a:ext cx="30480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2"/>
          <p:cNvSpPr txBox="1"/>
          <p:nvPr/>
        </p:nvSpPr>
        <p:spPr>
          <a:xfrm>
            <a:off x="1304925" y="3606105"/>
            <a:ext cx="101250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Usando un ciclo for clásico, podemos alterar todos los valores almacenados simultáneamente. Por ejemplo, multiplicar todos los sueldos por un factor de ajuste, o sumar puntos extra a las calificaciones de un examen.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7" name="Google Shape;227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25" y="5039617"/>
            <a:ext cx="33337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2"/>
          <p:cNvSpPr txBox="1"/>
          <p:nvPr/>
        </p:nvSpPr>
        <p:spPr>
          <a:xfrm>
            <a:off x="1333500" y="5408116"/>
            <a:ext cx="10096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Ambas operaciones requieren comprender la iteración (recorrido) combinada con el acceso al índice arreglo[i]. Es el fundamento para algoritmos más complejos de ordenamiento o filtrado.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2"/>
          <p:cNvSpPr txBox="1"/>
          <p:nvPr/>
        </p:nvSpPr>
        <p:spPr>
          <a:xfrm>
            <a:off x="476250" y="268783"/>
            <a:ext cx="117159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1" i="0" lang="en-US" sz="3375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Operaciones sobre Vectores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4" name="Google Shape;23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6250" y="2407750"/>
            <a:ext cx="5600975" cy="2009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407741"/>
            <a:ext cx="5381625" cy="30533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34175" y="4470499"/>
            <a:ext cx="3079849" cy="78105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3"/>
          <p:cNvSpPr txBox="1"/>
          <p:nvPr/>
        </p:nvSpPr>
        <p:spPr>
          <a:xfrm>
            <a:off x="476250" y="1390650"/>
            <a:ext cx="1123950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Resolviendo problemas reales: Desarrollaremos un programa que solicite el tamaño del vector, reciba notas, y extraiga estadísticas vitales.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3"/>
          <p:cNvSpPr txBox="1"/>
          <p:nvPr/>
        </p:nvSpPr>
        <p:spPr>
          <a:xfrm>
            <a:off x="1168013" y="2807800"/>
            <a:ext cx="39981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50"/>
              <a:buFont typeface="Arial"/>
              <a:buNone/>
            </a:pPr>
            <a:r>
              <a:rPr b="1" i="0" lang="en-US" sz="5250" u="none" cap="none" strike="noStrik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Algoritmos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23"/>
          <p:cNvSpPr txBox="1"/>
          <p:nvPr/>
        </p:nvSpPr>
        <p:spPr>
          <a:xfrm>
            <a:off x="2066925" y="3741241"/>
            <a:ext cx="2200275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3F0DF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Mayor y Menor Valor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3"/>
          <p:cNvSpPr txBox="1"/>
          <p:nvPr/>
        </p:nvSpPr>
        <p:spPr>
          <a:xfrm>
            <a:off x="6734175" y="2807791"/>
            <a:ext cx="481060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El Cálculo del Promedio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3"/>
          <p:cNvSpPr txBox="1"/>
          <p:nvPr/>
        </p:nvSpPr>
        <p:spPr>
          <a:xfrm>
            <a:off x="6734175" y="3331666"/>
            <a:ext cx="45815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Para calcular el promedio, recorremos el arreglo sumando cada elemento y luego dividimos por la longitud total del vector (arreglo.length).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2" name="Google Shape;242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972300" y="4388941"/>
            <a:ext cx="2651224" cy="634007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3"/>
          <p:cNvSpPr txBox="1"/>
          <p:nvPr/>
        </p:nvSpPr>
        <p:spPr>
          <a:xfrm>
            <a:off x="476250" y="476250"/>
            <a:ext cx="117159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1" i="0" lang="en-US" sz="3375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Cálculos Estadísticos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088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8" name="Google Shape;24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9500" y="-1905000"/>
            <a:ext cx="5715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4"/>
          <p:cNvSpPr txBox="1"/>
          <p:nvPr/>
        </p:nvSpPr>
        <p:spPr>
          <a:xfrm>
            <a:off x="4600813" y="2278856"/>
            <a:ext cx="29904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50"/>
              <a:buFont typeface="Arial"/>
              <a:buNone/>
            </a:pPr>
            <a:r>
              <a:rPr b="1" lang="en-US" sz="525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Matrices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4"/>
          <p:cNvSpPr/>
          <p:nvPr/>
        </p:nvSpPr>
        <p:spPr>
          <a:xfrm>
            <a:off x="5381625" y="3593306"/>
            <a:ext cx="1428750" cy="571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4"/>
          <p:cNvSpPr txBox="1"/>
          <p:nvPr/>
        </p:nvSpPr>
        <p:spPr>
          <a:xfrm>
            <a:off x="3748087" y="3936206"/>
            <a:ext cx="46958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Arreglos Bidimensionales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6" name="Google Shape;25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1390650"/>
            <a:ext cx="53816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5"/>
          <p:cNvSpPr txBox="1"/>
          <p:nvPr/>
        </p:nvSpPr>
        <p:spPr>
          <a:xfrm>
            <a:off x="476250" y="1390650"/>
            <a:ext cx="53816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El Concepto: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Muchos datos son inherentemente tabulares (ej. calificaciones por materia, tablero de ajedrez). Una matriz resuelve esto estructurando datos en </a:t>
            </a: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filas y columnas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5"/>
          <p:cNvSpPr txBox="1"/>
          <p:nvPr/>
        </p:nvSpPr>
        <p:spPr>
          <a:xfrm>
            <a:off x="476250" y="2447925"/>
            <a:ext cx="5381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La Visión de Java: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5"/>
          <p:cNvSpPr txBox="1"/>
          <p:nvPr/>
        </p:nvSpPr>
        <p:spPr>
          <a:xfrm>
            <a:off x="714375" y="2895600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En Java, una matriz es conceptualmente un </a:t>
            </a: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"arreglo de arreglos"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5"/>
          <p:cNvSpPr txBox="1"/>
          <p:nvPr/>
        </p:nvSpPr>
        <p:spPr>
          <a:xfrm>
            <a:off x="714375" y="3695700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Requiere </a:t>
            </a: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dos índices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para acceder a un dato: matriz[fila][columna].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5"/>
          <p:cNvSpPr txBox="1"/>
          <p:nvPr/>
        </p:nvSpPr>
        <p:spPr>
          <a:xfrm>
            <a:off x="714375" y="4495800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La coordenada de origen (esquina superior izquierda) siempre es [0][0].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62" name="Google Shape;262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3175" y="1409700"/>
            <a:ext cx="5343525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5"/>
          <p:cNvSpPr txBox="1"/>
          <p:nvPr/>
        </p:nvSpPr>
        <p:spPr>
          <a:xfrm>
            <a:off x="476250" y="2895600"/>
            <a:ext cx="190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5"/>
          <p:cNvSpPr txBox="1"/>
          <p:nvPr/>
        </p:nvSpPr>
        <p:spPr>
          <a:xfrm>
            <a:off x="476250" y="3695700"/>
            <a:ext cx="190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5"/>
          <p:cNvSpPr txBox="1"/>
          <p:nvPr/>
        </p:nvSpPr>
        <p:spPr>
          <a:xfrm>
            <a:off x="476250" y="4495800"/>
            <a:ext cx="190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5"/>
          <p:cNvSpPr txBox="1"/>
          <p:nvPr/>
        </p:nvSpPr>
        <p:spPr>
          <a:xfrm>
            <a:off x="476250" y="476250"/>
            <a:ext cx="117159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1" i="0" lang="en-US" sz="3375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Estructura de una Matriz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1" name="Google Shape;271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6250" y="1390650"/>
            <a:ext cx="5381625" cy="4991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2" name="Google Shape;27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1390650"/>
            <a:ext cx="5381625" cy="499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6"/>
          <p:cNvSpPr txBox="1"/>
          <p:nvPr/>
        </p:nvSpPr>
        <p:spPr>
          <a:xfrm>
            <a:off x="866775" y="1781175"/>
            <a:ext cx="483060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Creación e Inicialización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6"/>
          <p:cNvSpPr txBox="1"/>
          <p:nvPr/>
        </p:nvSpPr>
        <p:spPr>
          <a:xfrm>
            <a:off x="866775" y="2305050"/>
            <a:ext cx="46005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Declaración Formal: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6"/>
          <p:cNvSpPr txBox="1"/>
          <p:nvPr/>
        </p:nvSpPr>
        <p:spPr>
          <a:xfrm>
            <a:off x="866775" y="2752725"/>
            <a:ext cx="46005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int[][] matriz = new int[3][4];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6"/>
          <p:cNvSpPr txBox="1"/>
          <p:nvPr/>
        </p:nvSpPr>
        <p:spPr>
          <a:xfrm>
            <a:off x="866775" y="3200400"/>
            <a:ext cx="46005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(Crea una matriz de 3 filas y 4 columnas).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6"/>
          <p:cNvSpPr txBox="1"/>
          <p:nvPr/>
        </p:nvSpPr>
        <p:spPr>
          <a:xfrm>
            <a:off x="866775" y="3838575"/>
            <a:ext cx="46005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Inicialización con Llaves Anidadas: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6"/>
          <p:cNvSpPr txBox="1"/>
          <p:nvPr/>
        </p:nvSpPr>
        <p:spPr>
          <a:xfrm>
            <a:off x="866775" y="4286250"/>
            <a:ext cx="460057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int[][] matriz = {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  {1, 2},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  {3, 4}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};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6"/>
          <p:cNvSpPr txBox="1"/>
          <p:nvPr/>
        </p:nvSpPr>
        <p:spPr>
          <a:xfrm>
            <a:off x="6724650" y="1781175"/>
            <a:ext cx="483060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La propiedad .length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6"/>
          <p:cNvSpPr txBox="1"/>
          <p:nvPr/>
        </p:nvSpPr>
        <p:spPr>
          <a:xfrm>
            <a:off x="6724650" y="2305050"/>
            <a:ext cx="46005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Debido a que es un "arreglo de arreglos", la lectura del tamaño se hace por niveles: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6"/>
          <p:cNvSpPr txBox="1"/>
          <p:nvPr/>
        </p:nvSpPr>
        <p:spPr>
          <a:xfrm>
            <a:off x="6724650" y="4962525"/>
            <a:ext cx="46005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Fundamental para evitar quemar números en los ciclos for.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6"/>
          <p:cNvSpPr txBox="1"/>
          <p:nvPr/>
        </p:nvSpPr>
        <p:spPr>
          <a:xfrm>
            <a:off x="6962775" y="3057525"/>
            <a:ext cx="43624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matriz.length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Devuelve el </a:t>
            </a: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número de filas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6"/>
          <p:cNvSpPr txBox="1"/>
          <p:nvPr/>
        </p:nvSpPr>
        <p:spPr>
          <a:xfrm>
            <a:off x="6962775" y="3857625"/>
            <a:ext cx="43624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matriz[0].length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Devuelve el </a:t>
            </a: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número de columnas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de la primera fila.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6"/>
          <p:cNvSpPr txBox="1"/>
          <p:nvPr/>
        </p:nvSpPr>
        <p:spPr>
          <a:xfrm>
            <a:off x="6724650" y="3057525"/>
            <a:ext cx="190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6"/>
          <p:cNvSpPr txBox="1"/>
          <p:nvPr/>
        </p:nvSpPr>
        <p:spPr>
          <a:xfrm>
            <a:off x="6724650" y="3857625"/>
            <a:ext cx="190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6"/>
          <p:cNvSpPr txBox="1"/>
          <p:nvPr/>
        </p:nvSpPr>
        <p:spPr>
          <a:xfrm>
            <a:off x="476250" y="476250"/>
            <a:ext cx="117159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1" i="0" lang="en-US" sz="3375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Sintaxis en Dos Dimensiones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088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1" name="Google Shape;29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00" y="2095500"/>
            <a:ext cx="7620000" cy="762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2" name="Google Shape;292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250" y="1390650"/>
            <a:ext cx="5476875" cy="4505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3" name="Google Shape;293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1390650"/>
            <a:ext cx="5476875" cy="4505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4" name="Google Shape;294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81050" y="169545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7"/>
          <p:cNvSpPr txBox="1"/>
          <p:nvPr/>
        </p:nvSpPr>
        <p:spPr>
          <a:xfrm>
            <a:off x="781050" y="2647950"/>
            <a:ext cx="305038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Ciclos for Anidados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7"/>
          <p:cNvSpPr txBox="1"/>
          <p:nvPr/>
        </p:nvSpPr>
        <p:spPr>
          <a:xfrm>
            <a:off x="781050" y="3171825"/>
            <a:ext cx="48672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El ciclo externo controla las filas y el ciclo interno recorre las columnas de esa fila específica.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7"/>
          <p:cNvSpPr txBox="1"/>
          <p:nvPr/>
        </p:nvSpPr>
        <p:spPr>
          <a:xfrm>
            <a:off x="781050" y="3924300"/>
            <a:ext cx="398145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for(int f=0; f &lt; m.length; f++) {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  for(int c=0; c &lt; m[0].length; c++) {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    print(m[f][c]);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  }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98" name="Google Shape;298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43675" y="169545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7"/>
          <p:cNvSpPr txBox="1"/>
          <p:nvPr/>
        </p:nvSpPr>
        <p:spPr>
          <a:xfrm>
            <a:off x="6543675" y="2647950"/>
            <a:ext cx="241030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For-Each Anidado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7"/>
          <p:cNvSpPr txBox="1"/>
          <p:nvPr/>
        </p:nvSpPr>
        <p:spPr>
          <a:xfrm>
            <a:off x="6543675" y="3171825"/>
            <a:ext cx="48672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El primer ciclo extrae un vector (una fila completa). El segundo extrae el elemento de ese vector.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27"/>
          <p:cNvSpPr txBox="1"/>
          <p:nvPr/>
        </p:nvSpPr>
        <p:spPr>
          <a:xfrm>
            <a:off x="6543675" y="3924300"/>
            <a:ext cx="29337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for(int[] fila : matriz) {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  for(int elemento : fila) {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    print(elemento);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  }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02" name="Google Shape;302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71550" y="188595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3" name="Google Shape;303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10362" y="18859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7"/>
          <p:cNvSpPr txBox="1"/>
          <p:nvPr/>
        </p:nvSpPr>
        <p:spPr>
          <a:xfrm>
            <a:off x="476250" y="476250"/>
            <a:ext cx="117159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1" i="0" lang="en-US" sz="3375" u="none" cap="none" strike="noStrik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Mapeando la Matriz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9" name="Google Shape;3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6250" y="1390650"/>
            <a:ext cx="5381625" cy="4991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1390650"/>
            <a:ext cx="5381625" cy="4991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28"/>
          <p:cNvSpPr txBox="1"/>
          <p:nvPr/>
        </p:nvSpPr>
        <p:spPr>
          <a:xfrm>
            <a:off x="866775" y="1781175"/>
            <a:ext cx="4830603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Sumas Independientes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28"/>
          <p:cNvSpPr txBox="1"/>
          <p:nvPr/>
        </p:nvSpPr>
        <p:spPr>
          <a:xfrm>
            <a:off x="866775" y="2305050"/>
            <a:ext cx="46005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Suma por Filas: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Acumular los datos horizontalmente (ej. total de ventas de un solo vendedor en todos los meses).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28"/>
          <p:cNvSpPr txBox="1"/>
          <p:nvPr/>
        </p:nvSpPr>
        <p:spPr>
          <a:xfrm>
            <a:off x="866775" y="3362325"/>
            <a:ext cx="46005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Suma por Columnas: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Acumular los datos verticalmente (ej. total vendido por todos los vendedores en un mes específico).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28"/>
          <p:cNvSpPr txBox="1"/>
          <p:nvPr/>
        </p:nvSpPr>
        <p:spPr>
          <a:xfrm>
            <a:off x="866775" y="4419600"/>
            <a:ext cx="46005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Requiere manipular qué variable de control del ciclo se mantiene estática mientras la otra avanza.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28"/>
          <p:cNvSpPr txBox="1"/>
          <p:nvPr/>
        </p:nvSpPr>
        <p:spPr>
          <a:xfrm>
            <a:off x="6724650" y="1781175"/>
            <a:ext cx="4830603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Matrices Cuadradas y Diagonales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28"/>
          <p:cNvSpPr txBox="1"/>
          <p:nvPr/>
        </p:nvSpPr>
        <p:spPr>
          <a:xfrm>
            <a:off x="6724650" y="2686050"/>
            <a:ext cx="46005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Matriz Cuadrada: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Aquella donde el número de filas es exactamente igual al número de columnas (ej. 3x3).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28"/>
          <p:cNvSpPr txBox="1"/>
          <p:nvPr/>
        </p:nvSpPr>
        <p:spPr>
          <a:xfrm>
            <a:off x="6724650" y="3743325"/>
            <a:ext cx="46005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Diagonal Principal:</a:t>
            </a:r>
            <a:r>
              <a:rPr b="0" i="0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 Es la línea de elementos que cruza desde [0][0] hasta la esquina inferior derecha.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28"/>
          <p:cNvSpPr txBox="1"/>
          <p:nvPr/>
        </p:nvSpPr>
        <p:spPr>
          <a:xfrm>
            <a:off x="6724650" y="4800600"/>
            <a:ext cx="46005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121212"/>
                </a:solidFill>
                <a:latin typeface="DM Sans"/>
                <a:ea typeface="DM Sans"/>
                <a:cs typeface="DM Sans"/>
                <a:sym typeface="DM Sans"/>
              </a:rPr>
              <a:t>Condición lógica clave: fila == columna.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8"/>
          <p:cNvSpPr txBox="1"/>
          <p:nvPr/>
        </p:nvSpPr>
        <p:spPr>
          <a:xfrm>
            <a:off x="476250" y="476250"/>
            <a:ext cx="117159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75"/>
              <a:buFont typeface="Arial"/>
              <a:buNone/>
            </a:pPr>
            <a:r>
              <a:rPr b="1" i="0" lang="en-US" sz="3375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Lógica Espacial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4" name="Google Shape;32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5" name="Google Shape;325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1711672"/>
            <a:ext cx="8572500" cy="3434506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29"/>
          <p:cNvSpPr txBox="1"/>
          <p:nvPr/>
        </p:nvSpPr>
        <p:spPr>
          <a:xfrm>
            <a:off x="2215514" y="3071824"/>
            <a:ext cx="7761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¿Preguntas o Dudas?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29"/>
          <p:cNvSpPr txBox="1"/>
          <p:nvPr/>
        </p:nvSpPr>
        <p:spPr>
          <a:xfrm>
            <a:off x="2400300" y="3681412"/>
            <a:ext cx="7391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