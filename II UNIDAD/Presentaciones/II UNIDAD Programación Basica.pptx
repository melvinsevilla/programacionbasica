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C00A77-F362-468E-A9E3-9AF67D82C2BC}">
  <a:tblStyle styleId="{32C00A77-F362-468E-A9E3-9AF67D82C2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7bbdad76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d7bbdad76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7bbdad76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7bbdad76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7bbdad76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d7bbdad76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7bbdad76_7_0)">
  <p:cSld name="Generated (g3ed7bbdad76_7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0975" y="2874900"/>
            <a:ext cx="11030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Unidad II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Paradigma de la Programación Orientada a Objetos, Clases, Objetos, Atributos, Herencia, Polimorfismo, Métodos públicos y privado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09651" y="894100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Básica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795512" y="5040512"/>
            <a:ext cx="8601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M.Sc Melvin David Sevilla Medina</a:t>
            </a:r>
            <a:b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35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Basado en: </a:t>
            </a:r>
            <a:r>
              <a:rPr lang="en-US" sz="1350" b="0" i="1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Cómo Programar en Java</a:t>
            </a:r>
            <a:r>
              <a:rPr lang="en-US" sz="135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Deitel &amp; Deitel (7ma Ed.)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876300" y="3886200"/>
            <a:ext cx="47815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 centra en funciones y lógica secuencial. Los datos y las acciones están separados, lo que dificulta el mantenimiento en sistemas grandes.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534150" y="3886200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datos y la lógica se agrupan en "Objetos". Fomenta la modularidad, el aislamiento de errores y el modelado intuitivo.</a:t>
            </a:r>
            <a:endParaRPr/>
          </a:p>
        </p:txBody>
      </p:sp>
      <p:pic>
        <p:nvPicPr>
          <p:cNvPr id="98" name="Google Shape;9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71525" y="581025"/>
            <a:ext cx="113814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El Cambio de Paradigma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7630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53415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OO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 sz="3600" b="1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1" name="Google Shape;111;p16"/>
          <p:cNvGrpSpPr/>
          <p:nvPr/>
        </p:nvGrpSpPr>
        <p:grpSpPr>
          <a:xfrm>
            <a:off x="762000" y="2286000"/>
            <a:ext cx="4762500" cy="4000500"/>
            <a:chOff x="762000" y="2286000"/>
            <a:chExt cx="4762500" cy="4000500"/>
          </a:xfrm>
        </p:grpSpPr>
        <p:sp>
          <p:nvSpPr>
            <p:cNvPr id="112" name="Google Shape;112;p16"/>
            <p:cNvSpPr/>
            <p:nvPr/>
          </p:nvSpPr>
          <p:spPr>
            <a:xfrm>
              <a:off x="762000" y="2286000"/>
              <a:ext cx="4762500" cy="4000500"/>
            </a:xfrm>
            <a:prstGeom prst="roundRect">
              <a:avLst>
                <a:gd name="adj" fmla="val 380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10477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35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El Concepto: Receta de Cocina</a:t>
              </a:r>
              <a:endParaRPr sz="2035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14" name="Google Shape;114;p16" descr="A cinematic, high-quality photo of an open cookbook with a list of steps and separate ingredients on a kitchen counter. Clean and professional."/>
            <p:cNvPicPr preferRelativeResize="0"/>
            <p:nvPr/>
          </p:nvPicPr>
          <p:blipFill rotWithShape="1">
            <a:blip r:embed="rId5">
              <a:alphaModFix/>
            </a:blip>
            <a:srcRect t="1515" r="9091" b="-2525"/>
            <a:stretch/>
          </p:blipFill>
          <p:spPr>
            <a:xfrm>
              <a:off x="1047750" y="3048000"/>
              <a:ext cx="3810000" cy="2381400"/>
            </a:xfrm>
            <a:prstGeom prst="roundRect">
              <a:avLst>
                <a:gd name="adj" fmla="val 4800"/>
              </a:avLst>
            </a:prstGeom>
            <a:noFill/>
            <a:ln>
              <a:noFill/>
            </a:ln>
          </p:spPr>
        </p:pic>
        <p:sp>
          <p:nvSpPr>
            <p:cNvPr id="115" name="Google Shape;115;p16"/>
            <p:cNvSpPr txBox="1"/>
            <p:nvPr/>
          </p:nvSpPr>
          <p:spPr>
            <a:xfrm>
              <a:off x="10477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Como una receta: sigues pasos (funciones) para procesar ingredientes (datos) que están guardados por separado.</a:t>
              </a:r>
              <a:endParaRPr sz="119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6667500" y="2286000"/>
            <a:ext cx="4762500" cy="4000500"/>
            <a:chOff x="6667500" y="2286000"/>
            <a:chExt cx="4762500" cy="4000500"/>
          </a:xfrm>
        </p:grpSpPr>
        <p:sp>
          <p:nvSpPr>
            <p:cNvPr id="117" name="Google Shape;117;p16"/>
            <p:cNvSpPr/>
            <p:nvPr/>
          </p:nvSpPr>
          <p:spPr>
            <a:xfrm>
              <a:off x="6667500" y="2286000"/>
              <a:ext cx="4762500" cy="4000500"/>
            </a:xfrm>
            <a:prstGeom prst="roundRect">
              <a:avLst>
                <a:gd name="adj" fmla="val 380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69532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35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En la Práctica: Línea de Ensamblaje</a:t>
              </a:r>
              <a:endParaRPr sz="2035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19" name="Google Shape;119;p16" descr="A conceptual vector illustration of a factory assembly line where parts move through separate stations. Modern tech aesthetic, dark blue and cyan tones."/>
            <p:cNvPicPr preferRelativeResize="0"/>
            <p:nvPr/>
          </p:nvPicPr>
          <p:blipFill rotWithShape="1">
            <a:blip r:embed="rId6">
              <a:alphaModFix/>
            </a:blip>
            <a:srcRect t="1515" r="9091" b="-2525"/>
            <a:stretch/>
          </p:blipFill>
          <p:spPr>
            <a:xfrm>
              <a:off x="6953250" y="3048000"/>
              <a:ext cx="3810000" cy="2381400"/>
            </a:xfrm>
            <a:prstGeom prst="roundRect">
              <a:avLst>
                <a:gd name="adj" fmla="val 4800"/>
              </a:avLst>
            </a:prstGeom>
            <a:noFill/>
            <a:ln>
              <a:noFill/>
            </a:ln>
          </p:spPr>
        </p:pic>
        <p:sp>
          <p:nvSpPr>
            <p:cNvPr id="120" name="Google Shape;120;p16"/>
            <p:cNvSpPr txBox="1"/>
            <p:nvPr/>
          </p:nvSpPr>
          <p:spPr>
            <a:xfrm>
              <a:off x="69532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El programa es una serie de estaciones. Si cambias una pieza al inicio, debes revisar manualmente cada estación siguiente.</a:t>
              </a:r>
              <a:endParaRPr sz="119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POO en Acción: El Sistema Bancario</a:t>
            </a:r>
            <a:endParaRPr sz="3600" b="1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581025" y="1524000"/>
            <a:ext cx="3619500" cy="4572000"/>
            <a:chOff x="0" y="0"/>
            <a:chExt cx="3619500" cy="4572000"/>
          </a:xfrm>
        </p:grpSpPr>
        <p:sp>
          <p:nvSpPr>
            <p:cNvPr id="128" name="Google Shape;128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Molde)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30" name="Google Shape;130;p17" descr="A high-tech digital blueprint of a bank account icon with floating data fields like 'balance' and 'owner'. Cyberpunk blue aesthetic."/>
            <p:cNvPicPr preferRelativeResize="0"/>
            <p:nvPr/>
          </p:nvPicPr>
          <p:blipFill rotWithShape="1">
            <a:blip r:embed="rId4">
              <a:alphaModFix/>
            </a:blip>
            <a:srcRect l="2187" r="-3432" b="-20005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  <p:sp>
          <p:nvSpPr>
            <p:cNvPr id="131" name="Google Shape;131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Imagina que diseñamos una </a:t>
              </a:r>
              <a:r>
                <a:rPr lang="en-US" sz="1300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Clase CuentaBancaria</a:t>
              </a: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plano que define qué datos (Atributos) y qué acciones (Métodos) tendrán todas las cuentas del banco.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2" name="Google Shape;132;p17"/>
          <p:cNvGrpSpPr/>
          <p:nvPr/>
        </p:nvGrpSpPr>
        <p:grpSpPr>
          <a:xfrm>
            <a:off x="4391025" y="1524000"/>
            <a:ext cx="3619500" cy="4572000"/>
            <a:chOff x="0" y="0"/>
            <a:chExt cx="3619500" cy="4572000"/>
          </a:xfrm>
        </p:grpSpPr>
        <p:sp>
          <p:nvSpPr>
            <p:cNvPr id="133" name="Google Shape;133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(Instancia)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35" name="Google Shape;135;p17" descr="A realistic 3D render of a personalized credit card floating in front of a smartphone screen showing a balance of $1,500. Elegant lighting."/>
            <p:cNvPicPr preferRelativeResize="0"/>
            <p:nvPr/>
          </p:nvPicPr>
          <p:blipFill rotWithShape="1">
            <a:blip r:embed="rId5">
              <a:alphaModFix/>
            </a:blip>
            <a:srcRect l="2187" r="-3432" b="-20005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  <p:sp>
          <p:nvSpPr>
            <p:cNvPr id="136" name="Google Shape;136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Cuando un cliente abre una cuenta, creamos un </a:t>
              </a:r>
              <a:r>
                <a:rPr lang="en-US" sz="1300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Objeto</a:t>
              </a: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real.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Ahora tiene valores específicos: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Titular: "Wendy Valle"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Saldo: 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1300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1,500.00</a:t>
              </a:r>
              <a:endParaRPr sz="1300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8201025" y="1524000"/>
            <a:ext cx="3410100" cy="4572000"/>
            <a:chOff x="0" y="0"/>
            <a:chExt cx="3410100" cy="4572000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3410100" cy="4572000"/>
            </a:xfrm>
            <a:prstGeom prst="roundRect">
              <a:avLst>
                <a:gd name="adj" fmla="val 446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Implementación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40" name="Google Shape;140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0500" y="666750"/>
              <a:ext cx="3029100" cy="36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 txBox="1"/>
            <p:nvPr/>
          </p:nvSpPr>
          <p:spPr>
            <a:xfrm>
              <a:off x="333375" y="8096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Definir la Clase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double saldo;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void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depositar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(double m)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saldo += m;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el Objeto (Instanciar)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miCta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Cuenta();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miCta.depositar(500);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2" name="Google Shape;142;p17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Caso Real: Gestión de Saldo Bancario en Java</a:t>
            </a:r>
            <a:endParaRPr sz="1000" b="1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Jerarquía POO: La Superclase Animal</a:t>
            </a:r>
            <a:endParaRPr sz="3600" b="1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0" name="Google Shape;150;p18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51" name="Google Shape;151;p18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Superclase (General)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53" name="Google Shape;153;p18" descr="A high-tech digital schematic of a generic animal silhouette, glowing cyan outlines on a dark blueprint background."/>
            <p:cNvPicPr preferRelativeResize="0"/>
            <p:nvPr/>
          </p:nvPicPr>
          <p:blipFill rotWithShape="1">
            <a:blip r:embed="rId4">
              <a:alphaModFix/>
            </a:blip>
            <a:srcRect t="612" b="622"/>
            <a:stretch/>
          </p:blipFill>
          <p:spPr>
            <a:xfrm>
              <a:off x="676275" y="2190750"/>
              <a:ext cx="3429000" cy="1905000"/>
            </a:xfrm>
            <a:prstGeom prst="roundRect">
              <a:avLst>
                <a:gd name="adj" fmla="val 6000"/>
              </a:avLst>
            </a:prstGeom>
            <a:noFill/>
            <a:ln>
              <a:noFill/>
            </a:ln>
          </p:spPr>
        </p:pic>
        <p:sp>
          <p:nvSpPr>
            <p:cNvPr id="154" name="Google Shape;154;p18"/>
            <p:cNvSpPr txBox="1"/>
            <p:nvPr/>
          </p:nvSpPr>
          <p:spPr>
            <a:xfrm>
              <a:off x="77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lang="en-US" sz="1203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Superclase Animal</a:t>
              </a: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define rasgos comunes.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Atributos generales: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Especie, Color, Edad.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Métodos (Acciones):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Comer(), Dormir().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56" name="Google Shape;156;p18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Subclases (Específicas)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58" name="Google Shape;158;p18" descr="Three distinct icons: a playful dog, a sleek cat, and a small bird, in a modern vector style with neon cyan accents."/>
            <p:cNvPicPr preferRelativeResize="0"/>
            <p:nvPr/>
          </p:nvPicPr>
          <p:blipFill rotWithShape="1">
            <a:blip r:embed="rId5">
              <a:alphaModFix/>
            </a:blip>
            <a:srcRect t="612" b="622"/>
            <a:stretch/>
          </p:blipFill>
          <p:spPr>
            <a:xfrm>
              <a:off x="4486275" y="2190750"/>
              <a:ext cx="3429000" cy="1905000"/>
            </a:xfrm>
            <a:prstGeom prst="roundRect">
              <a:avLst>
                <a:gd name="adj" fmla="val 6000"/>
              </a:avLst>
            </a:prstGeom>
            <a:noFill/>
            <a:ln>
              <a:noFill/>
            </a:ln>
          </p:spPr>
        </p:pic>
        <p:sp>
          <p:nvSpPr>
            <p:cNvPr id="159" name="Google Shape;159;p18"/>
            <p:cNvSpPr txBox="1"/>
            <p:nvPr/>
          </p:nvSpPr>
          <p:spPr>
            <a:xfrm>
              <a:off x="458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Heredan de Animal, pero añaden su propio "sabor".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lang="en-US" sz="1203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Perro</a:t>
              </a: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Atributo: Raza.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Ladrar().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lang="en-US" sz="1203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Gato</a:t>
              </a: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 b="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Maullar().</a:t>
              </a:r>
              <a:endParaRPr sz="1203" b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0" name="Google Shape;160;p18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61" name="Google Shape;161;p18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name="adj" fmla="val 446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Objetos en Memoria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name="adj" fmla="val 2515"/>
              </a:avLst>
            </a:prstGeom>
            <a:solidFill>
              <a:srgbClr val="0F172A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Instancias reales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miPerro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Perro();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"Café"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miPerro.comer();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Heredado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miGato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Gato();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"Blanco"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miGato.maullar();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Propio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65" name="Google Shape;165;p18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Concepto: Herencia y Especialización en Java</a:t>
            </a:r>
            <a:endParaRPr sz="100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Clases vs. Objetos</a:t>
            </a:r>
            <a:endParaRPr sz="3600" b="1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76" name="Google Shape;176;p19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Plano)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78" name="Google Shape;178;p19" descr="A sleek, neon cyan architectural blueprint of a modern house on a dark background, digital aesthetic."/>
            <p:cNvPicPr preferRelativeResize="0"/>
            <p:nvPr/>
          </p:nvPicPr>
          <p:blipFill rotWithShape="1">
            <a:blip r:embed="rId5">
              <a:alphaModFix/>
            </a:blip>
            <a:srcRect l="2190" r="2190"/>
            <a:stretch/>
          </p:blipFill>
          <p:spPr>
            <a:xfrm>
              <a:off x="771525" y="2190750"/>
              <a:ext cx="3238500" cy="1905000"/>
            </a:xfrm>
            <a:prstGeom prst="roundRect">
              <a:avLst>
                <a:gd name="adj" fmla="val 6000"/>
              </a:avLst>
            </a:prstGeom>
            <a:noFill/>
            <a:ln>
              <a:noFill/>
            </a:ln>
          </p:spPr>
        </p:pic>
        <p:sp>
          <p:nvSpPr>
            <p:cNvPr id="179" name="Google Shape;179;p19"/>
            <p:cNvSpPr txBox="1"/>
            <p:nvPr/>
          </p:nvSpPr>
          <p:spPr>
            <a:xfrm>
              <a:off x="771525" y="4286250"/>
              <a:ext cx="3238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</a:t>
              </a:r>
              <a:r>
                <a:rPr lang="en-US" sz="1300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molde o plantilla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Define cómo será el objeto pero no es "real" todavía. Ejemplo: El plano detallado de una casa.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0" name="Google Shape;180;p19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81" name="Google Shape;181;p19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name="adj" fmla="val 421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(La Casa)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83" name="Google Shape;183;p19" descr="A modern, high-tech smart home exterior with warm lighting at night, realistic 3D render."/>
            <p:cNvPicPr preferRelativeResize="0"/>
            <p:nvPr/>
          </p:nvPicPr>
          <p:blipFill rotWithShape="1">
            <a:blip r:embed="rId6">
              <a:alphaModFix/>
            </a:blip>
            <a:srcRect l="2190" r="2190"/>
            <a:stretch/>
          </p:blipFill>
          <p:spPr>
            <a:xfrm>
              <a:off x="4581525" y="2190750"/>
              <a:ext cx="3238500" cy="1905000"/>
            </a:xfrm>
            <a:prstGeom prst="roundRect">
              <a:avLst>
                <a:gd name="adj" fmla="val 6000"/>
              </a:avLst>
            </a:prstGeom>
            <a:noFill/>
            <a:ln>
              <a:noFill/>
            </a:ln>
          </p:spPr>
        </p:pic>
        <p:sp>
          <p:nvSpPr>
            <p:cNvPr id="184" name="Google Shape;184;p19"/>
            <p:cNvSpPr txBox="1"/>
            <p:nvPr/>
          </p:nvSpPr>
          <p:spPr>
            <a:xfrm>
              <a:off x="4581525" y="4286250"/>
              <a:ext cx="3238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la </a:t>
              </a:r>
              <a:r>
                <a:rPr lang="en-US" sz="1300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instancia real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algo concreto que ocupa espacio en memoria. Ejemplo: La casa física construida en la calle Principal.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86" name="Google Shape;186;p19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name="adj" fmla="val 4469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Instanciación</a:t>
              </a:r>
              <a:endParaRPr sz="2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name="adj" fmla="val 2515"/>
              </a:avLst>
            </a:prstGeom>
            <a:solidFill>
              <a:srgbClr val="0F172A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El proceso de crear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un objeto nuevo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miCasa =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Casa();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Al usar </a:t>
              </a:r>
              <a:r>
                <a:rPr lang="en-US" sz="1100" b="1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new</a:t>
              </a: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, el plano se convierte en realidad.</a:t>
              </a:r>
              <a:endParaRPr sz="11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0" name="Google Shape;190;p19"/>
          <p:cNvSpPr/>
          <p:nvPr/>
        </p:nvSpPr>
        <p:spPr>
          <a:xfrm>
            <a:off x="581025" y="6286500"/>
            <a:ext cx="4000500" cy="3810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 w="952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6286500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Ejercicio: Si la clase es "Celular", ¿cuáles son sus objetos?</a:t>
            </a:r>
            <a:endParaRPr sz="100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20"/>
          <p:cNvGrpSpPr/>
          <p:nvPr/>
        </p:nvGrpSpPr>
        <p:grpSpPr>
          <a:xfrm>
            <a:off x="6477000" y="1905000"/>
            <a:ext cx="4572000" cy="3048000"/>
            <a:chOff x="6477000" y="1905000"/>
            <a:chExt cx="4572000" cy="3048000"/>
          </a:xfrm>
        </p:grpSpPr>
        <p:pic>
          <p:nvPicPr>
            <p:cNvPr id="198" name="Google Shape;198;p20" descr="A clean, professional 3D isometric illustration of a UML Class Diagram showing an object with various attributes. The style should be modern and technical, using a color palette of deep blues and cyan neon accents on a dark background to match a high-tech software development theme."/>
            <p:cNvPicPr preferRelativeResize="0"/>
            <p:nvPr/>
          </p:nvPicPr>
          <p:blipFill rotWithShape="1">
            <a:blip r:embed="rId4">
              <a:alphaModFix/>
            </a:blip>
            <a:srcRect t="16667" b="16667"/>
            <a:stretch/>
          </p:blipFill>
          <p:spPr>
            <a:xfrm>
              <a:off x="6477000" y="1905000"/>
              <a:ext cx="4572000" cy="30480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  <p:sp>
          <p:nvSpPr>
            <p:cNvPr id="199" name="Google Shape;199;p20"/>
            <p:cNvSpPr/>
            <p:nvPr/>
          </p:nvSpPr>
          <p:spPr>
            <a:xfrm>
              <a:off x="6477000" y="1905000"/>
              <a:ext cx="4572000" cy="3048000"/>
            </a:xfrm>
            <a:prstGeom prst="roundRect">
              <a:avLst>
                <a:gd name="adj" fmla="val 5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52875"/>
            <a:ext cx="52768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81025" y="2009775"/>
            <a:ext cx="5277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atributos definen las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r>
              <a:rPr lang="en-US" sz="165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o el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n-US" sz="165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de un objeto en un momento dado.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04875" y="27527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27527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Representan variables de instancia.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04875" y="30575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62025" y="30575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Cada objeto tiene su propia copia de estos valores.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04875" y="33623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62025" y="33623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Ejemplo: Un objeto CuentaBancaria tiene un atributo saldo.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Atributos: El Estado del Objeto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76500"/>
            <a:ext cx="34861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76300" y="3886200"/>
            <a:ext cx="28956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Oculta datos sensibles. Solo la propia clase puede acceder. Protege la integridad del objeto.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648200" y="3886200"/>
            <a:ext cx="2895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Define la interfaz del objeto. Métodos que otros pueden llamar para realizar tareas.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420100" y="3886200"/>
            <a:ext cx="28956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comportamiento</a:t>
            </a:r>
            <a:r>
              <a:rPr lang="en-US" sz="12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. Acciones que el objeto sabe realizar al recibir un mensaje.</a:t>
            </a:r>
            <a:endParaRPr/>
          </a:p>
        </p:txBody>
      </p:sp>
      <p:pic>
        <p:nvPicPr>
          <p:cNvPr id="221" name="Google Shape;22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194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Privacidad y Métodos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8763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Private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482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Public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420100" y="34575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DM Sans</vt:lpstr>
      <vt:lpstr>Urbanist</vt:lpstr>
      <vt:lpstr>Consolas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melvin sevilla</cp:lastModifiedBy>
  <cp:revision>1</cp:revision>
  <dcterms:modified xsi:type="dcterms:W3CDTF">2026-06-15T03:41:05Z</dcterms:modified>
</cp:coreProperties>
</file>