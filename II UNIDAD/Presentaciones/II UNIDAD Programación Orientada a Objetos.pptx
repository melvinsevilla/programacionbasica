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Urbanist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4A255F-46E0-4943-A409-5629DD37D16B}">
  <a:tblStyle styleId="{8A4A255F-46E0-4943-A409-5629DD37D1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7bbdad76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7bbdad7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d7bbdad76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d7bbdad7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d7bbdad76_0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d7bbdad76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1bc62e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c1bc62e1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d7bbdad76_7_0)">
  <p:cSld name="Generated (g3ed7bbdad76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8.jpg"/><Relationship Id="rId6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8.jpg"/><Relationship Id="rId5" Type="http://schemas.openxmlformats.org/officeDocument/2006/relationships/image" Target="../media/image22.jp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0.jpg"/><Relationship Id="rId5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31.jpg"/><Relationship Id="rId6" Type="http://schemas.openxmlformats.org/officeDocument/2006/relationships/image" Target="../media/image4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jp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2.png"/><Relationship Id="rId6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32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80975" y="2874900"/>
            <a:ext cx="1103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Unidad II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Paradigma de la Programación Orientada a Objetos, Clases, Objetos, Atributos, Herencia, Polimorfismo, Métodos públicos y privado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09651" y="894100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Programación Básica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1795512" y="5040512"/>
            <a:ext cx="860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M.Sc Melvin David Sevilla Medina</a:t>
            </a:r>
            <a:br>
              <a:rPr lang="en-US" sz="135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Basado en: </a:t>
            </a:r>
            <a:r>
              <a:rPr b="0" i="1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Cómo Programar en Java</a:t>
            </a: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 Deitel &amp; Deitel (7ma Ed.)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6500"/>
            <a:ext cx="53721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76500"/>
            <a:ext cx="53721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876300" y="3886200"/>
            <a:ext cx="4781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Se centra en funciones y lógica secuencial. Los datos y las acciones están separados, lo que dificulta el mantenimiento en sistemas grandes.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6534150" y="3886200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Los datos y la lógica se agrupan en "Objetos". Fomenta la modularidad, el aislamiento de errores y el modelado intuitivo.</a:t>
            </a:r>
            <a:endParaRPr/>
          </a:p>
        </p:txBody>
      </p:sp>
      <p:pic>
        <p:nvPicPr>
          <p:cNvPr descr="image.png" id="98" name="Google Shape;9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771525" y="581025"/>
            <a:ext cx="11381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El Cambio de Paradigma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76300" y="3457575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Programación Procedural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534150" y="3457575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Programación OO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24675" y="1250888"/>
            <a:ext cx="1103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Paradigma: es todo aquel modelo, 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patrón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o ejemplo que debe seguirse en determinada situación; 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teoría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o conjunto de 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teorías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que sirven de modelo a seguir para resolver un problema o situaciones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Programación Procedural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762000" y="2286000"/>
            <a:ext cx="4762500" cy="4000500"/>
            <a:chOff x="762000" y="2286000"/>
            <a:chExt cx="4762500" cy="4000500"/>
          </a:xfrm>
        </p:grpSpPr>
        <p:sp>
          <p:nvSpPr>
            <p:cNvPr id="113" name="Google Shape;113;p16"/>
            <p:cNvSpPr/>
            <p:nvPr/>
          </p:nvSpPr>
          <p:spPr>
            <a:xfrm>
              <a:off x="762000" y="2286000"/>
              <a:ext cx="47625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1047750" y="2571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35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El Concepto: Receta de Cocina</a:t>
              </a:r>
              <a:endParaRPr b="1" sz="203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cinematic, high-quality photo of an open cookbook with a list of steps and separate ingredients on a kitchen counter. Clean and professional." id="115" name="Google Shape;115;p16"/>
            <p:cNvPicPr preferRelativeResize="0"/>
            <p:nvPr/>
          </p:nvPicPr>
          <p:blipFill rotWithShape="1">
            <a:blip r:embed="rId5">
              <a:alphaModFix/>
            </a:blip>
            <a:srcRect b="-2525" l="0" r="9091" t="1515"/>
            <a:stretch/>
          </p:blipFill>
          <p:spPr>
            <a:xfrm>
              <a:off x="1047750" y="3048000"/>
              <a:ext cx="3810000" cy="23814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16" name="Google Shape;116;p16"/>
            <p:cNvSpPr txBox="1"/>
            <p:nvPr/>
          </p:nvSpPr>
          <p:spPr>
            <a:xfrm>
              <a:off x="1047750" y="552450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Como una receta: sigues pasos (funciones) para procesar ingredientes (datos) que están guardados por separado.</a:t>
              </a:r>
              <a:endParaRPr b="0" sz="119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6667500" y="2286000"/>
            <a:ext cx="4762500" cy="4000500"/>
            <a:chOff x="6667500" y="2286000"/>
            <a:chExt cx="4762500" cy="4000500"/>
          </a:xfrm>
        </p:grpSpPr>
        <p:sp>
          <p:nvSpPr>
            <p:cNvPr id="118" name="Google Shape;118;p16"/>
            <p:cNvSpPr/>
            <p:nvPr/>
          </p:nvSpPr>
          <p:spPr>
            <a:xfrm>
              <a:off x="6667500" y="2286000"/>
              <a:ext cx="47625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6953250" y="2571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35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En la Práctica: Línea de Ensamblaje</a:t>
              </a:r>
              <a:endParaRPr b="1" sz="203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conceptual vector illustration of a factory assembly line where parts move through separate stations. Modern tech aesthetic, dark blue and cyan tones." id="120" name="Google Shape;120;p16"/>
            <p:cNvPicPr preferRelativeResize="0"/>
            <p:nvPr/>
          </p:nvPicPr>
          <p:blipFill rotWithShape="1">
            <a:blip r:embed="rId6">
              <a:alphaModFix/>
            </a:blip>
            <a:srcRect b="-2525" l="0" r="9091" t="1515"/>
            <a:stretch/>
          </p:blipFill>
          <p:spPr>
            <a:xfrm>
              <a:off x="6953250" y="3048000"/>
              <a:ext cx="3810000" cy="23814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21" name="Google Shape;121;p16"/>
            <p:cNvSpPr txBox="1"/>
            <p:nvPr/>
          </p:nvSpPr>
          <p:spPr>
            <a:xfrm>
              <a:off x="6953250" y="552450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El programa es una serie de estaciones. Si cambias una pieza al inicio, debes revisar manualmente cada estación siguiente.</a:t>
              </a:r>
              <a:endParaRPr b="0" sz="119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POO en Acción: El Sistema Bancario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28" name="Google Shape;128;p17"/>
          <p:cNvGrpSpPr/>
          <p:nvPr/>
        </p:nvGrpSpPr>
        <p:grpSpPr>
          <a:xfrm>
            <a:off x="581025" y="1524000"/>
            <a:ext cx="3619500" cy="4572000"/>
            <a:chOff x="0" y="0"/>
            <a:chExt cx="3619500" cy="45720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90500" y="190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Clase (El Molde)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high-tech digital blueprint of a bank account icon with floating data fields like 'balance' and 'owner'. Cyberpunk blue aesthetic." id="131" name="Google Shape;131;p17"/>
            <p:cNvPicPr preferRelativeResize="0"/>
            <p:nvPr/>
          </p:nvPicPr>
          <p:blipFill rotWithShape="1">
            <a:blip r:embed="rId4">
              <a:alphaModFix/>
            </a:blip>
            <a:srcRect b="-20005" l="2187" r="-3432" t="0"/>
            <a:stretch/>
          </p:blipFill>
          <p:spPr>
            <a:xfrm>
              <a:off x="190500" y="66675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132" name="Google Shape;132;p17"/>
            <p:cNvSpPr txBox="1"/>
            <p:nvPr/>
          </p:nvSpPr>
          <p:spPr>
            <a:xfrm>
              <a:off x="190500" y="2762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Imagina que diseñamos una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Clase CuentaBancaria</a:t>
              </a: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el plano que define qué datos (Atributos) y qué acciones (Métodos) tendrán todas las cuentas del banco.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4391025" y="1524000"/>
            <a:ext cx="3619500" cy="4572000"/>
            <a:chOff x="0" y="0"/>
            <a:chExt cx="3619500" cy="45720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90500" y="190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El Objeto (Instancia)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realistic 3D render of a personalized credit card floating in front of a smartphone screen showing a balance of $1,500. Elegant lighting." id="136" name="Google Shape;136;p17"/>
            <p:cNvPicPr preferRelativeResize="0"/>
            <p:nvPr/>
          </p:nvPicPr>
          <p:blipFill rotWithShape="1">
            <a:blip r:embed="rId5">
              <a:alphaModFix/>
            </a:blip>
            <a:srcRect b="-20005" l="2187" r="-3432" t="0"/>
            <a:stretch/>
          </p:blipFill>
          <p:spPr>
            <a:xfrm>
              <a:off x="190500" y="66675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137" name="Google Shape;137;p17"/>
            <p:cNvSpPr txBox="1"/>
            <p:nvPr/>
          </p:nvSpPr>
          <p:spPr>
            <a:xfrm>
              <a:off x="190500" y="2762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Cuando un cliente abre una cuenta, creamos un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Objeto</a:t>
              </a: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real.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Ahora tiene valores específicos: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Titular: "Wendy Valle"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Saldo: 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1,500.00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8201025" y="1524000"/>
            <a:ext cx="3410100" cy="4572000"/>
            <a:chOff x="0" y="0"/>
            <a:chExt cx="3410100" cy="45720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Implementación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41" name="Google Shape;141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0500" y="666750"/>
              <a:ext cx="3029100" cy="36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7"/>
            <p:cNvSpPr txBox="1"/>
            <p:nvPr/>
          </p:nvSpPr>
          <p:spPr>
            <a:xfrm>
              <a:off x="333375" y="809625"/>
              <a:ext cx="2762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Definir la Clase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public class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Cuenta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double saldo;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void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depositar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(double m) {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saldo += m;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Crear el Objeto (Instanciar)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Cuenta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miCta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Cuenta();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miCta.depositar(500);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43" name="Google Shape;143;p17"/>
          <p:cNvSpPr/>
          <p:nvPr/>
        </p:nvSpPr>
        <p:spPr>
          <a:xfrm>
            <a:off x="581025" y="6286500"/>
            <a:ext cx="3810000" cy="381000"/>
          </a:xfrm>
          <a:prstGeom prst="roundRect">
            <a:avLst>
              <a:gd fmla="val 50000" name="adj"/>
            </a:avLst>
          </a:prstGeom>
          <a:solidFill>
            <a:srgbClr val="22D3EE">
              <a:alpha val="10000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62865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Caso Real: Gestión de Saldo Bancario en Java</a:t>
            </a:r>
            <a:endParaRPr b="1" sz="10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Jerarquía POO: La Superclase Animal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152" name="Google Shape;152;p18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Superclase (General)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high-tech digital schematic of a generic animal silhouette, glowing cyan outlines on a dark blueprint background." id="154" name="Google Shape;154;p18"/>
            <p:cNvPicPr preferRelativeResize="0"/>
            <p:nvPr/>
          </p:nvPicPr>
          <p:blipFill rotWithShape="1">
            <a:blip r:embed="rId4">
              <a:alphaModFix/>
            </a:blip>
            <a:srcRect b="622" l="0" r="0" t="612"/>
            <a:stretch/>
          </p:blipFill>
          <p:spPr>
            <a:xfrm>
              <a:off x="676275" y="2190750"/>
              <a:ext cx="34290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55" name="Google Shape;155;p18"/>
            <p:cNvSpPr txBox="1"/>
            <p:nvPr/>
          </p:nvSpPr>
          <p:spPr>
            <a:xfrm>
              <a:off x="771525" y="4286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lang="en-US" sz="1203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Superclase Animal</a:t>
              </a: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define rasgos comunes.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Atributos generales: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Especie, Color, Edad.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Métodos (Acciones):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Comer(), Dormir().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" name="Google Shape;156;p18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157" name="Google Shape;157;p18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Subclases (Específicas)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Three distinct icons: a playful dog, a sleek cat, and a small bird, in a modern vector style with neon cyan accents." id="159" name="Google Shape;159;p18"/>
            <p:cNvPicPr preferRelativeResize="0"/>
            <p:nvPr/>
          </p:nvPicPr>
          <p:blipFill rotWithShape="1">
            <a:blip r:embed="rId5">
              <a:alphaModFix/>
            </a:blip>
            <a:srcRect b="622" l="0" r="0" t="612"/>
            <a:stretch/>
          </p:blipFill>
          <p:spPr>
            <a:xfrm>
              <a:off x="4486275" y="2190750"/>
              <a:ext cx="34290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60" name="Google Shape;160;p18"/>
            <p:cNvSpPr txBox="1"/>
            <p:nvPr/>
          </p:nvSpPr>
          <p:spPr>
            <a:xfrm>
              <a:off x="4581525" y="4286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Heredan de Animal, pero añaden su propio "sabor".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Ejemplo </a:t>
              </a:r>
              <a:r>
                <a:rPr b="1" lang="en-US" sz="1203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Perro</a:t>
              </a: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Atributo: Raza.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Método: Ladrar().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Ejemplo </a:t>
              </a:r>
              <a:r>
                <a:rPr b="1" lang="en-US" sz="1203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Gato</a:t>
              </a: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Método: Maullar().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162" name="Google Shape;162;p18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Objetos en Memoria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fmla="val 2515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Instancias reales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Animal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miPerro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Perro();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miPerro.color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"Café"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miPerro.comer();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// Heredado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Animal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miGato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Gato();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miGato.color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"Blanco"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miGato.maullar();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// Propio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66" name="Google Shape;166;p18"/>
          <p:cNvSpPr/>
          <p:nvPr/>
        </p:nvSpPr>
        <p:spPr>
          <a:xfrm>
            <a:off x="581025" y="6286500"/>
            <a:ext cx="3810000" cy="381000"/>
          </a:xfrm>
          <a:prstGeom prst="roundRect">
            <a:avLst>
              <a:gd fmla="val 50000" name="adj"/>
            </a:avLst>
          </a:prstGeom>
          <a:solidFill>
            <a:srgbClr val="22D3EE">
              <a:alpha val="10000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62865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Concepto: Herencia y Especialización en Java</a:t>
            </a:r>
            <a:endParaRPr b="1" sz="10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Clases vs. Objetos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6" name="Google Shape;176;p19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177" name="Google Shape;177;p19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Clase (El Plano)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sleek, neon cyan architectural blueprint of a modern house on a dark background, digital aesthetic." id="179" name="Google Shape;179;p19"/>
            <p:cNvPicPr preferRelativeResize="0"/>
            <p:nvPr/>
          </p:nvPicPr>
          <p:blipFill rotWithShape="1">
            <a:blip r:embed="rId5">
              <a:alphaModFix/>
            </a:blip>
            <a:srcRect b="0" l="2190" r="2190" t="0"/>
            <a:stretch/>
          </p:blipFill>
          <p:spPr>
            <a:xfrm>
              <a:off x="771525" y="2190750"/>
              <a:ext cx="32385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80" name="Google Shape;180;p19"/>
            <p:cNvSpPr txBox="1"/>
            <p:nvPr/>
          </p:nvSpPr>
          <p:spPr>
            <a:xfrm>
              <a:off x="771525" y="4286250"/>
              <a:ext cx="3238500" cy="176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el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molde o plantilla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Define cómo será el objeto pero no es "real" todavía. Ejemplo: El plano detallado de una casa.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182" name="Google Shape;182;p19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El Objeto (La Casa)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modern, high-tech smart home exterior with warm lighting at night, realistic 3D render." id="184" name="Google Shape;184;p19"/>
            <p:cNvPicPr preferRelativeResize="0"/>
            <p:nvPr/>
          </p:nvPicPr>
          <p:blipFill rotWithShape="1">
            <a:blip r:embed="rId6">
              <a:alphaModFix/>
            </a:blip>
            <a:srcRect b="0" l="2190" r="2190" t="0"/>
            <a:stretch/>
          </p:blipFill>
          <p:spPr>
            <a:xfrm>
              <a:off x="4581525" y="2190750"/>
              <a:ext cx="32385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85" name="Google Shape;185;p19"/>
            <p:cNvSpPr txBox="1"/>
            <p:nvPr/>
          </p:nvSpPr>
          <p:spPr>
            <a:xfrm>
              <a:off x="4581525" y="4286250"/>
              <a:ext cx="3238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la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instancia real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algo concreto que ocupa espacio en memoria. Ejemplo: La casa física construida en la calle Principal.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6" name="Google Shape;186;p19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187" name="Google Shape;187;p19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Instanciación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fmla="val 2515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El proceso de crear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Casa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Crear un objeto nuevo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Casa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miCasa =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Casa();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Al usar </a:t>
              </a:r>
              <a:r>
                <a:rPr b="1" lang="en-US" sz="11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new</a:t>
              </a:r>
              <a:r>
                <a:rPr lang="en-US" sz="11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, el plano se convierte en realidad.</a:t>
              </a:r>
              <a:endParaRPr sz="11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1" name="Google Shape;191;p19"/>
          <p:cNvSpPr/>
          <p:nvPr/>
        </p:nvSpPr>
        <p:spPr>
          <a:xfrm>
            <a:off x="581025" y="6286500"/>
            <a:ext cx="4000500" cy="381000"/>
          </a:xfrm>
          <a:prstGeom prst="roundRect">
            <a:avLst>
              <a:gd fmla="val 50000" name="adj"/>
            </a:avLst>
          </a:prstGeom>
          <a:solidFill>
            <a:srgbClr val="22D3EE">
              <a:alpha val="10000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71525" y="6286500"/>
            <a:ext cx="381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Ejercicio: Si la clase es "Celular", ¿cuáles son sus objetos?</a:t>
            </a:r>
            <a:endParaRPr b="1" sz="10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Características</a:t>
            </a: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 de las </a:t>
            </a: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Clases 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202" name="Google Shape;202;p20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Molde o Plantilla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high-tech digital wireframe of a futuristic vehicle, glowing blue lines on a dark interface, representing a template or blueprint." id="204" name="Google Shape;204;p20"/>
            <p:cNvPicPr preferRelativeResize="0"/>
            <p:nvPr/>
          </p:nvPicPr>
          <p:blipFill rotWithShape="1">
            <a:blip r:embed="rId5">
              <a:alphaModFix/>
            </a:blip>
            <a:srcRect b="2946" l="0" r="0" t="2936"/>
            <a:stretch/>
          </p:blipFill>
          <p:spPr>
            <a:xfrm>
              <a:off x="771525" y="2190750"/>
              <a:ext cx="3238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05" name="Google Shape;205;p20"/>
            <p:cNvSpPr txBox="1"/>
            <p:nvPr/>
          </p:nvSpPr>
          <p:spPr>
            <a:xfrm>
              <a:off x="771525" y="409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una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plantilla o molde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que permite construir objetos.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Representan entidades de la vida real, agrupando código y datos.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La Clase: se basa en el concepto de agrupar código y datos juntos dentro de una misma unidad llamada clase. Representan entidades del mundo real</a:t>
              </a:r>
              <a:endParaRPr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207" name="Google Shape;207;p20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Componentes y Uso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Isometric 3D render of a stylized robot character being assembled, showing inner parts like gears (attributes) and movement paths (methods), neon accents." id="209" name="Google Shape;209;p20"/>
            <p:cNvPicPr preferRelativeResize="0"/>
            <p:nvPr/>
          </p:nvPicPr>
          <p:blipFill rotWithShape="1">
            <a:blip r:embed="rId6">
              <a:alphaModFix/>
            </a:blip>
            <a:srcRect b="2946" l="0" r="0" t="2936"/>
            <a:stretch/>
          </p:blipFill>
          <p:spPr>
            <a:xfrm>
              <a:off x="4581525" y="2190750"/>
              <a:ext cx="3238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4581525" y="409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Poseen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atributos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(estado) y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métodos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(comportamiento).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No se usan directamente; requieren la creación de </a:t>
              </a:r>
              <a:r>
                <a:rPr b="1" lang="en-US" sz="12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instancias u objetos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en memoria.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212" name="Google Shape;212;p20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Ejemplos Comunes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fmla="val 2515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Entidades del mundo real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Auto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Persona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Departamento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Factura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Producto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Cada clase define las propiedades únicas de estos objetos.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1"/>
          <p:cNvGrpSpPr/>
          <p:nvPr/>
        </p:nvGrpSpPr>
        <p:grpSpPr>
          <a:xfrm>
            <a:off x="6477000" y="1905000"/>
            <a:ext cx="4572000" cy="3048000"/>
            <a:chOff x="6477000" y="1905000"/>
            <a:chExt cx="4572000" cy="3048000"/>
          </a:xfrm>
        </p:grpSpPr>
        <p:pic>
          <p:nvPicPr>
            <p:cNvPr descr="A clean, professional 3D isometric illustration of a UML Class Diagram showing an object with various attributes. The style should be modern and technical, using a color palette of deep blues and cyan neon accents on a dark background to match a high-tech software development theme." id="222" name="Google Shape;222;p21"/>
            <p:cNvPicPr preferRelativeResize="0"/>
            <p:nvPr/>
          </p:nvPicPr>
          <p:blipFill rotWithShape="1">
            <a:blip r:embed="rId4">
              <a:alphaModFix/>
            </a:blip>
            <a:srcRect b="16667" l="0" r="0" t="16667"/>
            <a:stretch/>
          </p:blipFill>
          <p:spPr>
            <a:xfrm>
              <a:off x="6477000" y="1905000"/>
              <a:ext cx="4572000" cy="3048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223" name="Google Shape;223;p21"/>
            <p:cNvSpPr/>
            <p:nvPr/>
          </p:nvSpPr>
          <p:spPr>
            <a:xfrm>
              <a:off x="6477000" y="1905000"/>
              <a:ext cx="4572000" cy="3048000"/>
            </a:xfrm>
            <a:prstGeom prst="roundRect">
              <a:avLst>
                <a:gd fmla="val 5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52875"/>
            <a:ext cx="52768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2009775"/>
            <a:ext cx="527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Los atributos definen las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  <a:r>
              <a:rPr b="0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o el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b="0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de un objeto en un momento dado.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04875" y="27527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962025" y="27527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Representan variables de instancia.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904875" y="30575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62025" y="30575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Cada objeto tiene su propia copia de estos valores.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04875" y="33623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62025" y="33623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Ejemplo: Un objeto CuentaBancaria tiene un atributo saldo.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Atributos: El Estado del Objeto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6500"/>
            <a:ext cx="34861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76500"/>
            <a:ext cx="34861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76500"/>
            <a:ext cx="34861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876300" y="3886200"/>
            <a:ext cx="28956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Oculta datos sensibles. Solo la propia clase puede acceder. Protege la integridad del objeto.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4648200" y="3886200"/>
            <a:ext cx="2895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Define la interfaz del objeto. Métodos que otros pueden llamar para realizar tareas.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420100" y="3886200"/>
            <a:ext cx="28956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comportamiento</a:t>
            </a: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. Acciones que el objeto sabe realizar al recibir un mensaje.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194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8194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Privacidad y Métodos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876300" y="34575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Private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648200" y="34575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Public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420100" y="34575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Métodos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581025" y="2247900"/>
            <a:ext cx="4943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La herencia permite crear nuevas clases basadas en clases existentes, heredando sus atributos y comportamientos.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04875" y="295179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962025" y="2952750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Superclase: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La clase padre (general).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904875" y="322608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962025" y="3227040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Subclase: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La clase hija (especializada).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904875" y="350037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62025" y="3501330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Fomenta la mantenibilidad del software.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771525" y="771525"/>
            <a:ext cx="499062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Herencia: Reuso Maestro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81025" y="771525"/>
            <a:ext cx="57150" cy="1104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581025" y="1876425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¿Por qué reinventar la rueda?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33650"/>
            <a:ext cx="52768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33650"/>
            <a:ext cx="52768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962025" y="3324225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Una subclase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extiende</a:t>
            </a: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a una única superclase.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962025" y="3714750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Hereda todos los miembros public y protected.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962025" y="4105275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Puede añadir sus propios métodos y atributos.</a:t>
            </a:r>
            <a:endParaRPr/>
          </a:p>
        </p:txBody>
      </p:sp>
      <p:pic>
        <p:nvPicPr>
          <p:cNvPr descr="image.png" id="279" name="Google Shape;27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3432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733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12432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Implementando Herencia: 'extends'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962025" y="2914650"/>
            <a:ext cx="47405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Reglas de Oro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5924" y="1957387"/>
            <a:ext cx="397505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57387"/>
            <a:ext cx="67691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581025" y="4900612"/>
            <a:ext cx="67691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Capacidad de un objeto de tomar diferentes formas. Un solo método (ej. dibujar()) actúa diferente según el objeto (Círculo vs Cuadrado).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7931199" y="2681287"/>
            <a:ext cx="33845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Clave para el polimorfismo dinámico. La subclase redefine un método del padre para adaptarlo a su necesidad.</a:t>
            </a:r>
            <a:endParaRPr/>
          </a:p>
        </p:txBody>
      </p:sp>
      <p:pic>
        <p:nvPicPr>
          <p:cNvPr descr="image.png" id="294" name="Google Shape;29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966912"/>
            <a:ext cx="67500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Polimorfismo: Muchas Formas</a:t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581025" y="4529137"/>
            <a:ext cx="710760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Mismo Mensaje, Distinto Resultado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7931199" y="2252662"/>
            <a:ext cx="3553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Sobrescritura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4" name="Google Shape;304;p26"/>
          <p:cNvGraphicFramePr/>
          <p:nvPr/>
        </p:nvGraphicFramePr>
        <p:xfrm>
          <a:off x="581025" y="2224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{8A4A255F-46E0-4943-A409-5629DD37D16B}</a:tableStyleId>
              </a:tblPr>
              <a:tblGrid>
                <a:gridCol w="1959625"/>
                <a:gridCol w="3969700"/>
                <a:gridCol w="5100625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Concepto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Clase Concreta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Clase Abstracta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Instanciación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 pueden crear objetos con new.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</a:t>
                      </a: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se pueden crear objetos.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Métodos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Todos deben tener cuerpo { ... }.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Puede tener métodos abstract (sin cuerpo).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Propósito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Representar entidades finales.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Servir como base común para otras clases.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26"/>
          <p:cNvSpPr txBox="1"/>
          <p:nvPr/>
        </p:nvSpPr>
        <p:spPr>
          <a:xfrm>
            <a:off x="581025" y="5024437"/>
            <a:ext cx="11029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* Los métodos abstractos obligan a las subclases a dar una implementación real.</a:t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581025" y="3486150"/>
            <a:ext cx="1959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2540644" y="3486150"/>
            <a:ext cx="396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6510337" y="3486150"/>
            <a:ext cx="51006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81025" y="4105275"/>
            <a:ext cx="1959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2540644" y="4105275"/>
            <a:ext cx="396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6510337" y="4105275"/>
            <a:ext cx="51006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581025" y="4724400"/>
            <a:ext cx="1959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2540644" y="4724400"/>
            <a:ext cx="396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6510337" y="4724400"/>
            <a:ext cx="51006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Abstracción: Clases y Métodos</a:t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 txBox="1"/>
          <p:nvPr/>
        </p:nvSpPr>
        <p:spPr>
          <a:xfrm>
            <a:off x="581025" y="2147887"/>
            <a:ext cx="7620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2D3EE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581025" y="3186112"/>
            <a:ext cx="7620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2D3EE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581025" y="4224337"/>
            <a:ext cx="7620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2D3EE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1628775" y="2533650"/>
            <a:ext cx="68627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Define una clase abstracta Empleado con atributos nombre y id, y un método abstracto calcularSalario().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1628775" y="3571875"/>
            <a:ext cx="6977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Crea subclases EmpleadoTiempoCompleto y EmpleadoPorHora. Implementa el cálculo de salario para cada una.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1628775" y="4610100"/>
            <a:ext cx="86629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Crea una lista de Empleado y recorre la lista llamando a calcularSalario() para todos. Observa cómo cada uno responde distinto.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Taller: El Sistema de Empleados</a:t>
            </a:r>
            <a:endParaRPr/>
          </a:p>
        </p:txBody>
      </p:sp>
      <p:sp>
        <p:nvSpPr>
          <p:cNvPr id="329" name="Google Shape;329;p27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 txBox="1"/>
          <p:nvPr/>
        </p:nvSpPr>
        <p:spPr>
          <a:xfrm>
            <a:off x="1628775" y="2162175"/>
            <a:ext cx="720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Crea la Base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1628775" y="3200400"/>
            <a:ext cx="732591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Especializa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1628775" y="4238625"/>
            <a:ext cx="90961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Aplica Polimorfismo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86125"/>
            <a:ext cx="110299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8"/>
          <p:cNvSpPr txBox="1"/>
          <p:nvPr/>
        </p:nvSpPr>
        <p:spPr>
          <a:xfrm>
            <a:off x="581025" y="2514600"/>
            <a:ext cx="11029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El código es el lienzo, y los objetos son tus pinceles.</a:t>
            </a:r>
            <a:endParaRPr/>
          </a:p>
        </p:txBody>
      </p:sp>
      <p:pic>
        <p:nvPicPr>
          <p:cNvPr descr="image.png" id="340" name="Google Shape;34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7837" y="695325"/>
            <a:ext cx="10763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8"/>
          <p:cNvSpPr txBox="1"/>
          <p:nvPr/>
        </p:nvSpPr>
        <p:spPr>
          <a:xfrm>
            <a:off x="305276" y="2009775"/>
            <a:ext cx="115814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¿Preguntas o Desafíos?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/>
          <p:nvPr/>
        </p:nvSpPr>
        <p:spPr>
          <a:xfrm>
            <a:off x="581025" y="216693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581025" y="293846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581025" y="370998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581025" y="2928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581025" y="2928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581025" y="37004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581025" y="37004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581025" y="44719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581025" y="44719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6" name="Google Shape;35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98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9"/>
          <p:cNvSpPr txBox="1"/>
          <p:nvPr/>
        </p:nvSpPr>
        <p:spPr>
          <a:xfrm>
            <a:off x="1676400" y="2343150"/>
            <a:ext cx="9934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https://www.livehome3d.com/assets/img/articles/blueprint-makers/architectural-drawing@2x.png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1676400" y="2552700"/>
            <a:ext cx="9934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www.livehome3d.com</a:t>
            </a:r>
            <a:endParaRPr/>
          </a:p>
        </p:txBody>
      </p:sp>
      <p:pic>
        <p:nvPicPr>
          <p:cNvPr descr="image.png" id="359" name="Google Shape;35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0813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9"/>
          <p:cNvSpPr txBox="1"/>
          <p:nvPr/>
        </p:nvSpPr>
        <p:spPr>
          <a:xfrm>
            <a:off x="1676400" y="3114675"/>
            <a:ext cx="9934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https://cdn-proxy.slickplan.com/wp-content/uploads/2025/08/class-diagram-dependency-relationship.jpg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1676400" y="3324225"/>
            <a:ext cx="9934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slickplan.com</a:t>
            </a:r>
            <a:endParaRPr/>
          </a:p>
        </p:txBody>
      </p:sp>
      <p:pic>
        <p:nvPicPr>
          <p:cNvPr descr="image.png" id="362" name="Google Shape;36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52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9"/>
          <p:cNvSpPr txBox="1"/>
          <p:nvPr/>
        </p:nvSpPr>
        <p:spPr>
          <a:xfrm>
            <a:off x="1676400" y="3886200"/>
            <a:ext cx="9934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https://www.smartdraw.com/organizational-chart/img/orgchart-with-faces.png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1676400" y="4095750"/>
            <a:ext cx="9934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www.smartdraw.com</a:t>
            </a:r>
            <a:endParaRPr/>
          </a:p>
        </p:txBody>
      </p:sp>
      <p:pic>
        <p:nvPicPr>
          <p:cNvPr descr="image.png" id="365" name="Google Shape;36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624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9"/>
          <p:cNvSpPr txBox="1"/>
          <p:nvPr/>
        </p:nvSpPr>
        <p:spPr>
          <a:xfrm>
            <a:off x="1676400" y="4657725"/>
            <a:ext cx="9934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https://img.freepik.com/premium-vector/colorful-geometric-background-vibrant-abstract-patterns-modern-design-projects_1275766-1481.jpg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1676400" y="4867275"/>
            <a:ext cx="9934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www.magnific.com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