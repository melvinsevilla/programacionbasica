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Consolas" panose="020B0609020204030204" pitchFamily="49" charset="0"/>
      <p:regular r:id="rId12"/>
      <p:bold r:id="rId13"/>
      <p:italic r:id="rId14"/>
      <p:boldItalic r:id="rId15"/>
    </p:embeddedFont>
    <p:embeddedFont>
      <p:font typeface="DM Sans" pitchFamily="2" charset="0"/>
      <p:regular r:id="rId16"/>
      <p:bold r:id="rId17"/>
      <p:italic r:id="rId18"/>
      <p:boldItalic r:id="rId19"/>
    </p:embeddedFont>
    <p:embeddedFont>
      <p:font typeface="Urbanist" panose="020B060402020202020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A4A255F-46E0-4943-A409-5629DD37D16B}">
  <a:tblStyle styleId="{8A4A255F-46E0-4943-A409-5629DD37D16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7bbdad76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7bbdad76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ed7bbdad76_0_3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ed7bbdad76_0_3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ed7bbdad76_0_5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ed7bbdad76_0_5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ec1bc62e13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g3ec1bc62e13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d7bbdad76_7_0)">
  <p:cSld name="Generated (g3ed7bbdad76_7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jpg"/><Relationship Id="rId5" Type="http://schemas.openxmlformats.org/officeDocument/2006/relationships/image" Target="../media/image15.jp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jpg"/><Relationship Id="rId5" Type="http://schemas.openxmlformats.org/officeDocument/2006/relationships/image" Target="../media/image17.jp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 txBox="1"/>
          <p:nvPr/>
        </p:nvSpPr>
        <p:spPr>
          <a:xfrm>
            <a:off x="580975" y="2874900"/>
            <a:ext cx="110301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Unidad II</a:t>
            </a:r>
            <a:r>
              <a:rPr lang="en-US" sz="180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: </a:t>
            </a:r>
            <a:endParaRPr sz="180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Paradigma de la Programación Orientada a Objetos, Clases, Objetos, Atributos, Herencia, Polimorfismo, Métodos públicos y privado</a:t>
            </a:r>
            <a:endParaRPr sz="180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7" name="Google Shape;87;p14"/>
          <p:cNvSpPr txBox="1"/>
          <p:nvPr/>
        </p:nvSpPr>
        <p:spPr>
          <a:xfrm>
            <a:off x="409651" y="894100"/>
            <a:ext cx="115815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Programación Básica</a:t>
            </a:r>
            <a:endParaRPr/>
          </a:p>
        </p:txBody>
      </p:sp>
      <p:sp>
        <p:nvSpPr>
          <p:cNvPr id="88" name="Google Shape;88;p14"/>
          <p:cNvSpPr txBox="1"/>
          <p:nvPr/>
        </p:nvSpPr>
        <p:spPr>
          <a:xfrm>
            <a:off x="1795512" y="5040512"/>
            <a:ext cx="86010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  <a:t>M.Sc Melvin David Sevilla Medina</a:t>
            </a:r>
            <a:br>
              <a:rPr lang="en-US" sz="135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-US" sz="1350" b="0" i="0" u="none" strike="noStrike" cap="none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  <a:t>Basado en: </a:t>
            </a:r>
            <a:r>
              <a:rPr lang="en-US" sz="1350" b="0" i="1" u="none" strike="noStrike" cap="none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  <a:t>Cómo Programar en Java</a:t>
            </a:r>
            <a:r>
              <a:rPr lang="en-US" sz="1350" b="0" i="0" u="none" strike="noStrike" cap="none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  <a:t>, Deitel &amp; Deitel (7ma Ed.)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76500"/>
            <a:ext cx="5372100" cy="245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476500"/>
            <a:ext cx="5372100" cy="24574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5"/>
          <p:cNvSpPr txBox="1"/>
          <p:nvPr/>
        </p:nvSpPr>
        <p:spPr>
          <a:xfrm>
            <a:off x="876300" y="3886200"/>
            <a:ext cx="478155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Se centra en funciones y lógica secuencial. Los datos y las acciones están separados, lo que dificulta el mantenimiento en sistemas grandes.</a:t>
            </a:r>
            <a:endParaRPr/>
          </a:p>
        </p:txBody>
      </p:sp>
      <p:sp>
        <p:nvSpPr>
          <p:cNvPr id="97" name="Google Shape;97;p15"/>
          <p:cNvSpPr txBox="1"/>
          <p:nvPr/>
        </p:nvSpPr>
        <p:spPr>
          <a:xfrm>
            <a:off x="6534150" y="3886200"/>
            <a:ext cx="47815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Los datos y la lógica se agrupan en "Objetos". Fomenta la modularidad, el aislamiento de errores y el modelado intuitivo.</a:t>
            </a:r>
            <a:endParaRPr/>
          </a:p>
        </p:txBody>
      </p:sp>
      <p:pic>
        <p:nvPicPr>
          <p:cNvPr id="98" name="Google Shape;98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76300" y="281940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34150" y="281940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5"/>
          <p:cNvSpPr txBox="1"/>
          <p:nvPr/>
        </p:nvSpPr>
        <p:spPr>
          <a:xfrm>
            <a:off x="771525" y="581025"/>
            <a:ext cx="11381400" cy="5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El Cambio de Paradigma</a:t>
            </a:r>
            <a:endParaRPr/>
          </a:p>
        </p:txBody>
      </p:sp>
      <p:sp>
        <p:nvSpPr>
          <p:cNvPr id="101" name="Google Shape;101;p15"/>
          <p:cNvSpPr/>
          <p:nvPr/>
        </p:nvSpPr>
        <p:spPr>
          <a:xfrm>
            <a:off x="581025" y="581025"/>
            <a:ext cx="57150" cy="55245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876300" y="3457575"/>
            <a:ext cx="502062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Programación Procedural</a:t>
            </a:r>
            <a:endParaRPr/>
          </a:p>
        </p:txBody>
      </p:sp>
      <p:sp>
        <p:nvSpPr>
          <p:cNvPr id="103" name="Google Shape;103;p15"/>
          <p:cNvSpPr txBox="1"/>
          <p:nvPr/>
        </p:nvSpPr>
        <p:spPr>
          <a:xfrm>
            <a:off x="6534150" y="3457575"/>
            <a:ext cx="502062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Programación OO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524675" y="1250888"/>
            <a:ext cx="110301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Paradigma: es todo aquel modelo, patrón o ejemplo que debe seguirse en determinada situación; </a:t>
            </a:r>
            <a:endParaRPr sz="180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teoría o conjunto de teorías que sirven de modelo a seguir para resolver un problema o situaciones</a:t>
            </a:r>
            <a:endParaRPr sz="180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6"/>
          <p:cNvSpPr/>
          <p:nvPr/>
        </p:nvSpPr>
        <p:spPr>
          <a:xfrm>
            <a:off x="581025" y="581025"/>
            <a:ext cx="57300" cy="5526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/>
          <p:cNvSpPr txBox="1"/>
          <p:nvPr/>
        </p:nvSpPr>
        <p:spPr>
          <a:xfrm>
            <a:off x="771525" y="581025"/>
            <a:ext cx="1047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Programación Procedural</a:t>
            </a:r>
            <a:endParaRPr sz="3600" b="1">
              <a:solidFill>
                <a:srgbClr val="22D3E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112" name="Google Shape;112;p16"/>
          <p:cNvGrpSpPr/>
          <p:nvPr/>
        </p:nvGrpSpPr>
        <p:grpSpPr>
          <a:xfrm>
            <a:off x="762000" y="2286000"/>
            <a:ext cx="4762500" cy="4000500"/>
            <a:chOff x="762000" y="2286000"/>
            <a:chExt cx="4762500" cy="4000500"/>
          </a:xfrm>
        </p:grpSpPr>
        <p:sp>
          <p:nvSpPr>
            <p:cNvPr id="113" name="Google Shape;113;p16"/>
            <p:cNvSpPr/>
            <p:nvPr/>
          </p:nvSpPr>
          <p:spPr>
            <a:xfrm>
              <a:off x="762000" y="2286000"/>
              <a:ext cx="4762500" cy="4000500"/>
            </a:xfrm>
            <a:prstGeom prst="roundRect">
              <a:avLst>
                <a:gd name="adj" fmla="val 3809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6"/>
            <p:cNvSpPr txBox="1"/>
            <p:nvPr/>
          </p:nvSpPr>
          <p:spPr>
            <a:xfrm>
              <a:off x="1047750" y="2571750"/>
              <a:ext cx="419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35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El Concepto: Receta de Cocina</a:t>
              </a:r>
              <a:endParaRPr sz="2035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pic>
          <p:nvPicPr>
            <p:cNvPr id="115" name="Google Shape;115;p16" descr="A cinematic, high-quality photo of an open cookbook with a list of steps and separate ingredients on a kitchen counter. Clean and professional."/>
            <p:cNvPicPr preferRelativeResize="0"/>
            <p:nvPr/>
          </p:nvPicPr>
          <p:blipFill rotWithShape="1">
            <a:blip r:embed="rId5">
              <a:alphaModFix/>
            </a:blip>
            <a:srcRect t="1515" r="9091" b="-2525"/>
            <a:stretch/>
          </p:blipFill>
          <p:spPr>
            <a:xfrm>
              <a:off x="1047750" y="3048000"/>
              <a:ext cx="3810000" cy="2381400"/>
            </a:xfrm>
            <a:prstGeom prst="roundRect">
              <a:avLst>
                <a:gd name="adj" fmla="val 4800"/>
              </a:avLst>
            </a:prstGeom>
            <a:noFill/>
            <a:ln>
              <a:noFill/>
            </a:ln>
          </p:spPr>
        </p:pic>
        <p:sp>
          <p:nvSpPr>
            <p:cNvPr id="116" name="Google Shape;116;p16"/>
            <p:cNvSpPr txBox="1"/>
            <p:nvPr/>
          </p:nvSpPr>
          <p:spPr>
            <a:xfrm>
              <a:off x="1047750" y="5524500"/>
              <a:ext cx="4191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9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Como una receta: sigues pasos (funciones) para procesar ingredientes (datos) que están guardados por separado.</a:t>
              </a:r>
              <a:endParaRPr sz="119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17" name="Google Shape;117;p16"/>
          <p:cNvGrpSpPr/>
          <p:nvPr/>
        </p:nvGrpSpPr>
        <p:grpSpPr>
          <a:xfrm>
            <a:off x="6667500" y="2286000"/>
            <a:ext cx="4762500" cy="4000500"/>
            <a:chOff x="6667500" y="2286000"/>
            <a:chExt cx="4762500" cy="4000500"/>
          </a:xfrm>
        </p:grpSpPr>
        <p:sp>
          <p:nvSpPr>
            <p:cNvPr id="118" name="Google Shape;118;p16"/>
            <p:cNvSpPr/>
            <p:nvPr/>
          </p:nvSpPr>
          <p:spPr>
            <a:xfrm>
              <a:off x="6667500" y="2286000"/>
              <a:ext cx="4762500" cy="4000500"/>
            </a:xfrm>
            <a:prstGeom prst="roundRect">
              <a:avLst>
                <a:gd name="adj" fmla="val 3809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6"/>
            <p:cNvSpPr txBox="1"/>
            <p:nvPr/>
          </p:nvSpPr>
          <p:spPr>
            <a:xfrm>
              <a:off x="6953250" y="2571750"/>
              <a:ext cx="419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35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En la Práctica: Línea de Ensamblaje</a:t>
              </a:r>
              <a:endParaRPr sz="2035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pic>
          <p:nvPicPr>
            <p:cNvPr id="120" name="Google Shape;120;p16" descr="A conceptual vector illustration of a factory assembly line where parts move through separate stations. Modern tech aesthetic, dark blue and cyan tones."/>
            <p:cNvPicPr preferRelativeResize="0"/>
            <p:nvPr/>
          </p:nvPicPr>
          <p:blipFill rotWithShape="1">
            <a:blip r:embed="rId6">
              <a:alphaModFix/>
            </a:blip>
            <a:srcRect t="1515" r="9091" b="-2525"/>
            <a:stretch/>
          </p:blipFill>
          <p:spPr>
            <a:xfrm>
              <a:off x="6953250" y="3048000"/>
              <a:ext cx="3810000" cy="2381400"/>
            </a:xfrm>
            <a:prstGeom prst="roundRect">
              <a:avLst>
                <a:gd name="adj" fmla="val 4800"/>
              </a:avLst>
            </a:prstGeom>
            <a:noFill/>
            <a:ln>
              <a:noFill/>
            </a:ln>
          </p:spPr>
        </p:pic>
        <p:sp>
          <p:nvSpPr>
            <p:cNvPr id="121" name="Google Shape;121;p16"/>
            <p:cNvSpPr txBox="1"/>
            <p:nvPr/>
          </p:nvSpPr>
          <p:spPr>
            <a:xfrm>
              <a:off x="6953250" y="5524500"/>
              <a:ext cx="4191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9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El programa es una serie de estaciones. Si cambias una pieza al inicio, debes revisar manualmente cada estación siguiente.</a:t>
              </a:r>
              <a:endParaRPr sz="119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/>
          <p:nvPr/>
        </p:nvSpPr>
        <p:spPr>
          <a:xfrm>
            <a:off x="581025" y="581025"/>
            <a:ext cx="57300" cy="5526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17"/>
          <p:cNvSpPr txBox="1"/>
          <p:nvPr/>
        </p:nvSpPr>
        <p:spPr>
          <a:xfrm>
            <a:off x="771525" y="581025"/>
            <a:ext cx="1047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POO en Acción: El Sistema Bancario</a:t>
            </a:r>
            <a:endParaRPr sz="3600" b="1">
              <a:solidFill>
                <a:srgbClr val="22D3E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128" name="Google Shape;128;p17"/>
          <p:cNvGrpSpPr/>
          <p:nvPr/>
        </p:nvGrpSpPr>
        <p:grpSpPr>
          <a:xfrm>
            <a:off x="581025" y="1524000"/>
            <a:ext cx="3619500" cy="4572000"/>
            <a:chOff x="0" y="0"/>
            <a:chExt cx="3619500" cy="4572000"/>
          </a:xfrm>
        </p:grpSpPr>
        <p:sp>
          <p:nvSpPr>
            <p:cNvPr id="129" name="Google Shape;129;p17"/>
            <p:cNvSpPr/>
            <p:nvPr/>
          </p:nvSpPr>
          <p:spPr>
            <a:xfrm>
              <a:off x="0" y="0"/>
              <a:ext cx="3619500" cy="4572000"/>
            </a:xfrm>
            <a:prstGeom prst="roundRect">
              <a:avLst>
                <a:gd name="adj" fmla="val 4210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7"/>
            <p:cNvSpPr txBox="1"/>
            <p:nvPr/>
          </p:nvSpPr>
          <p:spPr>
            <a:xfrm>
              <a:off x="190500" y="190500"/>
              <a:ext cx="3238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1. La Clase (El Molde)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pic>
          <p:nvPicPr>
            <p:cNvPr id="131" name="Google Shape;131;p17" descr="A high-tech digital blueprint of a bank account icon with floating data fields like 'balance' and 'owner'. Cyberpunk blue aesthetic."/>
            <p:cNvPicPr preferRelativeResize="0"/>
            <p:nvPr/>
          </p:nvPicPr>
          <p:blipFill rotWithShape="1">
            <a:blip r:embed="rId4">
              <a:alphaModFix/>
            </a:blip>
            <a:srcRect l="2187" r="-3432" b="-20005"/>
            <a:stretch/>
          </p:blipFill>
          <p:spPr>
            <a:xfrm>
              <a:off x="190500" y="666750"/>
              <a:ext cx="3429000" cy="2286000"/>
            </a:xfrm>
            <a:prstGeom prst="roundRect">
              <a:avLst>
                <a:gd name="adj" fmla="val 5000"/>
              </a:avLst>
            </a:prstGeom>
            <a:noFill/>
            <a:ln>
              <a:noFill/>
            </a:ln>
          </p:spPr>
        </p:pic>
        <p:sp>
          <p:nvSpPr>
            <p:cNvPr id="132" name="Google Shape;132;p17"/>
            <p:cNvSpPr txBox="1"/>
            <p:nvPr/>
          </p:nvSpPr>
          <p:spPr>
            <a:xfrm>
              <a:off x="190500" y="2762250"/>
              <a:ext cx="32385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Imagina que diseñamos una </a:t>
              </a:r>
              <a:r>
                <a:rPr lang="en-US" sz="1300" b="1">
                  <a:solidFill>
                    <a:srgbClr val="22D3EE"/>
                  </a:solidFill>
                  <a:latin typeface="DM Sans"/>
                  <a:ea typeface="DM Sans"/>
                  <a:cs typeface="DM Sans"/>
                  <a:sym typeface="DM Sans"/>
                </a:rPr>
                <a:t>Clase CuentaBancaria</a:t>
              </a:r>
              <a:r>
                <a:rPr lang="en-US" sz="13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  <a:endParaRPr sz="130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Es el plano que define qué datos (Atributos) y qué acciones (Métodos) tendrán todas las cuentas del banco.</a:t>
              </a:r>
              <a:endParaRPr sz="130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33" name="Google Shape;133;p17"/>
          <p:cNvGrpSpPr/>
          <p:nvPr/>
        </p:nvGrpSpPr>
        <p:grpSpPr>
          <a:xfrm>
            <a:off x="4391025" y="1524000"/>
            <a:ext cx="3619500" cy="4572000"/>
            <a:chOff x="0" y="0"/>
            <a:chExt cx="3619500" cy="4572000"/>
          </a:xfrm>
        </p:grpSpPr>
        <p:sp>
          <p:nvSpPr>
            <p:cNvPr id="134" name="Google Shape;134;p17"/>
            <p:cNvSpPr/>
            <p:nvPr/>
          </p:nvSpPr>
          <p:spPr>
            <a:xfrm>
              <a:off x="0" y="0"/>
              <a:ext cx="3619500" cy="4572000"/>
            </a:xfrm>
            <a:prstGeom prst="roundRect">
              <a:avLst>
                <a:gd name="adj" fmla="val 4210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7"/>
            <p:cNvSpPr txBox="1"/>
            <p:nvPr/>
          </p:nvSpPr>
          <p:spPr>
            <a:xfrm>
              <a:off x="190500" y="190500"/>
              <a:ext cx="3238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2. El Objeto (Instancia)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pic>
          <p:nvPicPr>
            <p:cNvPr id="136" name="Google Shape;136;p17" descr="A realistic 3D render of a personalized credit card floating in front of a smartphone screen showing a balance of $1,500. Elegant lighting."/>
            <p:cNvPicPr preferRelativeResize="0"/>
            <p:nvPr/>
          </p:nvPicPr>
          <p:blipFill rotWithShape="1">
            <a:blip r:embed="rId5">
              <a:alphaModFix/>
            </a:blip>
            <a:srcRect l="2187" r="-3432" b="-20005"/>
            <a:stretch/>
          </p:blipFill>
          <p:spPr>
            <a:xfrm>
              <a:off x="190500" y="666750"/>
              <a:ext cx="3429000" cy="2286000"/>
            </a:xfrm>
            <a:prstGeom prst="roundRect">
              <a:avLst>
                <a:gd name="adj" fmla="val 5000"/>
              </a:avLst>
            </a:prstGeom>
            <a:noFill/>
            <a:ln>
              <a:noFill/>
            </a:ln>
          </p:spPr>
        </p:pic>
        <p:sp>
          <p:nvSpPr>
            <p:cNvPr id="137" name="Google Shape;137;p17"/>
            <p:cNvSpPr txBox="1"/>
            <p:nvPr/>
          </p:nvSpPr>
          <p:spPr>
            <a:xfrm>
              <a:off x="190500" y="2762250"/>
              <a:ext cx="32385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Cuando un cliente abre una cuenta, creamos un </a:t>
              </a:r>
              <a:r>
                <a:rPr lang="en-US" sz="1300" b="1">
                  <a:solidFill>
                    <a:srgbClr val="22D3EE"/>
                  </a:solidFill>
                  <a:latin typeface="DM Sans"/>
                  <a:ea typeface="DM Sans"/>
                  <a:cs typeface="DM Sans"/>
                  <a:sym typeface="DM Sans"/>
                </a:rPr>
                <a:t>Objeto</a:t>
              </a:r>
              <a:r>
                <a:rPr lang="en-US" sz="13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 real.</a:t>
              </a:r>
              <a:endParaRPr sz="130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Ahora tiene valores específicos:</a:t>
              </a:r>
              <a:endParaRPr sz="130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• Titular: "Wendy Valle"</a:t>
              </a:r>
              <a:endParaRPr sz="130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• Saldo: </a:t>
              </a:r>
              <a:r>
                <a:rPr lang="en-US" sz="130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L</a:t>
              </a:r>
              <a:r>
                <a:rPr lang="en-US" sz="13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1,500.00</a:t>
              </a:r>
              <a:endParaRPr sz="130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38" name="Google Shape;138;p17"/>
          <p:cNvGrpSpPr/>
          <p:nvPr/>
        </p:nvGrpSpPr>
        <p:grpSpPr>
          <a:xfrm>
            <a:off x="8201025" y="1524000"/>
            <a:ext cx="3410100" cy="4572000"/>
            <a:chOff x="0" y="0"/>
            <a:chExt cx="3410100" cy="4572000"/>
          </a:xfrm>
        </p:grpSpPr>
        <p:sp>
          <p:nvSpPr>
            <p:cNvPr id="139" name="Google Shape;139;p17"/>
            <p:cNvSpPr/>
            <p:nvPr/>
          </p:nvSpPr>
          <p:spPr>
            <a:xfrm>
              <a:off x="0" y="0"/>
              <a:ext cx="3410100" cy="4572000"/>
            </a:xfrm>
            <a:prstGeom prst="roundRect">
              <a:avLst>
                <a:gd name="adj" fmla="val 4469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17"/>
            <p:cNvSpPr txBox="1"/>
            <p:nvPr/>
          </p:nvSpPr>
          <p:spPr>
            <a:xfrm>
              <a:off x="190500" y="19050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3. Implementación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pic>
          <p:nvPicPr>
            <p:cNvPr id="141" name="Google Shape;141;p17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90500" y="666750"/>
              <a:ext cx="3029100" cy="3619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7"/>
            <p:cNvSpPr txBox="1"/>
            <p:nvPr/>
          </p:nvSpPr>
          <p:spPr>
            <a:xfrm>
              <a:off x="333375" y="809625"/>
              <a:ext cx="27624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// Definir la Clase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public class </a:t>
              </a:r>
              <a:r>
                <a:rPr lang="en-US" sz="110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Cuenta</a:t>
              </a: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 {</a:t>
              </a:r>
              <a:endParaRPr sz="11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double saldo;</a:t>
              </a:r>
              <a:endParaRPr sz="11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void </a:t>
              </a:r>
              <a:r>
                <a:rPr lang="en-US" sz="110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depositar</a:t>
              </a: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(double m) {</a:t>
              </a:r>
              <a:endParaRPr sz="11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saldo += m;</a:t>
              </a:r>
              <a:endParaRPr sz="11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}</a:t>
              </a:r>
              <a:endParaRPr sz="11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}</a:t>
              </a:r>
              <a:endParaRPr sz="11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// Crear el Objeto (Instanciar)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Cuenta</a:t>
              </a: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 miCta = </a:t>
              </a:r>
              <a:r>
                <a:rPr lang="en-US" sz="110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new</a:t>
              </a: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 Cuenta();</a:t>
              </a:r>
              <a:endParaRPr sz="11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miCta.depositar(500);</a:t>
              </a:r>
              <a:endParaRPr sz="11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143" name="Google Shape;143;p17"/>
          <p:cNvSpPr/>
          <p:nvPr/>
        </p:nvSpPr>
        <p:spPr>
          <a:xfrm>
            <a:off x="581025" y="6286500"/>
            <a:ext cx="3810000" cy="381000"/>
          </a:xfrm>
          <a:prstGeom prst="roundRect">
            <a:avLst>
              <a:gd name="adj" fmla="val 50000"/>
            </a:avLst>
          </a:prstGeom>
          <a:solidFill>
            <a:srgbClr val="22D3EE">
              <a:alpha val="10000"/>
            </a:srgbClr>
          </a:solidFill>
          <a:ln w="9525" cap="flat" cmpd="sng">
            <a:solidFill>
              <a:srgbClr val="22D3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771525" y="6286500"/>
            <a:ext cx="3429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Caso Real: Gestión de Saldo Bancario en Java</a:t>
            </a:r>
            <a:endParaRPr sz="1000" b="1">
              <a:solidFill>
                <a:srgbClr val="22D3E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8"/>
          <p:cNvSpPr/>
          <p:nvPr/>
        </p:nvSpPr>
        <p:spPr>
          <a:xfrm>
            <a:off x="581025" y="581025"/>
            <a:ext cx="57300" cy="5526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8"/>
          <p:cNvSpPr txBox="1"/>
          <p:nvPr/>
        </p:nvSpPr>
        <p:spPr>
          <a:xfrm>
            <a:off x="771525" y="581025"/>
            <a:ext cx="1047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Jerarquía POO: La Superclase Animal</a:t>
            </a:r>
            <a:endParaRPr sz="3600" b="1">
              <a:solidFill>
                <a:srgbClr val="22D3E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151" name="Google Shape;151;p18"/>
          <p:cNvGrpSpPr/>
          <p:nvPr/>
        </p:nvGrpSpPr>
        <p:grpSpPr>
          <a:xfrm>
            <a:off x="581025" y="1524000"/>
            <a:ext cx="3619500" cy="4572000"/>
            <a:chOff x="581025" y="1524000"/>
            <a:chExt cx="3619500" cy="4572000"/>
          </a:xfrm>
        </p:grpSpPr>
        <p:sp>
          <p:nvSpPr>
            <p:cNvPr id="152" name="Google Shape;152;p18"/>
            <p:cNvSpPr/>
            <p:nvPr/>
          </p:nvSpPr>
          <p:spPr>
            <a:xfrm>
              <a:off x="581025" y="1524000"/>
              <a:ext cx="3619500" cy="4572000"/>
            </a:xfrm>
            <a:prstGeom prst="roundRect">
              <a:avLst>
                <a:gd name="adj" fmla="val 4210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8"/>
            <p:cNvSpPr txBox="1"/>
            <p:nvPr/>
          </p:nvSpPr>
          <p:spPr>
            <a:xfrm>
              <a:off x="771525" y="1714500"/>
              <a:ext cx="3238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1. La Superclase (General)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pic>
          <p:nvPicPr>
            <p:cNvPr id="154" name="Google Shape;154;p18" descr="A high-tech digital schematic of a generic animal silhouette, glowing cyan outlines on a dark blueprint background."/>
            <p:cNvPicPr preferRelativeResize="0"/>
            <p:nvPr/>
          </p:nvPicPr>
          <p:blipFill rotWithShape="1">
            <a:blip r:embed="rId4">
              <a:alphaModFix/>
            </a:blip>
            <a:srcRect t="612" b="622"/>
            <a:stretch/>
          </p:blipFill>
          <p:spPr>
            <a:xfrm>
              <a:off x="676275" y="2190750"/>
              <a:ext cx="3429000" cy="1905000"/>
            </a:xfrm>
            <a:prstGeom prst="roundRect">
              <a:avLst>
                <a:gd name="adj" fmla="val 6000"/>
              </a:avLst>
            </a:prstGeom>
            <a:noFill/>
            <a:ln>
              <a:noFill/>
            </a:ln>
          </p:spPr>
        </p:pic>
        <p:sp>
          <p:nvSpPr>
            <p:cNvPr id="155" name="Google Shape;155;p18"/>
            <p:cNvSpPr txBox="1"/>
            <p:nvPr/>
          </p:nvSpPr>
          <p:spPr>
            <a:xfrm>
              <a:off x="771525" y="4286250"/>
              <a:ext cx="32385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La </a:t>
              </a:r>
              <a:r>
                <a:rPr lang="en-US" sz="1203" b="1">
                  <a:solidFill>
                    <a:srgbClr val="22D3EE"/>
                  </a:solidFill>
                  <a:latin typeface="DM Sans"/>
                  <a:ea typeface="DM Sans"/>
                  <a:cs typeface="DM Sans"/>
                  <a:sym typeface="DM Sans"/>
                </a:rPr>
                <a:t>Superclase Animal</a:t>
              </a: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 define rasgos comunes.</a:t>
              </a:r>
              <a:endParaRPr sz="1203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Atributos generales:</a:t>
              </a:r>
              <a:endParaRPr sz="1203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• Especie, Color, Edad.</a:t>
              </a:r>
              <a:endParaRPr sz="1203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Métodos (Acciones):</a:t>
              </a:r>
              <a:endParaRPr sz="1203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• Comer(), Dormir().</a:t>
              </a:r>
              <a:endParaRPr sz="1203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56" name="Google Shape;156;p18"/>
          <p:cNvGrpSpPr/>
          <p:nvPr/>
        </p:nvGrpSpPr>
        <p:grpSpPr>
          <a:xfrm>
            <a:off x="4391025" y="1524000"/>
            <a:ext cx="3619500" cy="4572000"/>
            <a:chOff x="4391025" y="1524000"/>
            <a:chExt cx="3619500" cy="4572000"/>
          </a:xfrm>
        </p:grpSpPr>
        <p:sp>
          <p:nvSpPr>
            <p:cNvPr id="157" name="Google Shape;157;p18"/>
            <p:cNvSpPr/>
            <p:nvPr/>
          </p:nvSpPr>
          <p:spPr>
            <a:xfrm>
              <a:off x="4391025" y="1524000"/>
              <a:ext cx="3619500" cy="4572000"/>
            </a:xfrm>
            <a:prstGeom prst="roundRect">
              <a:avLst>
                <a:gd name="adj" fmla="val 4210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8"/>
            <p:cNvSpPr txBox="1"/>
            <p:nvPr/>
          </p:nvSpPr>
          <p:spPr>
            <a:xfrm>
              <a:off x="4581525" y="1714500"/>
              <a:ext cx="3238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2. Subclases (Específicas)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pic>
          <p:nvPicPr>
            <p:cNvPr id="159" name="Google Shape;159;p18" descr="Three distinct icons: a playful dog, a sleek cat, and a small bird, in a modern vector style with neon cyan accents."/>
            <p:cNvPicPr preferRelativeResize="0"/>
            <p:nvPr/>
          </p:nvPicPr>
          <p:blipFill rotWithShape="1">
            <a:blip r:embed="rId5">
              <a:alphaModFix/>
            </a:blip>
            <a:srcRect t="612" b="622"/>
            <a:stretch/>
          </p:blipFill>
          <p:spPr>
            <a:xfrm>
              <a:off x="4486275" y="2190750"/>
              <a:ext cx="3429000" cy="1905000"/>
            </a:xfrm>
            <a:prstGeom prst="roundRect">
              <a:avLst>
                <a:gd name="adj" fmla="val 6000"/>
              </a:avLst>
            </a:prstGeom>
            <a:noFill/>
            <a:ln>
              <a:noFill/>
            </a:ln>
          </p:spPr>
        </p:pic>
        <p:sp>
          <p:nvSpPr>
            <p:cNvPr id="160" name="Google Shape;160;p18"/>
            <p:cNvSpPr txBox="1"/>
            <p:nvPr/>
          </p:nvSpPr>
          <p:spPr>
            <a:xfrm>
              <a:off x="4581525" y="4286250"/>
              <a:ext cx="32385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Heredan de Animal, pero añaden su propio "sabor".</a:t>
              </a:r>
              <a:endParaRPr sz="1203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Ejemplo </a:t>
              </a:r>
              <a:r>
                <a:rPr lang="en-US" sz="1203" b="1">
                  <a:solidFill>
                    <a:srgbClr val="22D3EE"/>
                  </a:solidFill>
                  <a:latin typeface="DM Sans"/>
                  <a:ea typeface="DM Sans"/>
                  <a:cs typeface="DM Sans"/>
                  <a:sym typeface="DM Sans"/>
                </a:rPr>
                <a:t>Perro</a:t>
              </a: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:</a:t>
              </a:r>
              <a:endParaRPr sz="1203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• Atributo: Raza.</a:t>
              </a:r>
              <a:endParaRPr sz="1203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• Método: Ladrar().</a:t>
              </a:r>
              <a:endParaRPr sz="1203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Ejemplo </a:t>
              </a:r>
              <a:r>
                <a:rPr lang="en-US" sz="1203" b="1">
                  <a:solidFill>
                    <a:srgbClr val="22D3EE"/>
                  </a:solidFill>
                  <a:latin typeface="DM Sans"/>
                  <a:ea typeface="DM Sans"/>
                  <a:cs typeface="DM Sans"/>
                  <a:sym typeface="DM Sans"/>
                </a:rPr>
                <a:t>Gato</a:t>
              </a: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:</a:t>
              </a:r>
              <a:endParaRPr sz="1203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3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• Método: Maullar().</a:t>
              </a:r>
              <a:endParaRPr sz="1203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1" name="Google Shape;161;p18"/>
          <p:cNvGrpSpPr/>
          <p:nvPr/>
        </p:nvGrpSpPr>
        <p:grpSpPr>
          <a:xfrm>
            <a:off x="8201025" y="1524000"/>
            <a:ext cx="3410100" cy="4572000"/>
            <a:chOff x="8201025" y="1524000"/>
            <a:chExt cx="3410100" cy="4572000"/>
          </a:xfrm>
        </p:grpSpPr>
        <p:sp>
          <p:nvSpPr>
            <p:cNvPr id="162" name="Google Shape;162;p18"/>
            <p:cNvSpPr/>
            <p:nvPr/>
          </p:nvSpPr>
          <p:spPr>
            <a:xfrm>
              <a:off x="8201025" y="1524000"/>
              <a:ext cx="3410100" cy="4572000"/>
            </a:xfrm>
            <a:prstGeom prst="roundRect">
              <a:avLst>
                <a:gd name="adj" fmla="val 4469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8"/>
            <p:cNvSpPr txBox="1"/>
            <p:nvPr/>
          </p:nvSpPr>
          <p:spPr>
            <a:xfrm>
              <a:off x="8391525" y="171450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3. Objetos en Memoria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164" name="Google Shape;164;p18"/>
            <p:cNvSpPr/>
            <p:nvPr/>
          </p:nvSpPr>
          <p:spPr>
            <a:xfrm>
              <a:off x="8391525" y="2333625"/>
              <a:ext cx="3029100" cy="3333900"/>
            </a:xfrm>
            <a:prstGeom prst="roundRect">
              <a:avLst>
                <a:gd name="adj" fmla="val 2515"/>
              </a:avLst>
            </a:prstGeom>
            <a:solidFill>
              <a:srgbClr val="0F172A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18"/>
            <p:cNvSpPr txBox="1"/>
            <p:nvPr/>
          </p:nvSpPr>
          <p:spPr>
            <a:xfrm>
              <a:off x="8534400" y="2476500"/>
              <a:ext cx="27624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// Instancias reales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Animal</a:t>
              </a: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miPerro = </a:t>
              </a:r>
              <a:r>
                <a:rPr lang="en-US" sz="110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new</a:t>
              </a: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Perro();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miPerro.color = </a:t>
              </a:r>
              <a:r>
                <a:rPr lang="en-US" sz="110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"Café"</a:t>
              </a: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;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miPerro.comer(); </a:t>
              </a: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// Heredado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Animal</a:t>
              </a: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miGato = </a:t>
              </a:r>
              <a:r>
                <a:rPr lang="en-US" sz="110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new</a:t>
              </a: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Gato();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miGato.color = </a:t>
              </a:r>
              <a:r>
                <a:rPr lang="en-US" sz="110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"Blanco"</a:t>
              </a: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;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miGato.maullar(); </a:t>
              </a: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// Propio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166" name="Google Shape;166;p18"/>
          <p:cNvSpPr/>
          <p:nvPr/>
        </p:nvSpPr>
        <p:spPr>
          <a:xfrm>
            <a:off x="581025" y="6286500"/>
            <a:ext cx="3810000" cy="381000"/>
          </a:xfrm>
          <a:prstGeom prst="roundRect">
            <a:avLst>
              <a:gd name="adj" fmla="val 50000"/>
            </a:avLst>
          </a:prstGeom>
          <a:solidFill>
            <a:srgbClr val="22D3EE">
              <a:alpha val="10000"/>
            </a:srgbClr>
          </a:solidFill>
          <a:ln w="9525" cap="flat" cmpd="sng">
            <a:solidFill>
              <a:srgbClr val="22D3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18"/>
          <p:cNvSpPr txBox="1"/>
          <p:nvPr/>
        </p:nvSpPr>
        <p:spPr>
          <a:xfrm>
            <a:off x="771525" y="6286500"/>
            <a:ext cx="3429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Concepto: Herencia y Especialización en Java</a:t>
            </a:r>
            <a:endParaRPr sz="1000" b="1">
              <a:solidFill>
                <a:srgbClr val="F8FAFC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/>
          <p:nvPr/>
        </p:nvSpPr>
        <p:spPr>
          <a:xfrm>
            <a:off x="581025" y="581025"/>
            <a:ext cx="57300" cy="5526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771525" y="581025"/>
            <a:ext cx="10477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Clases vs. Objetos</a:t>
            </a:r>
            <a:endParaRPr sz="3600" b="1">
              <a:solidFill>
                <a:srgbClr val="22D3E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176" name="Google Shape;176;p19"/>
          <p:cNvGrpSpPr/>
          <p:nvPr/>
        </p:nvGrpSpPr>
        <p:grpSpPr>
          <a:xfrm>
            <a:off x="581025" y="1524000"/>
            <a:ext cx="3619500" cy="4572000"/>
            <a:chOff x="581025" y="1524000"/>
            <a:chExt cx="3619500" cy="4572000"/>
          </a:xfrm>
        </p:grpSpPr>
        <p:sp>
          <p:nvSpPr>
            <p:cNvPr id="177" name="Google Shape;177;p19"/>
            <p:cNvSpPr/>
            <p:nvPr/>
          </p:nvSpPr>
          <p:spPr>
            <a:xfrm>
              <a:off x="581025" y="1524000"/>
              <a:ext cx="3619500" cy="4572000"/>
            </a:xfrm>
            <a:prstGeom prst="roundRect">
              <a:avLst>
                <a:gd name="adj" fmla="val 4210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19"/>
            <p:cNvSpPr txBox="1"/>
            <p:nvPr/>
          </p:nvSpPr>
          <p:spPr>
            <a:xfrm>
              <a:off x="771525" y="1714500"/>
              <a:ext cx="3238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1. La Clase (El Plano)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pic>
          <p:nvPicPr>
            <p:cNvPr id="179" name="Google Shape;179;p19" descr="A sleek, neon cyan architectural blueprint of a modern house on a dark background, digital aesthetic."/>
            <p:cNvPicPr preferRelativeResize="0"/>
            <p:nvPr/>
          </p:nvPicPr>
          <p:blipFill rotWithShape="1">
            <a:blip r:embed="rId5">
              <a:alphaModFix/>
            </a:blip>
            <a:srcRect l="2190" r="2190"/>
            <a:stretch/>
          </p:blipFill>
          <p:spPr>
            <a:xfrm>
              <a:off x="771525" y="2190750"/>
              <a:ext cx="3238500" cy="1905000"/>
            </a:xfrm>
            <a:prstGeom prst="roundRect">
              <a:avLst>
                <a:gd name="adj" fmla="val 6000"/>
              </a:avLst>
            </a:prstGeom>
            <a:noFill/>
            <a:ln>
              <a:noFill/>
            </a:ln>
          </p:spPr>
        </p:pic>
        <p:sp>
          <p:nvSpPr>
            <p:cNvPr id="180" name="Google Shape;180;p19"/>
            <p:cNvSpPr txBox="1"/>
            <p:nvPr/>
          </p:nvSpPr>
          <p:spPr>
            <a:xfrm>
              <a:off x="771525" y="4286250"/>
              <a:ext cx="3238500" cy="1767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Es el </a:t>
              </a:r>
              <a:r>
                <a:rPr lang="en-US" sz="1300" b="1">
                  <a:solidFill>
                    <a:srgbClr val="22D3EE"/>
                  </a:solidFill>
                  <a:latin typeface="DM Sans"/>
                  <a:ea typeface="DM Sans"/>
                  <a:cs typeface="DM Sans"/>
                  <a:sym typeface="DM Sans"/>
                </a:rPr>
                <a:t>molde o plantilla</a:t>
              </a:r>
              <a:r>
                <a:rPr lang="en-US" sz="130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  <a:endParaRPr sz="130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Define cómo será el objeto pero no es "real" todavía. Ejemplo: El plano detallado de una casa.</a:t>
              </a:r>
              <a:endParaRPr sz="130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endParaRPr sz="1300" b="1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endParaRPr sz="130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endParaRPr sz="130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endParaRPr sz="130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81" name="Google Shape;181;p19"/>
          <p:cNvGrpSpPr/>
          <p:nvPr/>
        </p:nvGrpSpPr>
        <p:grpSpPr>
          <a:xfrm>
            <a:off x="4391025" y="1524000"/>
            <a:ext cx="3619500" cy="4572000"/>
            <a:chOff x="4391025" y="1524000"/>
            <a:chExt cx="3619500" cy="4572000"/>
          </a:xfrm>
        </p:grpSpPr>
        <p:sp>
          <p:nvSpPr>
            <p:cNvPr id="182" name="Google Shape;182;p19"/>
            <p:cNvSpPr/>
            <p:nvPr/>
          </p:nvSpPr>
          <p:spPr>
            <a:xfrm>
              <a:off x="4391025" y="1524000"/>
              <a:ext cx="3619500" cy="4572000"/>
            </a:xfrm>
            <a:prstGeom prst="roundRect">
              <a:avLst>
                <a:gd name="adj" fmla="val 4210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9"/>
            <p:cNvSpPr txBox="1"/>
            <p:nvPr/>
          </p:nvSpPr>
          <p:spPr>
            <a:xfrm>
              <a:off x="4581525" y="1714500"/>
              <a:ext cx="3238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2. El Objeto (La Casa)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pic>
          <p:nvPicPr>
            <p:cNvPr id="184" name="Google Shape;184;p19" descr="A modern, high-tech smart home exterior with warm lighting at night, realistic 3D render."/>
            <p:cNvPicPr preferRelativeResize="0"/>
            <p:nvPr/>
          </p:nvPicPr>
          <p:blipFill rotWithShape="1">
            <a:blip r:embed="rId6">
              <a:alphaModFix/>
            </a:blip>
            <a:srcRect l="2190" r="2190"/>
            <a:stretch/>
          </p:blipFill>
          <p:spPr>
            <a:xfrm>
              <a:off x="4581525" y="2190750"/>
              <a:ext cx="3238500" cy="1905000"/>
            </a:xfrm>
            <a:prstGeom prst="roundRect">
              <a:avLst>
                <a:gd name="adj" fmla="val 6000"/>
              </a:avLst>
            </a:prstGeom>
            <a:noFill/>
            <a:ln>
              <a:noFill/>
            </a:ln>
          </p:spPr>
        </p:pic>
        <p:sp>
          <p:nvSpPr>
            <p:cNvPr id="185" name="Google Shape;185;p19"/>
            <p:cNvSpPr txBox="1"/>
            <p:nvPr/>
          </p:nvSpPr>
          <p:spPr>
            <a:xfrm>
              <a:off x="4581525" y="4286250"/>
              <a:ext cx="32385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Es la </a:t>
              </a:r>
              <a:r>
                <a:rPr lang="en-US" sz="1300" b="1">
                  <a:solidFill>
                    <a:srgbClr val="22D3EE"/>
                  </a:solidFill>
                  <a:latin typeface="DM Sans"/>
                  <a:ea typeface="DM Sans"/>
                  <a:cs typeface="DM Sans"/>
                  <a:sym typeface="DM Sans"/>
                </a:rPr>
                <a:t>instancia real</a:t>
              </a:r>
              <a:r>
                <a:rPr lang="en-US" sz="130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  <a:endParaRPr sz="130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Es algo concreto que ocupa espacio en memoria. Ejemplo: La casa física construida en la calle Principal.</a:t>
              </a:r>
              <a:endParaRPr sz="130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86" name="Google Shape;186;p19"/>
          <p:cNvGrpSpPr/>
          <p:nvPr/>
        </p:nvGrpSpPr>
        <p:grpSpPr>
          <a:xfrm>
            <a:off x="8201025" y="1524000"/>
            <a:ext cx="3410100" cy="4572000"/>
            <a:chOff x="8201025" y="1524000"/>
            <a:chExt cx="3410100" cy="4572000"/>
          </a:xfrm>
        </p:grpSpPr>
        <p:sp>
          <p:nvSpPr>
            <p:cNvPr id="187" name="Google Shape;187;p19"/>
            <p:cNvSpPr/>
            <p:nvPr/>
          </p:nvSpPr>
          <p:spPr>
            <a:xfrm>
              <a:off x="8201025" y="1524000"/>
              <a:ext cx="3410100" cy="4572000"/>
            </a:xfrm>
            <a:prstGeom prst="roundRect">
              <a:avLst>
                <a:gd name="adj" fmla="val 4469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19"/>
            <p:cNvSpPr txBox="1"/>
            <p:nvPr/>
          </p:nvSpPr>
          <p:spPr>
            <a:xfrm>
              <a:off x="8391525" y="1714500"/>
              <a:ext cx="3048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3. Instanciación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189" name="Google Shape;189;p19"/>
            <p:cNvSpPr/>
            <p:nvPr/>
          </p:nvSpPr>
          <p:spPr>
            <a:xfrm>
              <a:off x="8391525" y="2333625"/>
              <a:ext cx="3029100" cy="3333900"/>
            </a:xfrm>
            <a:prstGeom prst="roundRect">
              <a:avLst>
                <a:gd name="adj" fmla="val 2515"/>
              </a:avLst>
            </a:prstGeom>
            <a:solidFill>
              <a:srgbClr val="0F172A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19"/>
            <p:cNvSpPr txBox="1"/>
            <p:nvPr/>
          </p:nvSpPr>
          <p:spPr>
            <a:xfrm>
              <a:off x="8534400" y="2476500"/>
              <a:ext cx="2762400" cy="3048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// El proceso de crear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class</a:t>
              </a: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-US" sz="110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Casa</a:t>
              </a: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{ ... }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// Crear un objeto nuevo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Casa</a:t>
              </a: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miCasa = </a:t>
              </a:r>
              <a:r>
                <a:rPr lang="en-US" sz="110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new</a:t>
              </a:r>
              <a:r>
                <a:rPr lang="en-US" sz="110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Casa();</a:t>
              </a:r>
              <a:endParaRPr sz="11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Al usar </a:t>
              </a:r>
              <a:r>
                <a:rPr lang="en-US" sz="1100" b="1">
                  <a:solidFill>
                    <a:srgbClr val="22D3EE"/>
                  </a:solidFill>
                  <a:latin typeface="DM Sans"/>
                  <a:ea typeface="DM Sans"/>
                  <a:cs typeface="DM Sans"/>
                  <a:sym typeface="DM Sans"/>
                </a:rPr>
                <a:t>new</a:t>
              </a:r>
              <a:r>
                <a:rPr lang="en-US" sz="110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, el plano se convierte en realidad.</a:t>
              </a:r>
              <a:endParaRPr sz="110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91" name="Google Shape;191;p19"/>
          <p:cNvSpPr/>
          <p:nvPr/>
        </p:nvSpPr>
        <p:spPr>
          <a:xfrm>
            <a:off x="581025" y="6286500"/>
            <a:ext cx="4000500" cy="381000"/>
          </a:xfrm>
          <a:prstGeom prst="roundRect">
            <a:avLst>
              <a:gd name="adj" fmla="val 50000"/>
            </a:avLst>
          </a:prstGeom>
          <a:solidFill>
            <a:srgbClr val="22D3EE">
              <a:alpha val="10000"/>
            </a:srgbClr>
          </a:solidFill>
          <a:ln w="9525" cap="flat" cmpd="sng">
            <a:solidFill>
              <a:srgbClr val="22D3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9"/>
          <p:cNvSpPr txBox="1"/>
          <p:nvPr/>
        </p:nvSpPr>
        <p:spPr>
          <a:xfrm>
            <a:off x="771525" y="6286500"/>
            <a:ext cx="3810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Ejercicio: Si la clase es "Celular", ¿cuáles son sus objetos?</a:t>
            </a:r>
            <a:endParaRPr sz="1000" b="1">
              <a:solidFill>
                <a:srgbClr val="F8FAFC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0"/>
          <p:cNvSpPr/>
          <p:nvPr/>
        </p:nvSpPr>
        <p:spPr>
          <a:xfrm>
            <a:off x="581025" y="581025"/>
            <a:ext cx="57300" cy="5526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20"/>
          <p:cNvSpPr txBox="1"/>
          <p:nvPr/>
        </p:nvSpPr>
        <p:spPr>
          <a:xfrm>
            <a:off x="771525" y="581025"/>
            <a:ext cx="10477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Características de las Clases </a:t>
            </a:r>
            <a:endParaRPr sz="3600" b="1">
              <a:solidFill>
                <a:srgbClr val="22D3E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201" name="Google Shape;201;p20"/>
          <p:cNvGrpSpPr/>
          <p:nvPr/>
        </p:nvGrpSpPr>
        <p:grpSpPr>
          <a:xfrm>
            <a:off x="581025" y="1524000"/>
            <a:ext cx="3619500" cy="4572000"/>
            <a:chOff x="581025" y="1524000"/>
            <a:chExt cx="3619500" cy="4572000"/>
          </a:xfrm>
        </p:grpSpPr>
        <p:sp>
          <p:nvSpPr>
            <p:cNvPr id="202" name="Google Shape;202;p20"/>
            <p:cNvSpPr/>
            <p:nvPr/>
          </p:nvSpPr>
          <p:spPr>
            <a:xfrm>
              <a:off x="581025" y="1524000"/>
              <a:ext cx="3619500" cy="4572000"/>
            </a:xfrm>
            <a:prstGeom prst="roundRect">
              <a:avLst>
                <a:gd name="adj" fmla="val 4210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0"/>
            <p:cNvSpPr txBox="1"/>
            <p:nvPr/>
          </p:nvSpPr>
          <p:spPr>
            <a:xfrm>
              <a:off x="771525" y="1714500"/>
              <a:ext cx="3238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1. Molde o Plantilla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pic>
          <p:nvPicPr>
            <p:cNvPr id="204" name="Google Shape;204;p20" descr="A high-tech digital wireframe of a futuristic vehicle, glowing blue lines on a dark interface, representing a template or blueprint."/>
            <p:cNvPicPr preferRelativeResize="0"/>
            <p:nvPr/>
          </p:nvPicPr>
          <p:blipFill rotWithShape="1">
            <a:blip r:embed="rId5">
              <a:alphaModFix/>
            </a:blip>
            <a:srcRect t="2936" b="2946"/>
            <a:stretch/>
          </p:blipFill>
          <p:spPr>
            <a:xfrm>
              <a:off x="771525" y="2190750"/>
              <a:ext cx="3238500" cy="1714500"/>
            </a:xfrm>
            <a:prstGeom prst="roundRect">
              <a:avLst>
                <a:gd name="adj" fmla="val 6666"/>
              </a:avLst>
            </a:prstGeom>
            <a:noFill/>
            <a:ln>
              <a:noFill/>
            </a:ln>
          </p:spPr>
        </p:pic>
        <p:sp>
          <p:nvSpPr>
            <p:cNvPr id="205" name="Google Shape;205;p20"/>
            <p:cNvSpPr txBox="1"/>
            <p:nvPr/>
          </p:nvSpPr>
          <p:spPr>
            <a:xfrm>
              <a:off x="771525" y="409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Es una </a:t>
              </a:r>
              <a:r>
                <a:rPr lang="en-US" sz="1200" b="1">
                  <a:solidFill>
                    <a:srgbClr val="22D3EE"/>
                  </a:solidFill>
                  <a:latin typeface="DM Sans"/>
                  <a:ea typeface="DM Sans"/>
                  <a:cs typeface="DM Sans"/>
                  <a:sym typeface="DM Sans"/>
                </a:rPr>
                <a:t>plantilla o molde</a:t>
              </a:r>
              <a:r>
                <a:rPr lang="en-US" sz="12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 que permite construir objetos.</a:t>
              </a:r>
              <a:endParaRPr sz="120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Representan entidades de la vida real, agrupando código y datos.</a:t>
              </a:r>
              <a:endParaRPr sz="120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La Clase: se basa en el concepto de agrupar código y datos juntos dentro de una misma unidad llamada clase. Representan entidades del mundo real</a:t>
              </a:r>
              <a:endParaRPr sz="120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06" name="Google Shape;206;p20"/>
          <p:cNvGrpSpPr/>
          <p:nvPr/>
        </p:nvGrpSpPr>
        <p:grpSpPr>
          <a:xfrm>
            <a:off x="4391025" y="1524000"/>
            <a:ext cx="3619500" cy="4572000"/>
            <a:chOff x="4391025" y="1524000"/>
            <a:chExt cx="3619500" cy="4572000"/>
          </a:xfrm>
        </p:grpSpPr>
        <p:sp>
          <p:nvSpPr>
            <p:cNvPr id="207" name="Google Shape;207;p20"/>
            <p:cNvSpPr/>
            <p:nvPr/>
          </p:nvSpPr>
          <p:spPr>
            <a:xfrm>
              <a:off x="4391025" y="1524000"/>
              <a:ext cx="3619500" cy="4572000"/>
            </a:xfrm>
            <a:prstGeom prst="roundRect">
              <a:avLst>
                <a:gd name="adj" fmla="val 4210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0"/>
            <p:cNvSpPr txBox="1"/>
            <p:nvPr/>
          </p:nvSpPr>
          <p:spPr>
            <a:xfrm>
              <a:off x="4581525" y="1714500"/>
              <a:ext cx="3238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2. Componentes y Uso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pic>
          <p:nvPicPr>
            <p:cNvPr id="209" name="Google Shape;209;p20" descr="Isometric 3D render of a stylized robot character being assembled, showing inner parts like gears (attributes) and movement paths (methods), neon accents."/>
            <p:cNvPicPr preferRelativeResize="0"/>
            <p:nvPr/>
          </p:nvPicPr>
          <p:blipFill rotWithShape="1">
            <a:blip r:embed="rId6">
              <a:alphaModFix/>
            </a:blip>
            <a:srcRect t="2936" b="2946"/>
            <a:stretch/>
          </p:blipFill>
          <p:spPr>
            <a:xfrm>
              <a:off x="4581525" y="2190750"/>
              <a:ext cx="3238500" cy="1714500"/>
            </a:xfrm>
            <a:prstGeom prst="roundRect">
              <a:avLst>
                <a:gd name="adj" fmla="val 6666"/>
              </a:avLst>
            </a:prstGeom>
            <a:noFill/>
            <a:ln>
              <a:noFill/>
            </a:ln>
          </p:spPr>
        </p:pic>
        <p:sp>
          <p:nvSpPr>
            <p:cNvPr id="210" name="Google Shape;210;p20"/>
            <p:cNvSpPr txBox="1"/>
            <p:nvPr/>
          </p:nvSpPr>
          <p:spPr>
            <a:xfrm>
              <a:off x="4581525" y="409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Poseen </a:t>
              </a:r>
              <a:r>
                <a:rPr lang="en-US" sz="1200" b="1">
                  <a:solidFill>
                    <a:srgbClr val="22D3EE"/>
                  </a:solidFill>
                  <a:latin typeface="DM Sans"/>
                  <a:ea typeface="DM Sans"/>
                  <a:cs typeface="DM Sans"/>
                  <a:sym typeface="DM Sans"/>
                </a:rPr>
                <a:t>atributos</a:t>
              </a:r>
              <a:r>
                <a:rPr lang="en-US" sz="12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 (estado) y </a:t>
              </a:r>
              <a:r>
                <a:rPr lang="en-US" sz="1200" b="1">
                  <a:solidFill>
                    <a:srgbClr val="22D3EE"/>
                  </a:solidFill>
                  <a:latin typeface="DM Sans"/>
                  <a:ea typeface="DM Sans"/>
                  <a:cs typeface="DM Sans"/>
                  <a:sym typeface="DM Sans"/>
                </a:rPr>
                <a:t>métodos</a:t>
              </a:r>
              <a:r>
                <a:rPr lang="en-US" sz="12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 (comportamiento).</a:t>
              </a:r>
              <a:endParaRPr sz="120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No se usan directamente; requieren la creación de </a:t>
              </a:r>
              <a:r>
                <a:rPr lang="en-US" sz="1200" b="1">
                  <a:solidFill>
                    <a:srgbClr val="F8FAFC"/>
                  </a:solidFill>
                  <a:latin typeface="DM Sans"/>
                  <a:ea typeface="DM Sans"/>
                  <a:cs typeface="DM Sans"/>
                  <a:sym typeface="DM Sans"/>
                </a:rPr>
                <a:t>instancias u objetos</a:t>
              </a:r>
              <a:r>
                <a:rPr lang="en-US" sz="12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 en memoria.</a:t>
              </a:r>
              <a:endParaRPr sz="120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11" name="Google Shape;211;p20"/>
          <p:cNvGrpSpPr/>
          <p:nvPr/>
        </p:nvGrpSpPr>
        <p:grpSpPr>
          <a:xfrm>
            <a:off x="8201025" y="1524000"/>
            <a:ext cx="3410100" cy="4572000"/>
            <a:chOff x="8201025" y="1524000"/>
            <a:chExt cx="3410100" cy="4572000"/>
          </a:xfrm>
        </p:grpSpPr>
        <p:sp>
          <p:nvSpPr>
            <p:cNvPr id="212" name="Google Shape;212;p20"/>
            <p:cNvSpPr/>
            <p:nvPr/>
          </p:nvSpPr>
          <p:spPr>
            <a:xfrm>
              <a:off x="8201025" y="1524000"/>
              <a:ext cx="3410100" cy="4572000"/>
            </a:xfrm>
            <a:prstGeom prst="roundRect">
              <a:avLst>
                <a:gd name="adj" fmla="val 4469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0"/>
            <p:cNvSpPr txBox="1"/>
            <p:nvPr/>
          </p:nvSpPr>
          <p:spPr>
            <a:xfrm>
              <a:off x="8391525" y="171450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F8FAFC"/>
                  </a:solidFill>
                  <a:latin typeface="Urbanist"/>
                  <a:ea typeface="Urbanist"/>
                  <a:cs typeface="Urbanist"/>
                  <a:sym typeface="Urbanist"/>
                </a:rPr>
                <a:t>Ejemplos Comunes</a:t>
              </a:r>
              <a:endParaRPr sz="2000" b="1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214" name="Google Shape;214;p20"/>
            <p:cNvSpPr/>
            <p:nvPr/>
          </p:nvSpPr>
          <p:spPr>
            <a:xfrm>
              <a:off x="8391525" y="2333625"/>
              <a:ext cx="3029100" cy="3333900"/>
            </a:xfrm>
            <a:prstGeom prst="roundRect">
              <a:avLst>
                <a:gd name="adj" fmla="val 2515"/>
              </a:avLst>
            </a:prstGeom>
            <a:solidFill>
              <a:srgbClr val="0F172A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0"/>
            <p:cNvSpPr txBox="1"/>
            <p:nvPr/>
          </p:nvSpPr>
          <p:spPr>
            <a:xfrm>
              <a:off x="8534400" y="2476500"/>
              <a:ext cx="27624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// Entidades del mundo real</a:t>
              </a:r>
              <a:endParaRPr sz="1200" b="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class</a:t>
              </a:r>
              <a:r>
                <a:rPr lang="en-US" sz="1200" b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-US" sz="1200" b="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Auto</a:t>
              </a:r>
              <a:r>
                <a:rPr lang="en-US" sz="1200" b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{ ... }</a:t>
              </a:r>
              <a:endParaRPr sz="1200" b="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class</a:t>
              </a:r>
              <a:r>
                <a:rPr lang="en-US" sz="1200" b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-US" sz="1200" b="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Persona</a:t>
              </a:r>
              <a:r>
                <a:rPr lang="en-US" sz="1200" b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{ ... }</a:t>
              </a:r>
              <a:endParaRPr sz="1200" b="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class</a:t>
              </a:r>
              <a:r>
                <a:rPr lang="en-US" sz="1200" b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-US" sz="1200" b="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Departamento</a:t>
              </a:r>
              <a:r>
                <a:rPr lang="en-US" sz="1200" b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{ ... }</a:t>
              </a:r>
              <a:endParaRPr sz="1200" b="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class</a:t>
              </a:r>
              <a:r>
                <a:rPr lang="en-US" sz="1200" b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-US" sz="1200" b="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Factura</a:t>
              </a:r>
              <a:r>
                <a:rPr lang="en-US" sz="1200" b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{ ... }</a:t>
              </a:r>
              <a:endParaRPr sz="1200" b="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22D3EE"/>
                  </a:solidFill>
                  <a:latin typeface="Consolas"/>
                  <a:ea typeface="Consolas"/>
                  <a:cs typeface="Consolas"/>
                  <a:sym typeface="Consolas"/>
                </a:rPr>
                <a:t>class</a:t>
              </a:r>
              <a:r>
                <a:rPr lang="en-US" sz="1200" b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n-US" sz="1200" b="0">
                  <a:solidFill>
                    <a:srgbClr val="F8FAFC"/>
                  </a:solidFill>
                  <a:latin typeface="Consolas"/>
                  <a:ea typeface="Consolas"/>
                  <a:cs typeface="Consolas"/>
                  <a:sym typeface="Consolas"/>
                </a:rPr>
                <a:t>Producto</a:t>
              </a:r>
              <a:r>
                <a:rPr lang="en-US" sz="1200" b="0">
                  <a:solidFill>
                    <a:srgbClr val="64748B"/>
                  </a:solidFill>
                  <a:latin typeface="Consolas"/>
                  <a:ea typeface="Consolas"/>
                  <a:cs typeface="Consolas"/>
                  <a:sym typeface="Consolas"/>
                </a:rPr>
                <a:t> { ... }</a:t>
              </a:r>
              <a:endParaRPr sz="1200" b="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CDD6E2"/>
                  </a:solidFill>
                  <a:latin typeface="DM Sans"/>
                  <a:ea typeface="DM Sans"/>
                  <a:cs typeface="DM Sans"/>
                  <a:sym typeface="DM Sans"/>
                </a:rPr>
                <a:t>Cada clase define las propiedades únicas de estos objetos.</a:t>
              </a:r>
              <a:endParaRPr sz="1200" b="0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1" name="Google Shape;221;p21"/>
          <p:cNvGrpSpPr/>
          <p:nvPr/>
        </p:nvGrpSpPr>
        <p:grpSpPr>
          <a:xfrm>
            <a:off x="6477000" y="1905000"/>
            <a:ext cx="4572000" cy="3048000"/>
            <a:chOff x="6477000" y="1905000"/>
            <a:chExt cx="4572000" cy="3048000"/>
          </a:xfrm>
        </p:grpSpPr>
        <p:pic>
          <p:nvPicPr>
            <p:cNvPr id="222" name="Google Shape;222;p21" descr="A clean, professional 3D isometric illustration of a UML Class Diagram showing an object with various attributes. The style should be modern and technical, using a color palette of deep blues and cyan neon accents on a dark background to match a high-tech software development theme."/>
            <p:cNvPicPr preferRelativeResize="0"/>
            <p:nvPr/>
          </p:nvPicPr>
          <p:blipFill rotWithShape="1">
            <a:blip r:embed="rId4">
              <a:alphaModFix/>
            </a:blip>
            <a:srcRect t="16667" b="16667"/>
            <a:stretch/>
          </p:blipFill>
          <p:spPr>
            <a:xfrm>
              <a:off x="6477000" y="1905000"/>
              <a:ext cx="4572000" cy="3048000"/>
            </a:xfrm>
            <a:prstGeom prst="roundRect">
              <a:avLst>
                <a:gd name="adj" fmla="val 5000"/>
              </a:avLst>
            </a:prstGeom>
            <a:noFill/>
            <a:ln>
              <a:noFill/>
            </a:ln>
          </p:spPr>
        </p:pic>
        <p:sp>
          <p:nvSpPr>
            <p:cNvPr id="223" name="Google Shape;223;p21"/>
            <p:cNvSpPr/>
            <p:nvPr/>
          </p:nvSpPr>
          <p:spPr>
            <a:xfrm>
              <a:off x="6477000" y="1905000"/>
              <a:ext cx="4572000" cy="3048000"/>
            </a:xfrm>
            <a:prstGeom prst="roundRect">
              <a:avLst>
                <a:gd name="adj" fmla="val 5000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24" name="Google Shape;224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952875"/>
            <a:ext cx="5276850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1"/>
          <p:cNvSpPr txBox="1"/>
          <p:nvPr/>
        </p:nvSpPr>
        <p:spPr>
          <a:xfrm>
            <a:off x="581025" y="2009775"/>
            <a:ext cx="52770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Los atributos definen las </a:t>
            </a:r>
            <a:r>
              <a:rPr lang="en-US" sz="1650" b="1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características</a:t>
            </a:r>
            <a:r>
              <a:rPr lang="en-US" sz="165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 o el </a:t>
            </a:r>
            <a:r>
              <a:rPr lang="en-US" sz="1650" b="1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estado</a:t>
            </a:r>
            <a:r>
              <a:rPr lang="en-US" sz="165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 de un objeto en un momento dado.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904875" y="2752725"/>
            <a:ext cx="57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27" name="Google Shape;227;p21"/>
          <p:cNvSpPr txBox="1"/>
          <p:nvPr/>
        </p:nvSpPr>
        <p:spPr>
          <a:xfrm>
            <a:off x="962025" y="2752725"/>
            <a:ext cx="4896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Representan variables de instancia.</a:t>
            </a:r>
            <a:endParaRPr/>
          </a:p>
        </p:txBody>
      </p:sp>
      <p:sp>
        <p:nvSpPr>
          <p:cNvPr id="228" name="Google Shape;228;p21"/>
          <p:cNvSpPr txBox="1"/>
          <p:nvPr/>
        </p:nvSpPr>
        <p:spPr>
          <a:xfrm>
            <a:off x="904875" y="3057525"/>
            <a:ext cx="57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29" name="Google Shape;229;p21"/>
          <p:cNvSpPr txBox="1"/>
          <p:nvPr/>
        </p:nvSpPr>
        <p:spPr>
          <a:xfrm>
            <a:off x="962025" y="3057525"/>
            <a:ext cx="4896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Cada objeto tiene su propia copia de estos valores.</a:t>
            </a:r>
            <a:endParaRPr/>
          </a:p>
        </p:txBody>
      </p:sp>
      <p:sp>
        <p:nvSpPr>
          <p:cNvPr id="230" name="Google Shape;230;p21"/>
          <p:cNvSpPr txBox="1"/>
          <p:nvPr/>
        </p:nvSpPr>
        <p:spPr>
          <a:xfrm>
            <a:off x="904875" y="3362325"/>
            <a:ext cx="57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962025" y="3362325"/>
            <a:ext cx="4896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Ejemplo: Un objeto CuentaBancaria tiene un atributo saldo.</a:t>
            </a:r>
            <a:endParaRPr/>
          </a:p>
        </p:txBody>
      </p:sp>
      <p:sp>
        <p:nvSpPr>
          <p:cNvPr id="232" name="Google Shape;232;p21"/>
          <p:cNvSpPr txBox="1"/>
          <p:nvPr/>
        </p:nvSpPr>
        <p:spPr>
          <a:xfrm>
            <a:off x="771525" y="581025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Atributos: El Estado del Objeto</a:t>
            </a:r>
            <a:endParaRPr/>
          </a:p>
        </p:txBody>
      </p:sp>
      <p:sp>
        <p:nvSpPr>
          <p:cNvPr id="233" name="Google Shape;233;p21"/>
          <p:cNvSpPr/>
          <p:nvPr/>
        </p:nvSpPr>
        <p:spPr>
          <a:xfrm>
            <a:off x="581025" y="581025"/>
            <a:ext cx="57300" cy="5526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76500"/>
            <a:ext cx="3486150" cy="245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476500"/>
            <a:ext cx="3486150" cy="245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476500"/>
            <a:ext cx="3486150" cy="245745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2"/>
          <p:cNvSpPr txBox="1"/>
          <p:nvPr/>
        </p:nvSpPr>
        <p:spPr>
          <a:xfrm>
            <a:off x="876300" y="3886200"/>
            <a:ext cx="28956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Oculta datos sensibles. Solo la propia clase puede acceder. Protege la integridad del objeto.</a:t>
            </a:r>
            <a:endParaRPr/>
          </a:p>
        </p:txBody>
      </p:sp>
      <p:sp>
        <p:nvSpPr>
          <p:cNvPr id="243" name="Google Shape;243;p22"/>
          <p:cNvSpPr txBox="1"/>
          <p:nvPr/>
        </p:nvSpPr>
        <p:spPr>
          <a:xfrm>
            <a:off x="4648200" y="3886200"/>
            <a:ext cx="28956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Define la interfaz del objeto. Métodos que otros pueden llamar para realizar tareas.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8420100" y="3886200"/>
            <a:ext cx="28956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El </a:t>
            </a:r>
            <a:r>
              <a:rPr lang="en-US" sz="1200" b="1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comportamiento</a:t>
            </a:r>
            <a:r>
              <a:rPr lang="en-US" sz="1200" b="0" i="0" u="none" strike="noStrike" cap="none">
                <a:solidFill>
                  <a:srgbClr val="F8FAFC"/>
                </a:solidFill>
                <a:latin typeface="DM Sans"/>
                <a:ea typeface="DM Sans"/>
                <a:cs typeface="DM Sans"/>
                <a:sym typeface="DM Sans"/>
              </a:rPr>
              <a:t>. Acciones que el objeto sabe realizar al recibir un mensaje.</a:t>
            </a:r>
            <a:endParaRPr/>
          </a:p>
        </p:txBody>
      </p:sp>
      <p:pic>
        <p:nvPicPr>
          <p:cNvPr id="245" name="Google Shape;245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81940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819400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81940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22D3EE"/>
                </a:solidFill>
                <a:latin typeface="Urbanist"/>
                <a:ea typeface="Urbanist"/>
                <a:cs typeface="Urbanist"/>
                <a:sym typeface="Urbanist"/>
              </a:rPr>
              <a:t>Privacidad y Métodos</a:t>
            </a:r>
            <a:endParaRPr/>
          </a:p>
        </p:txBody>
      </p:sp>
      <p:sp>
        <p:nvSpPr>
          <p:cNvPr id="249" name="Google Shape;249;p22"/>
          <p:cNvSpPr/>
          <p:nvPr/>
        </p:nvSpPr>
        <p:spPr>
          <a:xfrm>
            <a:off x="581025" y="581025"/>
            <a:ext cx="57150" cy="55245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2"/>
          <p:cNvSpPr txBox="1"/>
          <p:nvPr/>
        </p:nvSpPr>
        <p:spPr>
          <a:xfrm>
            <a:off x="876300" y="3457575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Private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4648200" y="3457575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Public</a:t>
            </a:r>
            <a:endParaRPr/>
          </a:p>
        </p:txBody>
      </p:sp>
      <p:sp>
        <p:nvSpPr>
          <p:cNvPr id="252" name="Google Shape;252;p22"/>
          <p:cNvSpPr txBox="1"/>
          <p:nvPr/>
        </p:nvSpPr>
        <p:spPr>
          <a:xfrm>
            <a:off x="8420100" y="3457575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Métodos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819</Words>
  <Application>Microsoft Office PowerPoint</Application>
  <PresentationFormat>Widescreen</PresentationFormat>
  <Paragraphs>109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DM Sans</vt:lpstr>
      <vt:lpstr>Arial</vt:lpstr>
      <vt:lpstr>Consolas</vt:lpstr>
      <vt:lpstr>Calibri</vt:lpstr>
      <vt:lpstr>Urbanist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melvin sevilla</cp:lastModifiedBy>
  <cp:revision>1</cp:revision>
  <dcterms:modified xsi:type="dcterms:W3CDTF">2026-06-15T15:01:21Z</dcterms:modified>
</cp:coreProperties>
</file>